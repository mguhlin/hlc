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واقعے کا خلاصہ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س کی وجہ کیا تھی؟"/>
          <p:cNvSpPr/>
          <p:nvPr/>
        </p:nvSpPr>
        <p:spPr>
          <a:xfrm>
            <a:off x="6758136" y="1133921"/>
            <a:ext cx="287937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اس کی وجہ کیا تھی؟</a:t>
            </a:r>
          </a:p>
          <a:p>
            <a:pPr algn="l" rtl="1"/>
            <a:endParaRPr lang="en-US"/>
          </a:p>
        </p:txBody>
      </p:sp>
      <p:sp>
        <p:nvSpPr>
          <p:cNvPr id="8" name="یہ اہم کیوں تھا؟"/>
          <p:cNvSpPr/>
          <p:nvPr/>
        </p:nvSpPr>
        <p:spPr>
          <a:xfrm>
            <a:off x="3373487" y="1133921"/>
            <a:ext cx="3311575" cy="205055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اہم کیوں تھا؟</a:t>
            </a:r>
          </a:p>
          <a:p>
            <a:pPr algn="l" rtl="1"/>
            <a:endParaRPr lang="en-US"/>
          </a:p>
        </p:txBody>
      </p:sp>
      <p:sp>
        <p:nvSpPr>
          <p:cNvPr id="9" name="آخر میں کیا ہوا؟"/>
          <p:cNvSpPr/>
          <p:nvPr/>
        </p:nvSpPr>
        <p:spPr>
          <a:xfrm>
            <a:off x="421035" y="1133921"/>
            <a:ext cx="287937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آخر میں کیا ہوا؟</a:t>
            </a:r>
          </a:p>
          <a:p>
            <a:pPr algn="l" rtl="1"/>
            <a:endParaRPr lang="en-US"/>
          </a:p>
        </p:txBody>
      </p:sp>
      <p:sp>
        <p:nvSpPr>
          <p:cNvPr id="10" name="یہ کیسے ہوا؟"/>
          <p:cNvSpPr/>
          <p:nvPr/>
        </p:nvSpPr>
        <p:spPr>
          <a:xfrm>
            <a:off x="6758136" y="3257550"/>
            <a:ext cx="2879378" cy="14763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کیسے ہوا؟</a:t>
            </a:r>
          </a:p>
          <a:p>
            <a:pPr algn="l" rtl="1"/>
            <a:endParaRPr lang="en-US"/>
          </a:p>
        </p:txBody>
      </p:sp>
      <p:sp>
        <p:nvSpPr>
          <p:cNvPr id="11" name="واقعہ"/>
          <p:cNvSpPr/>
          <p:nvPr/>
        </p:nvSpPr>
        <p:spPr>
          <a:xfrm>
            <a:off x="3373487" y="3257550"/>
            <a:ext cx="3311575" cy="1476375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</p:txBody>
      </p:sp>
      <p:sp>
        <p:nvSpPr>
          <p:cNvPr id="12" name="یہ کب ہوا؟"/>
          <p:cNvSpPr/>
          <p:nvPr/>
        </p:nvSpPr>
        <p:spPr>
          <a:xfrm>
            <a:off x="421035" y="3257550"/>
            <a:ext cx="2879378" cy="14763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کب ہوا؟</a:t>
            </a:r>
          </a:p>
          <a:p>
            <a:pPr algn="l" rtl="1"/>
            <a:endParaRPr lang="en-US"/>
          </a:p>
        </p:txBody>
      </p:sp>
      <p:sp>
        <p:nvSpPr>
          <p:cNvPr id="13" name="کون شامل تھا؟"/>
          <p:cNvSpPr/>
          <p:nvPr/>
        </p:nvSpPr>
        <p:spPr>
          <a:xfrm>
            <a:off x="6758136" y="4807000"/>
            <a:ext cx="2879378" cy="205070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کون شامل تھا؟</a:t>
            </a:r>
          </a:p>
          <a:p>
            <a:pPr algn="l" rtl="1"/>
            <a:endParaRPr lang="en-US"/>
          </a:p>
        </p:txBody>
      </p:sp>
      <p:sp>
        <p:nvSpPr>
          <p:cNvPr id="14" name="یہ کہاں ہوا؟"/>
          <p:cNvSpPr/>
          <p:nvPr/>
        </p:nvSpPr>
        <p:spPr>
          <a:xfrm>
            <a:off x="3373487" y="4807000"/>
            <a:ext cx="3311575" cy="205070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کہاں ہوا؟</a:t>
            </a:r>
          </a:p>
          <a:p>
            <a:pPr algn="l" rtl="1"/>
            <a:endParaRPr lang="en-US"/>
          </a:p>
        </p:txBody>
      </p:sp>
      <p:sp>
        <p:nvSpPr>
          <p:cNvPr id="15" name="آپ کیا نتیجہ نکال سکتے ہیں؟"/>
          <p:cNvSpPr/>
          <p:nvPr/>
        </p:nvSpPr>
        <p:spPr>
          <a:xfrm>
            <a:off x="421035" y="4807000"/>
            <a:ext cx="2879378" cy="205070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آپ کیا نتیجہ نکال سکتے ہیں؟</a:t>
            </a:r>
          </a:p>
          <a:p>
            <a:pPr algn="l" rtl="1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3–5: زمانی ترتیب، سبب و اثر، ذرائع، نقطۂ نظر، نقشے، گرافک آرگنائزر، دعوے اور شواہد۔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وجہ ← واقعہ ← اثر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یہ اہم کیوں تھا؟"/>
          <p:cNvSpPr/>
          <p:nvPr/>
        </p:nvSpPr>
        <p:spPr>
          <a:xfrm>
            <a:off x="3380036" y="1133921"/>
            <a:ext cx="3298478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اہم کیوں تھا؟</a:t>
            </a:r>
          </a:p>
          <a:p>
            <a:pPr algn="l" rtl="1"/>
            <a:endParaRPr lang="en-US"/>
          </a:p>
        </p:txBody>
      </p:sp>
      <p:sp>
        <p:nvSpPr>
          <p:cNvPr id="8" name="اس کی وجہ کیا تھی؟"/>
          <p:cNvSpPr/>
          <p:nvPr/>
        </p:nvSpPr>
        <p:spPr>
          <a:xfrm>
            <a:off x="6751588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اس کی وجہ کیا تھی؟</a:t>
            </a:r>
          </a:p>
        </p:txBody>
      </p:sp>
      <p:sp>
        <p:nvSpPr>
          <p:cNvPr id="9" name="واقعہ"/>
          <p:cNvSpPr/>
          <p:nvPr/>
        </p:nvSpPr>
        <p:spPr>
          <a:xfrm>
            <a:off x="3380036" y="2849761"/>
            <a:ext cx="3298478" cy="1469975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فوری اثرات"/>
          <p:cNvSpPr/>
          <p:nvPr/>
        </p:nvSpPr>
        <p:spPr>
          <a:xfrm>
            <a:off x="421035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فوری اثرات</a:t>
            </a:r>
          </a:p>
        </p:txBody>
      </p:sp>
      <p:sp>
        <p:nvSpPr>
          <p:cNvPr id="11" name="کون شامل تھا؟"/>
          <p:cNvSpPr/>
          <p:nvPr/>
        </p:nvSpPr>
        <p:spPr>
          <a:xfrm>
            <a:off x="6751588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کون شامل تھا؟</a:t>
            </a:r>
          </a:p>
          <a:p>
            <a:pPr algn="l" rtl="1"/>
            <a:endParaRPr lang="en-US"/>
          </a:p>
        </p:txBody>
      </p:sp>
      <p:sp>
        <p:nvSpPr>
          <p:cNvPr id="12" name="بعد کے / طویل مدتی اثرات"/>
          <p:cNvSpPr/>
          <p:nvPr/>
        </p:nvSpPr>
        <p:spPr>
          <a:xfrm>
            <a:off x="421035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بعد کے / طویل مدتی اثرات</a:t>
            </a:r>
          </a:p>
          <a:p>
            <a:pPr algn="l" rtl="1"/>
            <a:endParaRPr lang="en-US"/>
          </a:p>
        </p:txBody>
      </p:sp>
      <p:sp>
        <p:nvSpPr>
          <p:cNvPr id="13" name="آپ کیا نتیجہ نکال سکتے ہیں؟"/>
          <p:cNvSpPr/>
          <p:nvPr/>
        </p:nvSpPr>
        <p:spPr>
          <a:xfrm>
            <a:off x="3380036" y="6195120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آپ کیا نتیجہ نکال سکتے ہیں؟</a:t>
            </a:r>
          </a:p>
          <a:p>
            <a:pPr algn="l" rtl="1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3–5: زمانی ترتیب، سبب و اثر، ذرائع، نقطۂ نظر، نقشے، گرافک آرگنائزر، دعوے اور شواہد۔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واقعاتی ترتیب کا راستہ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ترتیب (واقعات کی ترتیب)"/>
          <p:cNvSpPr/>
          <p:nvPr/>
        </p:nvSpPr>
        <p:spPr>
          <a:xfrm>
            <a:off x="420886" y="4407843"/>
            <a:ext cx="9216628" cy="2449860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ترتیب (واقعات کی ترتیب)</a:t>
            </a:r>
          </a:p>
          <a:p>
            <a:pPr algn="ctr" rtl="1"/>
            <a:endParaRPr lang="en-US"/>
          </a:p>
        </p:txBody>
      </p:sp>
      <p:sp>
        <p:nvSpPr>
          <p:cNvPr id="8" name="یہ کہاں ہوا؟"/>
          <p:cNvSpPr/>
          <p:nvPr/>
        </p:nvSpPr>
        <p:spPr>
          <a:xfrm>
            <a:off x="6751588" y="1133921"/>
            <a:ext cx="2885926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کہاں ہوا؟</a:t>
            </a:r>
          </a:p>
          <a:p>
            <a:pPr algn="l" rtl="1"/>
            <a:endParaRPr lang="en-US"/>
          </a:p>
        </p:txBody>
      </p:sp>
      <p:sp>
        <p:nvSpPr>
          <p:cNvPr id="9" name="واقعہ"/>
          <p:cNvSpPr/>
          <p:nvPr/>
        </p:nvSpPr>
        <p:spPr>
          <a:xfrm>
            <a:off x="3380036" y="1133921"/>
            <a:ext cx="3298478" cy="2036713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یہ کب ہوا؟"/>
          <p:cNvSpPr/>
          <p:nvPr/>
        </p:nvSpPr>
        <p:spPr>
          <a:xfrm>
            <a:off x="421035" y="113392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کب ہوا؟</a:t>
            </a:r>
          </a:p>
          <a:p>
            <a:pPr algn="l" rtl="1"/>
            <a:endParaRPr lang="en-US"/>
          </a:p>
        </p:txBody>
      </p:sp>
      <p:sp>
        <p:nvSpPr>
          <p:cNvPr id="11" name="آغاز"/>
          <p:cNvSpPr/>
          <p:nvPr/>
        </p:nvSpPr>
        <p:spPr>
          <a:xfrm>
            <a:off x="6751588" y="2243286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آغاز</a:t>
            </a:r>
          </a:p>
          <a:p>
            <a:pPr algn="l" rtl="1"/>
            <a:endParaRPr lang="en-US"/>
          </a:p>
        </p:txBody>
      </p:sp>
      <p:sp>
        <p:nvSpPr>
          <p:cNvPr id="12" name="کون شامل تھا؟"/>
          <p:cNvSpPr/>
          <p:nvPr/>
        </p:nvSpPr>
        <p:spPr>
          <a:xfrm>
            <a:off x="421035" y="2243286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کون شامل تھا؟</a:t>
            </a:r>
          </a:p>
          <a:p>
            <a:pPr algn="l" rtl="1"/>
            <a:endParaRPr lang="en-US"/>
          </a:p>
        </p:txBody>
      </p:sp>
      <p:sp>
        <p:nvSpPr>
          <p:cNvPr id="13" name="اختتام"/>
          <p:cNvSpPr/>
          <p:nvPr/>
        </p:nvSpPr>
        <p:spPr>
          <a:xfrm>
            <a:off x="6751588" y="3243709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اختتام</a:t>
            </a:r>
          </a:p>
          <a:p>
            <a:pPr algn="l" rtl="1"/>
            <a:endParaRPr lang="en-US"/>
          </a:p>
        </p:txBody>
      </p:sp>
      <p:sp>
        <p:nvSpPr>
          <p:cNvPr id="14" name="یہ اہم کیوں تھا؟"/>
          <p:cNvSpPr/>
          <p:nvPr/>
        </p:nvSpPr>
        <p:spPr>
          <a:xfrm>
            <a:off x="3380036" y="3243709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اہم کیوں تھا؟</a:t>
            </a:r>
          </a:p>
          <a:p>
            <a:pPr algn="l" rtl="1"/>
            <a:endParaRPr lang="en-US"/>
          </a:p>
        </p:txBody>
      </p:sp>
      <p:sp>
        <p:nvSpPr>
          <p:cNvPr id="15" name="label"/>
          <p:cNvSpPr txBox="1"/>
          <p:nvPr/>
        </p:nvSpPr>
        <p:spPr>
          <a:xfrm>
            <a:off x="9402961" y="4785122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1.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9402961" y="4958953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2.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9402961" y="5132636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3.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9402961" y="5306318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4.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9402961" y="5480149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5.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3–5: زمانی ترتیب، سبب و اثر، ذرائع، نقطۂ نظر، نقشے، گرافک آرگنائزر، دعوے اور شواہد۔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لوگ اور گروہ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ہم رہنما"/>
          <p:cNvSpPr/>
          <p:nvPr/>
        </p:nvSpPr>
        <p:spPr>
          <a:xfrm>
            <a:off x="6222504" y="1133921"/>
            <a:ext cx="3415010" cy="2768352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اہم رہنما</a:t>
            </a:r>
          </a:p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یہ شخص اہم کیوں تھا؟"/>
          <p:cNvSpPr/>
          <p:nvPr/>
        </p:nvSpPr>
        <p:spPr>
          <a:xfrm>
            <a:off x="6222504" y="3975348"/>
            <a:ext cx="3415010" cy="28823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شخص اہم کیوں تھا؟</a:t>
            </a:r>
          </a:p>
          <a:p>
            <a:pPr algn="l" rtl="1"/>
            <a:endParaRPr lang="en-US"/>
          </a:p>
        </p:txBody>
      </p:sp>
      <p:sp>
        <p:nvSpPr>
          <p:cNvPr id="9" name="گروہ 1"/>
          <p:cNvSpPr/>
          <p:nvPr/>
        </p:nvSpPr>
        <p:spPr>
          <a:xfrm>
            <a:off x="4264223" y="1133921"/>
            <a:ext cx="1848594" cy="396180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گروہ 1</a:t>
            </a:r>
          </a:p>
          <a:p>
            <a:pPr algn="ctr" rtl="1"/>
            <a:endParaRPr lang="en-US"/>
          </a:p>
        </p:txBody>
      </p:sp>
      <p:sp>
        <p:nvSpPr>
          <p:cNvPr id="10" name="گروہ 1 کیا چاہتا تھا؟"/>
          <p:cNvSpPr/>
          <p:nvPr/>
        </p:nvSpPr>
        <p:spPr>
          <a:xfrm>
            <a:off x="4264223" y="1594098"/>
            <a:ext cx="1848594" cy="25997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گروہ 1 کیا چاہتا تھا؟</a:t>
            </a:r>
          </a:p>
          <a:p>
            <a:pPr algn="l" rtl="1"/>
            <a:endParaRPr lang="en-US"/>
          </a:p>
        </p:txBody>
      </p:sp>
      <p:sp>
        <p:nvSpPr>
          <p:cNvPr id="11" name="آپ کیا نتیجہ نکال سکتے ہیں؟"/>
          <p:cNvSpPr/>
          <p:nvPr/>
        </p:nvSpPr>
        <p:spPr>
          <a:xfrm>
            <a:off x="4264223" y="4257824"/>
            <a:ext cx="1848594" cy="259987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آپ کیا نتیجہ نکال سکتے ہیں؟</a:t>
            </a:r>
          </a:p>
          <a:p>
            <a:pPr algn="l" rtl="1"/>
            <a:endParaRPr lang="en-US"/>
          </a:p>
        </p:txBody>
      </p:sp>
      <p:sp>
        <p:nvSpPr>
          <p:cNvPr id="12" name="گروہ 2"/>
          <p:cNvSpPr/>
          <p:nvPr/>
        </p:nvSpPr>
        <p:spPr>
          <a:xfrm>
            <a:off x="2342555" y="1133921"/>
            <a:ext cx="1848594" cy="396180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گروہ 2</a:t>
            </a:r>
          </a:p>
          <a:p>
            <a:pPr algn="ctr" rtl="1"/>
            <a:endParaRPr lang="en-US"/>
          </a:p>
        </p:txBody>
      </p:sp>
      <p:sp>
        <p:nvSpPr>
          <p:cNvPr id="13" name="گروہ 2 کیا چاہتا تھا؟"/>
          <p:cNvSpPr/>
          <p:nvPr/>
        </p:nvSpPr>
        <p:spPr>
          <a:xfrm>
            <a:off x="2342555" y="1594098"/>
            <a:ext cx="1848594" cy="25997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گروہ 2 کیا چاہتا تھا؟</a:t>
            </a:r>
          </a:p>
          <a:p>
            <a:pPr algn="l" rtl="1"/>
            <a:endParaRPr lang="en-US"/>
          </a:p>
        </p:txBody>
      </p:sp>
      <p:sp>
        <p:nvSpPr>
          <p:cNvPr id="14" name="نتیجہ"/>
          <p:cNvSpPr/>
          <p:nvPr/>
        </p:nvSpPr>
        <p:spPr>
          <a:xfrm>
            <a:off x="2342555" y="4257824"/>
            <a:ext cx="1848594" cy="259987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نتیجہ</a:t>
            </a:r>
          </a:p>
          <a:p>
            <a:pPr algn="l" rtl="1"/>
            <a:endParaRPr lang="en-US"/>
          </a:p>
        </p:txBody>
      </p:sp>
      <p:sp>
        <p:nvSpPr>
          <p:cNvPr id="15" name="گروہ 3"/>
          <p:cNvSpPr/>
          <p:nvPr/>
        </p:nvSpPr>
        <p:spPr>
          <a:xfrm>
            <a:off x="420886" y="1133921"/>
            <a:ext cx="1848594" cy="396180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گروہ 3</a:t>
            </a:r>
          </a:p>
          <a:p>
            <a:pPr algn="ctr" rtl="1"/>
            <a:endParaRPr lang="en-US"/>
          </a:p>
        </p:txBody>
      </p:sp>
      <p:sp>
        <p:nvSpPr>
          <p:cNvPr id="16" name="گروہ 3 کیا چاہتا تھا؟"/>
          <p:cNvSpPr/>
          <p:nvPr/>
        </p:nvSpPr>
        <p:spPr>
          <a:xfrm>
            <a:off x="420886" y="1594098"/>
            <a:ext cx="1848594" cy="25997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گروہ 3 کیا چاہتا تھا؟</a:t>
            </a:r>
          </a:p>
          <a:p>
            <a:pPr algn="l" rtl="1"/>
            <a:endParaRPr lang="en-US"/>
          </a:p>
        </p:txBody>
      </p:sp>
      <p:sp>
        <p:nvSpPr>
          <p:cNvPr id="17" name="نتیجہ"/>
          <p:cNvSpPr/>
          <p:nvPr/>
        </p:nvSpPr>
        <p:spPr>
          <a:xfrm>
            <a:off x="420886" y="4257824"/>
            <a:ext cx="1848594" cy="259987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نتیجہ</a:t>
            </a:r>
          </a:p>
          <a:p>
            <a:pPr algn="l" rtl="1"/>
            <a:endParaRPr lang="en-US"/>
          </a:p>
        </p:txBody>
      </p:sp>
      <p:cxnSp>
        <p:nvCxnSpPr>
          <p:cNvPr id="18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9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20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3–5: زمانی ترتیب، سبب و اثر، ذرائع، نقطۂ نظر، نقشے، گرافک آرگنائزر، دعوے اور شواہد۔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مقام کی اہمیت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قدرتی خصوصیات"/>
          <p:cNvSpPr/>
          <p:nvPr/>
        </p:nvSpPr>
        <p:spPr>
          <a:xfrm>
            <a:off x="6467773" y="1133921"/>
            <a:ext cx="3169741" cy="281612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قدرتی خصوصیات</a:t>
            </a:r>
          </a:p>
          <a:p>
            <a:pPr algn="l" rtl="1"/>
            <a:endParaRPr lang="en-US"/>
          </a:p>
        </p:txBody>
      </p:sp>
      <p:sp>
        <p:nvSpPr>
          <p:cNvPr id="8" name="واقعہ"/>
          <p:cNvSpPr/>
          <p:nvPr/>
        </p:nvSpPr>
        <p:spPr>
          <a:xfrm>
            <a:off x="3682157" y="1133921"/>
            <a:ext cx="2694236" cy="281612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</p:txBody>
      </p:sp>
      <p:sp>
        <p:nvSpPr>
          <p:cNvPr id="9" name="انسانی خصوصیات"/>
          <p:cNvSpPr/>
          <p:nvPr/>
        </p:nvSpPr>
        <p:spPr>
          <a:xfrm>
            <a:off x="420886" y="1133921"/>
            <a:ext cx="3169890" cy="281612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انسانی خصوصیات</a:t>
            </a:r>
          </a:p>
          <a:p>
            <a:pPr algn="l" rtl="1"/>
            <a:endParaRPr lang="en-US"/>
          </a:p>
        </p:txBody>
      </p:sp>
      <p:sp>
        <p:nvSpPr>
          <p:cNvPr id="10" name="یہ یہاں کیوں ہوا؟"/>
          <p:cNvSpPr/>
          <p:nvPr/>
        </p:nvSpPr>
        <p:spPr>
          <a:xfrm>
            <a:off x="6467773" y="4041428"/>
            <a:ext cx="3169741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یہاں کیوں ہوا؟</a:t>
            </a:r>
          </a:p>
          <a:p>
            <a:pPr algn="l" rtl="1"/>
            <a:endParaRPr lang="en-US"/>
          </a:p>
        </p:txBody>
      </p:sp>
      <p:sp>
        <p:nvSpPr>
          <p:cNvPr id="11" name="حرکت / راستے"/>
          <p:cNvSpPr/>
          <p:nvPr/>
        </p:nvSpPr>
        <p:spPr>
          <a:xfrm>
            <a:off x="3682157" y="4041428"/>
            <a:ext cx="2694236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حرکت / راستے</a:t>
            </a:r>
          </a:p>
          <a:p>
            <a:pPr algn="l" rtl="1"/>
            <a:endParaRPr lang="en-US"/>
          </a:p>
        </p:txBody>
      </p:sp>
      <p:sp>
        <p:nvSpPr>
          <p:cNvPr id="12" name="جگہ نے واقعے کو کیسے متاثر کیا؟"/>
          <p:cNvSpPr/>
          <p:nvPr/>
        </p:nvSpPr>
        <p:spPr>
          <a:xfrm>
            <a:off x="420886" y="4041428"/>
            <a:ext cx="3169890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جگہ نے واقعے کو کیسے متاثر کیا؟</a:t>
            </a:r>
          </a:p>
          <a:p>
            <a:pPr algn="l" rtl="1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3–5: زمانی ترتیب، سبب و اثر، ذرائع، نقطۂ نظر، نقشے، گرافک آرگنائزر، دعوے اور شواہد۔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پہلے اور بعد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پہلے"/>
          <p:cNvSpPr/>
          <p:nvPr/>
        </p:nvSpPr>
        <p:spPr>
          <a:xfrm>
            <a:off x="6827639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پہلے</a:t>
            </a:r>
          </a:p>
          <a:p>
            <a:pPr algn="l" rtl="1"/>
            <a:endParaRPr lang="en-US"/>
          </a:p>
        </p:txBody>
      </p:sp>
      <p:sp>
        <p:nvSpPr>
          <p:cNvPr id="8" name="واقعہ"/>
          <p:cNvSpPr/>
          <p:nvPr/>
        </p:nvSpPr>
        <p:spPr>
          <a:xfrm>
            <a:off x="3633788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  <a:p>
            <a:pPr algn="l" rtl="1"/>
            <a:endParaRPr lang="en-US"/>
          </a:p>
        </p:txBody>
      </p:sp>
      <p:sp>
        <p:nvSpPr>
          <p:cNvPr id="9" name="بعد میں"/>
          <p:cNvSpPr/>
          <p:nvPr/>
        </p:nvSpPr>
        <p:spPr>
          <a:xfrm>
            <a:off x="420886" y="1133921"/>
            <a:ext cx="2828925" cy="28116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بعد میں</a:t>
            </a:r>
          </a:p>
          <a:p>
            <a:pPr algn="l" rtl="1"/>
            <a:endParaRPr lang="en-US"/>
          </a:p>
        </p:txBody>
      </p:sp>
      <p:sp>
        <p:nvSpPr>
          <p:cNvPr id="10" name="کیا بدلا؟"/>
          <p:cNvSpPr/>
          <p:nvPr/>
        </p:nvSpPr>
        <p:spPr>
          <a:xfrm>
            <a:off x="5074890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کیا بدلا؟</a:t>
            </a:r>
          </a:p>
          <a:p>
            <a:pPr algn="l" rtl="1"/>
            <a:endParaRPr lang="en-US"/>
          </a:p>
        </p:txBody>
      </p:sp>
      <p:sp>
        <p:nvSpPr>
          <p:cNvPr id="11" name="کیا ویسا ہی رہا؟"/>
          <p:cNvSpPr/>
          <p:nvPr/>
        </p:nvSpPr>
        <p:spPr>
          <a:xfrm>
            <a:off x="420886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کیا ویسا ہی رہا؟</a:t>
            </a:r>
          </a:p>
          <a:p>
            <a:pPr algn="l" rtl="1"/>
            <a:endParaRPr lang="en-US"/>
          </a:p>
        </p:txBody>
      </p:sp>
      <p:sp>
        <p:nvSpPr>
          <p:cNvPr id="12" name="arrow"/>
          <p:cNvSpPr txBox="1"/>
          <p:nvPr/>
        </p:nvSpPr>
        <p:spPr>
          <a:xfrm>
            <a:off x="6384191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3" name="arrow"/>
          <p:cNvSpPr txBox="1"/>
          <p:nvPr/>
        </p:nvSpPr>
        <p:spPr>
          <a:xfrm>
            <a:off x="3190339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3–5: زمانی ترتیب، سبب و اثر، ذرائع، نقطۂ نظر، نقشے، گرافک آرگنائزر، دعوے اور شواہد۔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واقعے کے ثبوت کا نقشہ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ذریعہ 1"/>
          <p:cNvSpPr/>
          <p:nvPr/>
        </p:nvSpPr>
        <p:spPr>
          <a:xfrm>
            <a:off x="6626275" y="1133921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ذریعہ 1</a:t>
            </a:r>
          </a:p>
          <a:p>
            <a:pPr algn="l" rtl="1"/>
            <a:endParaRPr lang="en-US"/>
          </a:p>
        </p:txBody>
      </p:sp>
      <p:sp>
        <p:nvSpPr>
          <p:cNvPr id="8" name="مفید حقیقت یا ثبوت"/>
          <p:cNvSpPr/>
          <p:nvPr/>
        </p:nvSpPr>
        <p:spPr>
          <a:xfrm>
            <a:off x="6626275" y="2913757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مفید حقیقت یا ثبوت</a:t>
            </a:r>
          </a:p>
          <a:p>
            <a:pPr algn="l" rtl="1"/>
            <a:endParaRPr lang="en-US"/>
          </a:p>
        </p:txBody>
      </p:sp>
      <p:sp>
        <p:nvSpPr>
          <p:cNvPr id="9" name="ذریعہ 2"/>
          <p:cNvSpPr/>
          <p:nvPr/>
        </p:nvSpPr>
        <p:spPr>
          <a:xfrm>
            <a:off x="3523655" y="1133921"/>
            <a:ext cx="3011239" cy="171628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ذریعہ 2</a:t>
            </a:r>
          </a:p>
          <a:p>
            <a:pPr algn="l" rtl="1"/>
            <a:endParaRPr lang="en-US"/>
          </a:p>
        </p:txBody>
      </p:sp>
      <p:sp>
        <p:nvSpPr>
          <p:cNvPr id="10" name="مفید حقیقت یا ثبوت"/>
          <p:cNvSpPr/>
          <p:nvPr/>
        </p:nvSpPr>
        <p:spPr>
          <a:xfrm>
            <a:off x="3523655" y="2923282"/>
            <a:ext cx="3011239" cy="169723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مفید حقیقت یا ثبوت</a:t>
            </a:r>
          </a:p>
          <a:p>
            <a:pPr algn="l" rtl="1"/>
            <a:endParaRPr lang="en-US"/>
          </a:p>
        </p:txBody>
      </p:sp>
      <p:sp>
        <p:nvSpPr>
          <p:cNvPr id="11" name="ذریعہ 3"/>
          <p:cNvSpPr/>
          <p:nvPr/>
        </p:nvSpPr>
        <p:spPr>
          <a:xfrm>
            <a:off x="420886" y="1133921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ذریعہ 3</a:t>
            </a:r>
          </a:p>
          <a:p>
            <a:pPr algn="l" rtl="1"/>
            <a:endParaRPr lang="en-US"/>
          </a:p>
        </p:txBody>
      </p:sp>
      <p:sp>
        <p:nvSpPr>
          <p:cNvPr id="12" name="مفید حقیقت یا ثبوت"/>
          <p:cNvSpPr/>
          <p:nvPr/>
        </p:nvSpPr>
        <p:spPr>
          <a:xfrm>
            <a:off x="420886" y="2913757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مفید حقیقت یا ثبوت</a:t>
            </a:r>
          </a:p>
          <a:p>
            <a:pPr algn="l" rtl="1"/>
            <a:endParaRPr lang="en-US"/>
          </a:p>
        </p:txBody>
      </p:sp>
      <p:sp>
        <p:nvSpPr>
          <p:cNvPr id="13" name="آپ کیا نتیجہ نکال سکتے ہیں؟"/>
          <p:cNvSpPr/>
          <p:nvPr/>
        </p:nvSpPr>
        <p:spPr>
          <a:xfrm>
            <a:off x="420886" y="4711898"/>
            <a:ext cx="9216628" cy="214580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آپ کیا نتیجہ نکال سکتے ہیں؟</a:t>
            </a:r>
          </a:p>
          <a:p>
            <a:pPr algn="l" rtl="1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3–5: زمانی ترتیب، سبب و اثر، ذرائع، نقطۂ نظر، نقشے، گرافک آرگنائزر، دعوے اور شواہد۔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یہ کیوں اہم تھا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واقعہ"/>
          <p:cNvSpPr/>
          <p:nvPr/>
        </p:nvSpPr>
        <p:spPr>
          <a:xfrm>
            <a:off x="7056537" y="1133921"/>
            <a:ext cx="2580977" cy="496996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</p:txBody>
      </p:sp>
      <p:sp>
        <p:nvSpPr>
          <p:cNvPr id="8" name="لوگوں پر اثر"/>
          <p:cNvSpPr/>
          <p:nvPr/>
        </p:nvSpPr>
        <p:spPr>
          <a:xfrm>
            <a:off x="3738711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لوگوں پر اثر</a:t>
            </a:r>
          </a:p>
          <a:p>
            <a:pPr algn="l" rtl="1"/>
            <a:endParaRPr lang="en-US"/>
          </a:p>
        </p:txBody>
      </p:sp>
      <p:sp>
        <p:nvSpPr>
          <p:cNvPr id="9" name="حکومت پر اثر"/>
          <p:cNvSpPr/>
          <p:nvPr/>
        </p:nvSpPr>
        <p:spPr>
          <a:xfrm>
            <a:off x="420886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حکومت پر اثر</a:t>
            </a:r>
          </a:p>
          <a:p>
            <a:pPr algn="l" rtl="1"/>
            <a:endParaRPr lang="en-US"/>
          </a:p>
        </p:txBody>
      </p:sp>
      <p:sp>
        <p:nvSpPr>
          <p:cNvPr id="10" name="معیشت پر اثر"/>
          <p:cNvSpPr/>
          <p:nvPr/>
        </p:nvSpPr>
        <p:spPr>
          <a:xfrm>
            <a:off x="3738711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معیشت پر اثر</a:t>
            </a:r>
          </a:p>
          <a:p>
            <a:pPr algn="l" rtl="1"/>
            <a:endParaRPr lang="en-US"/>
          </a:p>
        </p:txBody>
      </p:sp>
      <p:sp>
        <p:nvSpPr>
          <p:cNvPr id="11" name="معاشرہ / ثقافت پر اثر"/>
          <p:cNvSpPr/>
          <p:nvPr/>
        </p:nvSpPr>
        <p:spPr>
          <a:xfrm>
            <a:off x="420886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معاشرہ / ثقافت پر اثر</a:t>
            </a:r>
          </a:p>
          <a:p>
            <a:pPr algn="l" rtl="1"/>
            <a:endParaRPr lang="en-US"/>
          </a:p>
        </p:txBody>
      </p:sp>
      <p:sp>
        <p:nvSpPr>
          <p:cNvPr id="12" name="کون سی تبدیلی سب سے اہم تھی؟"/>
          <p:cNvSpPr/>
          <p:nvPr/>
        </p:nvSpPr>
        <p:spPr>
          <a:xfrm>
            <a:off x="7056537" y="6195268"/>
            <a:ext cx="2580977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کون سی تبدیلی سب سے اہم تھی؟</a:t>
            </a:r>
          </a:p>
          <a:p>
            <a:pPr algn="l" rtl="1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3–5: زمانی ترتیب، سبب و اثر، ذرائع، نقطۂ نظر، نقشے، گرافک آرگنائزر، دعوے اور شواہد۔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واقعے کا تفتیشی نقشہ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س کی وجہ کیا تھی؟"/>
          <p:cNvSpPr/>
          <p:nvPr/>
        </p:nvSpPr>
        <p:spPr>
          <a:xfrm>
            <a:off x="675813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اس کی وجہ کیا تھی؟</a:t>
            </a:r>
          </a:p>
          <a:p>
            <a:pPr algn="l" rtl="1"/>
            <a:endParaRPr lang="en-US"/>
          </a:p>
        </p:txBody>
      </p:sp>
      <p:sp>
        <p:nvSpPr>
          <p:cNvPr id="8" name="یہ اہم کیوں تھا؟"/>
          <p:cNvSpPr/>
          <p:nvPr/>
        </p:nvSpPr>
        <p:spPr>
          <a:xfrm>
            <a:off x="3373636" y="1133921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اہم کیوں تھا؟</a:t>
            </a:r>
          </a:p>
          <a:p>
            <a:pPr algn="l" rtl="1"/>
            <a:endParaRPr lang="en-US"/>
          </a:p>
        </p:txBody>
      </p:sp>
      <p:sp>
        <p:nvSpPr>
          <p:cNvPr id="9" name="نتیجہ"/>
          <p:cNvSpPr/>
          <p:nvPr/>
        </p:nvSpPr>
        <p:spPr>
          <a:xfrm>
            <a:off x="421035" y="1133921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نتیجہ</a:t>
            </a:r>
          </a:p>
          <a:p>
            <a:pPr algn="l" rtl="1"/>
            <a:endParaRPr lang="en-US"/>
          </a:p>
        </p:txBody>
      </p:sp>
      <p:sp>
        <p:nvSpPr>
          <p:cNvPr id="10" name="یہ کیسے ہوا؟"/>
          <p:cNvSpPr/>
          <p:nvPr/>
        </p:nvSpPr>
        <p:spPr>
          <a:xfrm>
            <a:off x="675813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کیسے ہوا؟</a:t>
            </a:r>
          </a:p>
          <a:p>
            <a:pPr algn="l" rtl="1"/>
            <a:endParaRPr lang="en-US"/>
          </a:p>
        </p:txBody>
      </p:sp>
      <p:sp>
        <p:nvSpPr>
          <p:cNvPr id="11" name="واقعہ"/>
          <p:cNvSpPr/>
          <p:nvPr/>
        </p:nvSpPr>
        <p:spPr>
          <a:xfrm>
            <a:off x="3373636" y="3066157"/>
            <a:ext cx="3311426" cy="1859161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</p:txBody>
      </p:sp>
      <p:sp>
        <p:nvSpPr>
          <p:cNvPr id="12" name="یہ کب ہوا؟"/>
          <p:cNvSpPr/>
          <p:nvPr/>
        </p:nvSpPr>
        <p:spPr>
          <a:xfrm>
            <a:off x="421035" y="3066157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کب ہوا؟</a:t>
            </a:r>
          </a:p>
          <a:p>
            <a:pPr algn="l" rtl="1"/>
            <a:endParaRPr lang="en-US"/>
          </a:p>
        </p:txBody>
      </p:sp>
      <p:sp>
        <p:nvSpPr>
          <p:cNvPr id="13" name="شامل گروہ"/>
          <p:cNvSpPr/>
          <p:nvPr/>
        </p:nvSpPr>
        <p:spPr>
          <a:xfrm>
            <a:off x="675813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شامل گروہ</a:t>
            </a:r>
          </a:p>
          <a:p>
            <a:pPr algn="l" rtl="1"/>
            <a:endParaRPr lang="en-US"/>
          </a:p>
        </p:txBody>
      </p:sp>
      <p:sp>
        <p:nvSpPr>
          <p:cNvPr id="14" name="یہ کہاں ہوا؟"/>
          <p:cNvSpPr/>
          <p:nvPr/>
        </p:nvSpPr>
        <p:spPr>
          <a:xfrm>
            <a:off x="3373636" y="4998393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کہاں ہوا؟</a:t>
            </a:r>
          </a:p>
          <a:p>
            <a:pPr algn="l" rtl="1"/>
            <a:endParaRPr lang="en-US"/>
          </a:p>
        </p:txBody>
      </p:sp>
      <p:sp>
        <p:nvSpPr>
          <p:cNvPr id="15" name="اہم رہنما"/>
          <p:cNvSpPr/>
          <p:nvPr/>
        </p:nvSpPr>
        <p:spPr>
          <a:xfrm>
            <a:off x="421035" y="4998393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اہم رہنما</a:t>
            </a:r>
          </a:p>
          <a:p>
            <a:pPr algn="l" rtl="1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6–8: تحقیق، زمانی ترتیب، سبب و اثر، موازنہ، تاریخی پس منظر، نقطۂ نظر، ذرائع کا جائزہ اور بصری ابلاغ۔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دباؤ کے تحت وجوہات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طویل مدتی وجوہات"/>
          <p:cNvSpPr/>
          <p:nvPr/>
        </p:nvSpPr>
        <p:spPr>
          <a:xfrm>
            <a:off x="7626102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طویل مدتی وجوہات</a:t>
            </a:r>
          </a:p>
          <a:p>
            <a:pPr algn="l" rtl="1"/>
            <a:endParaRPr lang="en-US"/>
          </a:p>
        </p:txBody>
      </p:sp>
      <p:sp>
        <p:nvSpPr>
          <p:cNvPr id="8" name="قلیل مدتی وجوہات"/>
          <p:cNvSpPr/>
          <p:nvPr/>
        </p:nvSpPr>
        <p:spPr>
          <a:xfrm>
            <a:off x="5230713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قلیل مدتی وجوہات</a:t>
            </a:r>
          </a:p>
          <a:p>
            <a:pPr algn="l" rtl="1"/>
            <a:endParaRPr lang="en-US"/>
          </a:p>
        </p:txBody>
      </p:sp>
      <p:sp>
        <p:nvSpPr>
          <p:cNvPr id="9" name="فوری سبب / چنگاری"/>
          <p:cNvSpPr/>
          <p:nvPr/>
        </p:nvSpPr>
        <p:spPr>
          <a:xfrm>
            <a:off x="2816275" y="1133921"/>
            <a:ext cx="2030462" cy="2964359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فوری سبب / چنگاری</a:t>
            </a:r>
          </a:p>
          <a:p>
            <a:pPr algn="l" rtl="1"/>
            <a:endParaRPr lang="en-US"/>
          </a:p>
        </p:txBody>
      </p:sp>
      <p:sp>
        <p:nvSpPr>
          <p:cNvPr id="10" name="واقعہ"/>
          <p:cNvSpPr/>
          <p:nvPr/>
        </p:nvSpPr>
        <p:spPr>
          <a:xfrm>
            <a:off x="420886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  <a:p>
            <a:pPr algn="l" rtl="1"/>
            <a:endParaRPr lang="en-US"/>
          </a:p>
        </p:txBody>
      </p:sp>
      <p:sp>
        <p:nvSpPr>
          <p:cNvPr id="11" name="فوری اثرات"/>
          <p:cNvSpPr/>
          <p:nvPr/>
        </p:nvSpPr>
        <p:spPr>
          <a:xfrm>
            <a:off x="5074890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فوری اثرات</a:t>
            </a:r>
          </a:p>
          <a:p>
            <a:pPr algn="l" rtl="1"/>
            <a:endParaRPr lang="en-US"/>
          </a:p>
        </p:txBody>
      </p:sp>
      <p:sp>
        <p:nvSpPr>
          <p:cNvPr id="12" name="بعد کے / طویل مدتی اثرات"/>
          <p:cNvSpPr/>
          <p:nvPr/>
        </p:nvSpPr>
        <p:spPr>
          <a:xfrm>
            <a:off x="420886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بعد کے / طویل مدتی اثرات</a:t>
            </a:r>
          </a:p>
          <a:p>
            <a:pPr algn="l" rtl="1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7182654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4787265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5" name="arrow"/>
          <p:cNvSpPr txBox="1"/>
          <p:nvPr/>
        </p:nvSpPr>
        <p:spPr>
          <a:xfrm>
            <a:off x="2372826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6–8: تحقیق، زمانی ترتیب، سبب و اثر، موازنہ، تاریخی پس منظر، نقطۂ نظر، ذرائع کا جائزہ اور بصری ابلاغ۔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اہم موڑ کا نقشہ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پہلے"/>
          <p:cNvSpPr/>
          <p:nvPr/>
        </p:nvSpPr>
        <p:spPr>
          <a:xfrm>
            <a:off x="7225605" y="1133921"/>
            <a:ext cx="2411909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پہلے</a:t>
            </a:r>
          </a:p>
          <a:p>
            <a:pPr algn="l" rtl="1"/>
            <a:endParaRPr lang="en-US"/>
          </a:p>
        </p:txBody>
      </p:sp>
      <p:sp>
        <p:nvSpPr>
          <p:cNvPr id="8" name="اہم موڑ"/>
          <p:cNvSpPr/>
          <p:nvPr/>
        </p:nvSpPr>
        <p:spPr>
          <a:xfrm>
            <a:off x="3823246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اہم موڑ</a:t>
            </a:r>
          </a:p>
          <a:p>
            <a:pPr algn="l" rtl="1"/>
            <a:endParaRPr lang="en-US"/>
          </a:p>
        </p:txBody>
      </p:sp>
      <p:sp>
        <p:nvSpPr>
          <p:cNvPr id="9" name="بعد میں"/>
          <p:cNvSpPr/>
          <p:nvPr/>
        </p:nvSpPr>
        <p:spPr>
          <a:xfrm>
            <a:off x="420886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بعد میں</a:t>
            </a:r>
          </a:p>
          <a:p>
            <a:pPr algn="l" rtl="1"/>
            <a:endParaRPr lang="en-US"/>
          </a:p>
        </p:txBody>
      </p:sp>
      <p:sp>
        <p:nvSpPr>
          <p:cNvPr id="10" name="بڑھتے دباؤ"/>
          <p:cNvSpPr/>
          <p:nvPr/>
        </p:nvSpPr>
        <p:spPr>
          <a:xfrm>
            <a:off x="6308378" y="4346228"/>
            <a:ext cx="332913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بڑھتے دباؤ</a:t>
            </a:r>
          </a:p>
          <a:p>
            <a:pPr algn="l" rtl="1"/>
            <a:endParaRPr lang="en-US"/>
          </a:p>
        </p:txBody>
      </p:sp>
      <p:sp>
        <p:nvSpPr>
          <p:cNvPr id="11" name="طویل مدتی تبدیلی"/>
          <p:cNvSpPr/>
          <p:nvPr/>
        </p:nvSpPr>
        <p:spPr>
          <a:xfrm>
            <a:off x="3373785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طویل مدتی تبدیلی</a:t>
            </a:r>
          </a:p>
          <a:p>
            <a:pPr algn="l" rtl="1"/>
            <a:endParaRPr lang="en-US"/>
          </a:p>
        </p:txBody>
      </p:sp>
      <p:sp>
        <p:nvSpPr>
          <p:cNvPr id="12" name="یہ اہم موڑ کیوں تھا؟"/>
          <p:cNvSpPr/>
          <p:nvPr/>
        </p:nvSpPr>
        <p:spPr>
          <a:xfrm>
            <a:off x="420886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اہم موڑ کیوں تھا؟</a:t>
            </a:r>
          </a:p>
          <a:p>
            <a:pPr algn="l" rtl="1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6308378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2906018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6–8: تحقیق، زمانی ترتیب، سبب و اثر، موازنہ، تاریخی پس منظر، نقطۂ نظر، ذرائع کا جائزہ اور بصری ابلاغ۔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متعدد نقطہ ہائے نظر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گروہ 1"/>
          <p:cNvSpPr/>
          <p:nvPr/>
        </p:nvSpPr>
        <p:spPr>
          <a:xfrm>
            <a:off x="6339185" y="1133921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گروہ 1</a:t>
            </a:r>
          </a:p>
          <a:p>
            <a:pPr algn="l" rtl="1"/>
            <a:endParaRPr lang="en-US"/>
          </a:p>
        </p:txBody>
      </p:sp>
      <p:sp>
        <p:nvSpPr>
          <p:cNvPr id="8" name="واقعہ"/>
          <p:cNvSpPr/>
          <p:nvPr/>
        </p:nvSpPr>
        <p:spPr>
          <a:xfrm>
            <a:off x="3792438" y="1133921"/>
            <a:ext cx="2473672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</p:txBody>
      </p:sp>
      <p:sp>
        <p:nvSpPr>
          <p:cNvPr id="9" name="گروہ 2"/>
          <p:cNvSpPr/>
          <p:nvPr/>
        </p:nvSpPr>
        <p:spPr>
          <a:xfrm>
            <a:off x="420886" y="1133921"/>
            <a:ext cx="3298478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گروہ 2</a:t>
            </a:r>
          </a:p>
          <a:p>
            <a:pPr algn="l" rtl="1"/>
            <a:endParaRPr lang="en-US"/>
          </a:p>
        </p:txBody>
      </p:sp>
      <p:sp>
        <p:nvSpPr>
          <p:cNvPr id="10" name="گروہ 3"/>
          <p:cNvSpPr/>
          <p:nvPr/>
        </p:nvSpPr>
        <p:spPr>
          <a:xfrm>
            <a:off x="6339185" y="3272730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گروہ 3</a:t>
            </a:r>
          </a:p>
          <a:p>
            <a:pPr algn="l" rtl="1"/>
            <a:endParaRPr lang="en-US"/>
          </a:p>
        </p:txBody>
      </p:sp>
      <p:sp>
        <p:nvSpPr>
          <p:cNvPr id="11" name="گروہ 4"/>
          <p:cNvSpPr/>
          <p:nvPr/>
        </p:nvSpPr>
        <p:spPr>
          <a:xfrm>
            <a:off x="420886" y="3272730"/>
            <a:ext cx="3298478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گروہ 4</a:t>
            </a:r>
          </a:p>
          <a:p>
            <a:pPr algn="l" rtl="1"/>
            <a:endParaRPr lang="en-US"/>
          </a:p>
        </p:txBody>
      </p:sp>
      <p:sp>
        <p:nvSpPr>
          <p:cNvPr id="12" name="وہ کہاں متفق تھے؟"/>
          <p:cNvSpPr/>
          <p:nvPr/>
        </p:nvSpPr>
        <p:spPr>
          <a:xfrm>
            <a:off x="6626275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وہ کہاں متفق تھے؟</a:t>
            </a:r>
          </a:p>
          <a:p>
            <a:pPr algn="l" rtl="1"/>
            <a:endParaRPr lang="en-US"/>
          </a:p>
        </p:txBody>
      </p:sp>
      <p:sp>
        <p:nvSpPr>
          <p:cNvPr id="13" name="وہ کہاں مختلف تھے؟"/>
          <p:cNvSpPr/>
          <p:nvPr/>
        </p:nvSpPr>
        <p:spPr>
          <a:xfrm>
            <a:off x="3523655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وہ کہاں مختلف تھے؟</a:t>
            </a:r>
          </a:p>
          <a:p>
            <a:pPr algn="l" rtl="1"/>
            <a:endParaRPr lang="en-US"/>
          </a:p>
        </p:txBody>
      </p:sp>
      <p:sp>
        <p:nvSpPr>
          <p:cNvPr id="14" name="کس کی آواز غائب ہے؟"/>
          <p:cNvSpPr/>
          <p:nvPr/>
        </p:nvSpPr>
        <p:spPr>
          <a:xfrm>
            <a:off x="420886" y="5411539"/>
            <a:ext cx="3011388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کس کی آواز غائب ہے؟</a:t>
            </a:r>
          </a:p>
          <a:p>
            <a:pPr algn="l" rtl="1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6–8: تحقیق، زمانی ترتیب، سبب و اثر، موازنہ، تاریخی پس منظر، نقطۂ نظر، ذرائع کا جائزہ اور بصری ابلاغ۔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رہنما اور واقعہ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ہم رہنما"/>
          <p:cNvSpPr/>
          <p:nvPr/>
        </p:nvSpPr>
        <p:spPr>
          <a:xfrm>
            <a:off x="6222504" y="1133921"/>
            <a:ext cx="3415010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اہم رہنما</a:t>
            </a:r>
          </a:p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اثر"/>
          <p:cNvSpPr/>
          <p:nvPr/>
        </p:nvSpPr>
        <p:spPr>
          <a:xfrm>
            <a:off x="6222504" y="2983855"/>
            <a:ext cx="3415010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اثر</a:t>
            </a:r>
          </a:p>
          <a:p>
            <a:pPr algn="l" rtl="1"/>
            <a:endParaRPr lang="en-US"/>
          </a:p>
        </p:txBody>
      </p:sp>
      <p:sp>
        <p:nvSpPr>
          <p:cNvPr id="9" name="ثبوت"/>
          <p:cNvSpPr/>
          <p:nvPr/>
        </p:nvSpPr>
        <p:spPr>
          <a:xfrm>
            <a:off x="6222504" y="4966692"/>
            <a:ext cx="3415010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ثبوت</a:t>
            </a:r>
          </a:p>
          <a:p>
            <a:pPr algn="l" rtl="1"/>
            <a:endParaRPr lang="en-US"/>
          </a:p>
        </p:txBody>
      </p:sp>
      <p:sp>
        <p:nvSpPr>
          <p:cNvPr id="10" name="واقعہ"/>
          <p:cNvSpPr/>
          <p:nvPr/>
        </p:nvSpPr>
        <p:spPr>
          <a:xfrm>
            <a:off x="421035" y="1133921"/>
            <a:ext cx="5691783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1" name="رہنما کے مقاصد"/>
          <p:cNvSpPr/>
          <p:nvPr/>
        </p:nvSpPr>
        <p:spPr>
          <a:xfrm>
            <a:off x="3312616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رہنما کے مقاصد</a:t>
            </a:r>
          </a:p>
          <a:p>
            <a:pPr algn="l" rtl="1"/>
            <a:endParaRPr lang="en-US"/>
          </a:p>
        </p:txBody>
      </p:sp>
      <p:sp>
        <p:nvSpPr>
          <p:cNvPr id="12" name="اہم فیصلے"/>
          <p:cNvSpPr/>
          <p:nvPr/>
        </p:nvSpPr>
        <p:spPr>
          <a:xfrm>
            <a:off x="421035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اہم فیصلے</a:t>
            </a:r>
          </a:p>
          <a:p>
            <a:pPr algn="l" rtl="1"/>
            <a:endParaRPr lang="en-US"/>
          </a:p>
        </p:txBody>
      </p:sp>
      <p:sp>
        <p:nvSpPr>
          <p:cNvPr id="13" name="اتحادی / حمایتی"/>
          <p:cNvSpPr/>
          <p:nvPr/>
        </p:nvSpPr>
        <p:spPr>
          <a:xfrm>
            <a:off x="3312616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اتحادی / حمایتی</a:t>
            </a:r>
          </a:p>
          <a:p>
            <a:pPr algn="l" rtl="1"/>
            <a:endParaRPr lang="en-US"/>
          </a:p>
        </p:txBody>
      </p:sp>
      <p:sp>
        <p:nvSpPr>
          <p:cNvPr id="14" name="مخالفین"/>
          <p:cNvSpPr/>
          <p:nvPr/>
        </p:nvSpPr>
        <p:spPr>
          <a:xfrm>
            <a:off x="421035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مخالفین</a:t>
            </a:r>
          </a:p>
          <a:p>
            <a:pPr algn="l" rtl="1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6–8: تحقیق، زمانی ترتیب، سبب و اثر، موازنہ، تاریخی پس منظر، نقطۂ نظر، ذرائع کا جائزہ اور بصری ابلاغ۔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تنازع کا نقشہ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فریق / گروہ A"/>
          <p:cNvSpPr/>
          <p:nvPr/>
        </p:nvSpPr>
        <p:spPr>
          <a:xfrm>
            <a:off x="6352580" y="1133921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فریق / گروہ A</a:t>
            </a:r>
          </a:p>
          <a:p>
            <a:pPr algn="l" rtl="1"/>
            <a:endParaRPr lang="en-US"/>
          </a:p>
        </p:txBody>
      </p:sp>
      <p:sp>
        <p:nvSpPr>
          <p:cNvPr id="8" name="فریق الف کا مقصد"/>
          <p:cNvSpPr/>
          <p:nvPr/>
        </p:nvSpPr>
        <p:spPr>
          <a:xfrm>
            <a:off x="6352580" y="2344043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فریق الف کا مقصد</a:t>
            </a:r>
          </a:p>
          <a:p>
            <a:pPr algn="l" rtl="1"/>
            <a:endParaRPr lang="en-US"/>
          </a:p>
        </p:txBody>
      </p:sp>
      <p:sp>
        <p:nvSpPr>
          <p:cNvPr id="9" name="فریق الف کی کارروائی"/>
          <p:cNvSpPr/>
          <p:nvPr/>
        </p:nvSpPr>
        <p:spPr>
          <a:xfrm>
            <a:off x="6352580" y="3554164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فریق الف کی کارروائی</a:t>
            </a:r>
          </a:p>
          <a:p>
            <a:pPr algn="l" rtl="1"/>
            <a:endParaRPr lang="en-US"/>
          </a:p>
        </p:txBody>
      </p:sp>
      <p:sp>
        <p:nvSpPr>
          <p:cNvPr id="10" name="تنازع کا واقعہ"/>
          <p:cNvSpPr/>
          <p:nvPr/>
        </p:nvSpPr>
        <p:spPr>
          <a:xfrm>
            <a:off x="3797350" y="1133921"/>
            <a:ext cx="2463850" cy="3557290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تنازع کا واقعہ</a:t>
            </a:r>
          </a:p>
        </p:txBody>
      </p:sp>
      <p:sp>
        <p:nvSpPr>
          <p:cNvPr id="11" name="فریق / گروہ B"/>
          <p:cNvSpPr/>
          <p:nvPr/>
        </p:nvSpPr>
        <p:spPr>
          <a:xfrm>
            <a:off x="421035" y="1133921"/>
            <a:ext cx="3284934" cy="114969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فریق / گروہ B</a:t>
            </a:r>
          </a:p>
          <a:p>
            <a:pPr algn="l" rtl="1"/>
            <a:endParaRPr lang="en-US"/>
          </a:p>
        </p:txBody>
      </p:sp>
      <p:sp>
        <p:nvSpPr>
          <p:cNvPr id="12" name="فریق ب کا مقصد"/>
          <p:cNvSpPr/>
          <p:nvPr/>
        </p:nvSpPr>
        <p:spPr>
          <a:xfrm>
            <a:off x="421035" y="2356693"/>
            <a:ext cx="3284934" cy="11306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فریق ب کا مقصد</a:t>
            </a:r>
          </a:p>
          <a:p>
            <a:pPr algn="l" rtl="1"/>
            <a:endParaRPr lang="en-US"/>
          </a:p>
        </p:txBody>
      </p:sp>
      <p:sp>
        <p:nvSpPr>
          <p:cNvPr id="13" name="فریق ب کی کارروائی"/>
          <p:cNvSpPr/>
          <p:nvPr/>
        </p:nvSpPr>
        <p:spPr>
          <a:xfrm>
            <a:off x="421035" y="3560415"/>
            <a:ext cx="3284934" cy="113079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فریق ب کی کارروائی</a:t>
            </a:r>
          </a:p>
          <a:p>
            <a:pPr algn="l" rtl="1"/>
            <a:endParaRPr lang="en-US"/>
          </a:p>
        </p:txBody>
      </p:sp>
      <p:sp>
        <p:nvSpPr>
          <p:cNvPr id="14" name="حل"/>
          <p:cNvSpPr/>
          <p:nvPr/>
        </p:nvSpPr>
        <p:spPr>
          <a:xfrm>
            <a:off x="5075039" y="4782592"/>
            <a:ext cx="4562475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حل</a:t>
            </a:r>
          </a:p>
          <a:p>
            <a:pPr algn="l" rtl="1"/>
            <a:endParaRPr lang="en-US"/>
          </a:p>
        </p:txBody>
      </p:sp>
      <p:sp>
        <p:nvSpPr>
          <p:cNvPr id="15" name="نتیجہ"/>
          <p:cNvSpPr/>
          <p:nvPr/>
        </p:nvSpPr>
        <p:spPr>
          <a:xfrm>
            <a:off x="421035" y="4782592"/>
            <a:ext cx="4562624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نتیجہ</a:t>
            </a:r>
          </a:p>
          <a:p>
            <a:pPr algn="l" rtl="1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6–8: تحقیق، زمانی ترتیب، سبب و اثر، موازنہ، تاریخی پس منظر، نقطۂ نظر، ذرائع کا جائزہ اور بصری ابلاغ۔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واقعاتی زنجیری ردعمل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کارروائی 1"/>
          <p:cNvSpPr/>
          <p:nvPr/>
        </p:nvSpPr>
        <p:spPr>
          <a:xfrm>
            <a:off x="8424565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کارروائی 1</a:t>
            </a:r>
          </a:p>
          <a:p>
            <a:pPr algn="l" rtl="1"/>
            <a:endParaRPr lang="en-US"/>
          </a:p>
        </p:txBody>
      </p:sp>
      <p:sp>
        <p:nvSpPr>
          <p:cNvPr id="8" name="ردِعمل 1"/>
          <p:cNvSpPr/>
          <p:nvPr/>
        </p:nvSpPr>
        <p:spPr>
          <a:xfrm>
            <a:off x="6827639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ردِعمل 1</a:t>
            </a:r>
          </a:p>
          <a:p>
            <a:pPr algn="l" rtl="1"/>
            <a:endParaRPr lang="en-US"/>
          </a:p>
        </p:txBody>
      </p:sp>
      <p:sp>
        <p:nvSpPr>
          <p:cNvPr id="9" name="کارروائی 2"/>
          <p:cNvSpPr/>
          <p:nvPr/>
        </p:nvSpPr>
        <p:spPr>
          <a:xfrm>
            <a:off x="5211663" y="1133921"/>
            <a:ext cx="1231999" cy="32184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کارروائی 2</a:t>
            </a:r>
          </a:p>
          <a:p>
            <a:pPr algn="l" rtl="1"/>
            <a:endParaRPr lang="en-US"/>
          </a:p>
        </p:txBody>
      </p:sp>
      <p:sp>
        <p:nvSpPr>
          <p:cNvPr id="10" name="ردِعمل 2"/>
          <p:cNvSpPr/>
          <p:nvPr/>
        </p:nvSpPr>
        <p:spPr>
          <a:xfrm>
            <a:off x="3614738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ردِعمل 2</a:t>
            </a:r>
          </a:p>
          <a:p>
            <a:pPr algn="l" rtl="1"/>
            <a:endParaRPr lang="en-US"/>
          </a:p>
        </p:txBody>
      </p:sp>
      <p:sp>
        <p:nvSpPr>
          <p:cNvPr id="11" name="بحران / اہم موڑ"/>
          <p:cNvSpPr/>
          <p:nvPr/>
        </p:nvSpPr>
        <p:spPr>
          <a:xfrm>
            <a:off x="2017812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بحران / اہم موڑ</a:t>
            </a:r>
          </a:p>
          <a:p>
            <a:pPr algn="l" rtl="1"/>
            <a:endParaRPr lang="en-US"/>
          </a:p>
        </p:txBody>
      </p:sp>
      <p:sp>
        <p:nvSpPr>
          <p:cNvPr id="12" name="نتیجہ"/>
          <p:cNvSpPr/>
          <p:nvPr/>
        </p:nvSpPr>
        <p:spPr>
          <a:xfrm>
            <a:off x="420886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نتیجہ</a:t>
            </a:r>
          </a:p>
          <a:p>
            <a:pPr algn="l" rtl="1"/>
            <a:endParaRPr lang="en-US"/>
          </a:p>
        </p:txBody>
      </p:sp>
      <p:sp>
        <p:nvSpPr>
          <p:cNvPr id="13" name="سب سے اہم کڑی"/>
          <p:cNvSpPr/>
          <p:nvPr/>
        </p:nvSpPr>
        <p:spPr>
          <a:xfrm>
            <a:off x="5074890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سب سے اہم کڑی</a:t>
            </a:r>
          </a:p>
          <a:p>
            <a:pPr algn="l" rtl="1"/>
            <a:endParaRPr lang="en-US"/>
          </a:p>
        </p:txBody>
      </p:sp>
      <p:sp>
        <p:nvSpPr>
          <p:cNvPr id="14" name="ثبوت"/>
          <p:cNvSpPr/>
          <p:nvPr/>
        </p:nvSpPr>
        <p:spPr>
          <a:xfrm>
            <a:off x="420886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ثبوت</a:t>
            </a:r>
          </a:p>
          <a:p>
            <a:pPr algn="l" rtl="1"/>
            <a:endParaRPr lang="en-US"/>
          </a:p>
        </p:txBody>
      </p:sp>
      <p:sp>
        <p:nvSpPr>
          <p:cNvPr id="15" name="arrow"/>
          <p:cNvSpPr txBox="1"/>
          <p:nvPr/>
        </p:nvSpPr>
        <p:spPr>
          <a:xfrm>
            <a:off x="7981117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6" name="arrow"/>
          <p:cNvSpPr txBox="1"/>
          <p:nvPr/>
        </p:nvSpPr>
        <p:spPr>
          <a:xfrm>
            <a:off x="6384191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7" name="arrow"/>
          <p:cNvSpPr txBox="1"/>
          <p:nvPr/>
        </p:nvSpPr>
        <p:spPr>
          <a:xfrm>
            <a:off x="4768215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8" name="arrow"/>
          <p:cNvSpPr txBox="1"/>
          <p:nvPr/>
        </p:nvSpPr>
        <p:spPr>
          <a:xfrm>
            <a:off x="3171289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9" name="arrow"/>
          <p:cNvSpPr txBox="1"/>
          <p:nvPr/>
        </p:nvSpPr>
        <p:spPr>
          <a:xfrm>
            <a:off x="1574363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6–8: تحقیق، زمانی ترتیب، سبب و اثر، موازنہ، تاریخی پس منظر، نقطۂ نظر، ذرائع کا جائزہ اور بصری ابلاغ۔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واقعے کا جغرافیہ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طبعی جغرافیہ"/>
          <p:cNvSpPr/>
          <p:nvPr/>
        </p:nvSpPr>
        <p:spPr>
          <a:xfrm>
            <a:off x="6509891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طبعی جغرافیہ</a:t>
            </a:r>
          </a:p>
          <a:p>
            <a:pPr algn="l" rtl="1"/>
            <a:endParaRPr lang="en-US"/>
          </a:p>
        </p:txBody>
      </p:sp>
      <p:sp>
        <p:nvSpPr>
          <p:cNvPr id="8" name="واقعہ"/>
          <p:cNvSpPr/>
          <p:nvPr/>
        </p:nvSpPr>
        <p:spPr>
          <a:xfrm>
            <a:off x="3621732" y="1133921"/>
            <a:ext cx="2815084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</p:txBody>
      </p:sp>
      <p:sp>
        <p:nvSpPr>
          <p:cNvPr id="9" name="انسانی جغرافیہ"/>
          <p:cNvSpPr/>
          <p:nvPr/>
        </p:nvSpPr>
        <p:spPr>
          <a:xfrm>
            <a:off x="421035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انسانی جغرافیہ</a:t>
            </a:r>
          </a:p>
          <a:p>
            <a:pPr algn="l" rtl="1"/>
            <a:endParaRPr lang="en-US"/>
          </a:p>
        </p:txBody>
      </p:sp>
      <p:sp>
        <p:nvSpPr>
          <p:cNvPr id="10" name="وسائل"/>
          <p:cNvSpPr/>
          <p:nvPr/>
        </p:nvSpPr>
        <p:spPr>
          <a:xfrm>
            <a:off x="6509891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وسائل</a:t>
            </a:r>
          </a:p>
          <a:p>
            <a:pPr algn="l" rtl="1"/>
            <a:endParaRPr lang="en-US"/>
          </a:p>
        </p:txBody>
      </p:sp>
      <p:sp>
        <p:nvSpPr>
          <p:cNvPr id="11" name="حرکت / راستے"/>
          <p:cNvSpPr/>
          <p:nvPr/>
        </p:nvSpPr>
        <p:spPr>
          <a:xfrm>
            <a:off x="421035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حرکت / راستے</a:t>
            </a:r>
          </a:p>
          <a:p>
            <a:pPr algn="l" rtl="1"/>
            <a:endParaRPr lang="en-US"/>
          </a:p>
        </p:txBody>
      </p:sp>
      <p:sp>
        <p:nvSpPr>
          <p:cNvPr id="12" name="مقام کیوں اہم تھا؟"/>
          <p:cNvSpPr/>
          <p:nvPr/>
        </p:nvSpPr>
        <p:spPr>
          <a:xfrm>
            <a:off x="5075039" y="5411539"/>
            <a:ext cx="4562475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مقام کیوں اہم تھا؟</a:t>
            </a:r>
          </a:p>
          <a:p>
            <a:pPr algn="l" rtl="1"/>
            <a:endParaRPr lang="en-US"/>
          </a:p>
        </p:txBody>
      </p:sp>
      <p:sp>
        <p:nvSpPr>
          <p:cNvPr id="13" name="جغرافیائی اثر"/>
          <p:cNvSpPr/>
          <p:nvPr/>
        </p:nvSpPr>
        <p:spPr>
          <a:xfrm>
            <a:off x="421035" y="5411539"/>
            <a:ext cx="4562624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جغرافیائی اثر</a:t>
            </a:r>
          </a:p>
          <a:p>
            <a:pPr algn="l" rtl="1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6–8: تحقیق، زمانی ترتیب، سبب و اثر، موازنہ، تاریخی پس منظر، نقطۂ نظر، ذرائع کا جائزہ اور بصری ابلاغ۔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واقعے کے سیاق کا نقشہ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تاریخی پس منظر"/>
          <p:cNvSpPr/>
          <p:nvPr/>
        </p:nvSpPr>
        <p:spPr>
          <a:xfrm>
            <a:off x="675813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تاریخی پس منظر</a:t>
            </a:r>
          </a:p>
          <a:p>
            <a:pPr algn="l" rtl="1"/>
            <a:endParaRPr lang="en-US"/>
          </a:p>
        </p:txBody>
      </p:sp>
      <p:sp>
        <p:nvSpPr>
          <p:cNvPr id="8" name="طویل مدتی وجوہات"/>
          <p:cNvSpPr/>
          <p:nvPr/>
        </p:nvSpPr>
        <p:spPr>
          <a:xfrm>
            <a:off x="3373487" y="1133921"/>
            <a:ext cx="3311575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طویل مدتی وجوہات</a:t>
            </a:r>
          </a:p>
          <a:p>
            <a:pPr algn="l" rtl="1"/>
            <a:endParaRPr lang="en-US"/>
          </a:p>
        </p:txBody>
      </p:sp>
      <p:sp>
        <p:nvSpPr>
          <p:cNvPr id="9" name="فوری وجہ"/>
          <p:cNvSpPr/>
          <p:nvPr/>
        </p:nvSpPr>
        <p:spPr>
          <a:xfrm>
            <a:off x="421035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فوری وجہ</a:t>
            </a:r>
          </a:p>
          <a:p>
            <a:pPr algn="l" rtl="1"/>
            <a:endParaRPr lang="en-US"/>
          </a:p>
        </p:txBody>
      </p:sp>
      <p:sp>
        <p:nvSpPr>
          <p:cNvPr id="10" name="اہم لوگ / گروہ"/>
          <p:cNvSpPr/>
          <p:nvPr/>
        </p:nvSpPr>
        <p:spPr>
          <a:xfrm>
            <a:off x="675813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اہم لوگ / گروہ</a:t>
            </a:r>
          </a:p>
          <a:p>
            <a:pPr algn="l" rtl="1"/>
            <a:endParaRPr lang="en-US"/>
          </a:p>
        </p:txBody>
      </p:sp>
      <p:sp>
        <p:nvSpPr>
          <p:cNvPr id="11" name="کیا ہوا؟"/>
          <p:cNvSpPr/>
          <p:nvPr/>
        </p:nvSpPr>
        <p:spPr>
          <a:xfrm>
            <a:off x="421035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کیا ہوا؟</a:t>
            </a:r>
          </a:p>
          <a:p>
            <a:pPr algn="l" rtl="1"/>
            <a:endParaRPr lang="en-US"/>
          </a:p>
        </p:txBody>
      </p:sp>
      <p:sp>
        <p:nvSpPr>
          <p:cNvPr id="12" name="واقعہ"/>
          <p:cNvSpPr/>
          <p:nvPr/>
        </p:nvSpPr>
        <p:spPr>
          <a:xfrm>
            <a:off x="3373487" y="3066157"/>
            <a:ext cx="3311575" cy="1859161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3" name="فوری نتیجہ"/>
          <p:cNvSpPr/>
          <p:nvPr/>
        </p:nvSpPr>
        <p:spPr>
          <a:xfrm>
            <a:off x="675813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فوری نتیجہ</a:t>
            </a:r>
          </a:p>
          <a:p>
            <a:pPr algn="l" rtl="1"/>
            <a:endParaRPr lang="en-US"/>
          </a:p>
        </p:txBody>
      </p:sp>
      <p:sp>
        <p:nvSpPr>
          <p:cNvPr id="14" name="طویل مدتی نتیجہ"/>
          <p:cNvSpPr/>
          <p:nvPr/>
        </p:nvSpPr>
        <p:spPr>
          <a:xfrm>
            <a:off x="3373487" y="4998393"/>
            <a:ext cx="3311575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طویل مدتی نتیجہ</a:t>
            </a:r>
          </a:p>
          <a:p>
            <a:pPr algn="l" rtl="1"/>
            <a:endParaRPr lang="en-US"/>
          </a:p>
        </p:txBody>
      </p:sp>
      <p:sp>
        <p:nvSpPr>
          <p:cNvPr id="15" name="تاریخی اہمیت"/>
          <p:cNvSpPr/>
          <p:nvPr/>
        </p:nvSpPr>
        <p:spPr>
          <a:xfrm>
            <a:off x="421035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تاریخی اہمیت</a:t>
            </a:r>
          </a:p>
          <a:p>
            <a:pPr algn="l" rtl="1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9–12: تاریخی تحقیق، زمانی ترتیب، علّت، نقطۂ نظر، ذرائع کا جائزہ، دعوے/شواہد، جغرافیائی تشریح اور بصری ابلاغ۔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وجوہات کی درجہ بندی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سبب 1"/>
          <p:cNvSpPr/>
          <p:nvPr/>
        </p:nvSpPr>
        <p:spPr>
          <a:xfrm>
            <a:off x="5070277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سبب 1</a:t>
            </a:r>
          </a:p>
          <a:p>
            <a:pPr algn="l" rtl="1"/>
            <a:endParaRPr lang="en-US"/>
          </a:p>
        </p:txBody>
      </p:sp>
      <p:sp>
        <p:nvSpPr>
          <p:cNvPr id="8" name="سبب 2"/>
          <p:cNvSpPr/>
          <p:nvPr/>
        </p:nvSpPr>
        <p:spPr>
          <a:xfrm>
            <a:off x="420886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سبب 2</a:t>
            </a:r>
          </a:p>
          <a:p>
            <a:pPr algn="l" rtl="1"/>
            <a:endParaRPr lang="en-US"/>
          </a:p>
        </p:txBody>
      </p:sp>
      <p:sp>
        <p:nvSpPr>
          <p:cNvPr id="9" name="سبب 3"/>
          <p:cNvSpPr/>
          <p:nvPr/>
        </p:nvSpPr>
        <p:spPr>
          <a:xfrm>
            <a:off x="5070277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سبب 3</a:t>
            </a:r>
          </a:p>
          <a:p>
            <a:pPr algn="l" rtl="1"/>
            <a:endParaRPr lang="en-US"/>
          </a:p>
        </p:txBody>
      </p:sp>
      <p:sp>
        <p:nvSpPr>
          <p:cNvPr id="10" name="سبب 4"/>
          <p:cNvSpPr/>
          <p:nvPr/>
        </p:nvSpPr>
        <p:spPr>
          <a:xfrm>
            <a:off x="420886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سبب 4</a:t>
            </a:r>
          </a:p>
          <a:p>
            <a:pPr algn="l" rtl="1"/>
            <a:endParaRPr lang="en-US"/>
          </a:p>
        </p:txBody>
      </p:sp>
      <p:sp>
        <p:nvSpPr>
          <p:cNvPr id="11" name="وجوہات کو 1-4 درجہ دیں"/>
          <p:cNvSpPr/>
          <p:nvPr/>
        </p:nvSpPr>
        <p:spPr>
          <a:xfrm>
            <a:off x="5074890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وجوہات کو 1-4 درجہ دیں</a:t>
            </a:r>
          </a:p>
          <a:p>
            <a:pPr algn="l" rtl="1"/>
            <a:endParaRPr lang="en-US"/>
          </a:p>
        </p:txBody>
      </p:sp>
      <p:sp>
        <p:nvSpPr>
          <p:cNvPr id="12" name="سب سے اہم وجہ"/>
          <p:cNvSpPr/>
          <p:nvPr/>
        </p:nvSpPr>
        <p:spPr>
          <a:xfrm>
            <a:off x="420886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سب سے اہم وجہ</a:t>
            </a:r>
          </a:p>
          <a:p>
            <a:pPr algn="l" rtl="1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9–12: تاریخی تحقیق، زمانی ترتیب، علّت، نقطۂ نظر، ذرائع کا جائزہ، دعوے/شواہد، جغرافیائی تشریح اور بصری ابلاغ۔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اہم موڑ کا تجزیہ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پہلے"/>
          <p:cNvSpPr/>
          <p:nvPr/>
        </p:nvSpPr>
        <p:spPr>
          <a:xfrm>
            <a:off x="6620173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پہلے</a:t>
            </a:r>
          </a:p>
          <a:p>
            <a:pPr algn="l" rtl="1"/>
            <a:endParaRPr lang="en-US"/>
          </a:p>
        </p:txBody>
      </p:sp>
      <p:sp>
        <p:nvSpPr>
          <p:cNvPr id="8" name="واقعہ"/>
          <p:cNvSpPr/>
          <p:nvPr/>
        </p:nvSpPr>
        <p:spPr>
          <a:xfrm>
            <a:off x="3520529" y="1133921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  <a:p>
            <a:pPr algn="l" rtl="1"/>
            <a:endParaRPr lang="en-US"/>
          </a:p>
        </p:txBody>
      </p:sp>
      <p:sp>
        <p:nvSpPr>
          <p:cNvPr id="9" name="فوری تبدیلی"/>
          <p:cNvSpPr/>
          <p:nvPr/>
        </p:nvSpPr>
        <p:spPr>
          <a:xfrm>
            <a:off x="421035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فوری تبدیلی</a:t>
            </a:r>
          </a:p>
          <a:p>
            <a:pPr algn="l" rtl="1"/>
            <a:endParaRPr lang="en-US"/>
          </a:p>
        </p:txBody>
      </p:sp>
      <p:sp>
        <p:nvSpPr>
          <p:cNvPr id="10" name="طویل مدتی تبدیلی"/>
          <p:cNvSpPr/>
          <p:nvPr/>
        </p:nvSpPr>
        <p:spPr>
          <a:xfrm>
            <a:off x="6620173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طویل مدتی تبدیلی</a:t>
            </a:r>
          </a:p>
          <a:p>
            <a:pPr algn="l" rtl="1"/>
            <a:endParaRPr lang="en-US"/>
          </a:p>
        </p:txBody>
      </p:sp>
      <p:sp>
        <p:nvSpPr>
          <p:cNvPr id="11" name="کیا جاری رہا؟"/>
          <p:cNvSpPr/>
          <p:nvPr/>
        </p:nvSpPr>
        <p:spPr>
          <a:xfrm>
            <a:off x="3520529" y="3275112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کیا جاری رہا؟</a:t>
            </a:r>
          </a:p>
          <a:p>
            <a:pPr algn="l" rtl="1"/>
            <a:endParaRPr lang="en-US"/>
          </a:p>
        </p:txBody>
      </p:sp>
      <p:sp>
        <p:nvSpPr>
          <p:cNvPr id="12" name="کیا یہ واقعی اہم موڑ تھا؟"/>
          <p:cNvSpPr/>
          <p:nvPr/>
        </p:nvSpPr>
        <p:spPr>
          <a:xfrm>
            <a:off x="421035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کیا یہ واقعی اہم موڑ تھا؟</a:t>
            </a:r>
          </a:p>
          <a:p>
            <a:pPr algn="l" rtl="1"/>
            <a:endParaRPr lang="en-US"/>
          </a:p>
        </p:txBody>
      </p:sp>
      <p:sp>
        <p:nvSpPr>
          <p:cNvPr id="13" name="ثبوت"/>
          <p:cNvSpPr/>
          <p:nvPr/>
        </p:nvSpPr>
        <p:spPr>
          <a:xfrm>
            <a:off x="421035" y="5416302"/>
            <a:ext cx="9216479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ثبوت</a:t>
            </a:r>
          </a:p>
          <a:p>
            <a:pPr algn="l" rtl="1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9–12: تاریخی تحقیق، زمانی ترتیب، علّت، نقطۂ نظر، ذرائع کا جائزہ، دعوے/شواہد، جغرافیائی تشریح اور بصری ابلاغ۔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نقطہ نظر اور ثبوت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نقطۂ نظر 1"/>
          <p:cNvSpPr/>
          <p:nvPr/>
        </p:nvSpPr>
        <p:spPr>
          <a:xfrm>
            <a:off x="6398121" y="1133921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نقطۂ نظر 1</a:t>
            </a:r>
          </a:p>
          <a:p>
            <a:pPr algn="l" rtl="1"/>
            <a:endParaRPr lang="en-US"/>
          </a:p>
        </p:txBody>
      </p:sp>
      <p:sp>
        <p:nvSpPr>
          <p:cNvPr id="8" name="واقعہ"/>
          <p:cNvSpPr/>
          <p:nvPr/>
        </p:nvSpPr>
        <p:spPr>
          <a:xfrm>
            <a:off x="3733502" y="1133921"/>
            <a:ext cx="2591544" cy="4129534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</p:txBody>
      </p:sp>
      <p:sp>
        <p:nvSpPr>
          <p:cNvPr id="9" name="نقطۂ نظر 2"/>
          <p:cNvSpPr/>
          <p:nvPr/>
        </p:nvSpPr>
        <p:spPr>
          <a:xfrm>
            <a:off x="420886" y="1133921"/>
            <a:ext cx="3239542" cy="20282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نقطۂ نظر 2</a:t>
            </a:r>
          </a:p>
          <a:p>
            <a:pPr algn="l" rtl="1"/>
            <a:endParaRPr lang="en-US"/>
          </a:p>
        </p:txBody>
      </p:sp>
      <p:sp>
        <p:nvSpPr>
          <p:cNvPr id="10" name="نقطۂ نظر 3"/>
          <p:cNvSpPr/>
          <p:nvPr/>
        </p:nvSpPr>
        <p:spPr>
          <a:xfrm>
            <a:off x="6398121" y="3235226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نقطۂ نظر 3</a:t>
            </a:r>
          </a:p>
          <a:p>
            <a:pPr algn="l" rtl="1"/>
            <a:endParaRPr lang="en-US"/>
          </a:p>
        </p:txBody>
      </p:sp>
      <p:sp>
        <p:nvSpPr>
          <p:cNvPr id="11" name="نقطۂ نظر 4"/>
          <p:cNvSpPr/>
          <p:nvPr/>
        </p:nvSpPr>
        <p:spPr>
          <a:xfrm>
            <a:off x="420886" y="3235226"/>
            <a:ext cx="3239542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نقطۂ نظر 4</a:t>
            </a:r>
          </a:p>
          <a:p>
            <a:pPr algn="l" rtl="1"/>
            <a:endParaRPr lang="en-US"/>
          </a:p>
        </p:txBody>
      </p:sp>
      <p:sp>
        <p:nvSpPr>
          <p:cNvPr id="12" name="ثبوت"/>
          <p:cNvSpPr/>
          <p:nvPr/>
        </p:nvSpPr>
        <p:spPr>
          <a:xfrm>
            <a:off x="7394972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ثبوت</a:t>
            </a:r>
          </a:p>
          <a:p>
            <a:pPr algn="l" rtl="1"/>
            <a:endParaRPr lang="en-US"/>
          </a:p>
        </p:txBody>
      </p:sp>
      <p:sp>
        <p:nvSpPr>
          <p:cNvPr id="13" name="وہ کہاں متفق تھے؟"/>
          <p:cNvSpPr/>
          <p:nvPr/>
        </p:nvSpPr>
        <p:spPr>
          <a:xfrm>
            <a:off x="5070277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وہ کہاں متفق تھے؟</a:t>
            </a:r>
          </a:p>
          <a:p>
            <a:pPr algn="l" rtl="1"/>
            <a:endParaRPr lang="en-US"/>
          </a:p>
        </p:txBody>
      </p:sp>
      <p:sp>
        <p:nvSpPr>
          <p:cNvPr id="14" name="وہ کہاں مختلف تھے؟"/>
          <p:cNvSpPr/>
          <p:nvPr/>
        </p:nvSpPr>
        <p:spPr>
          <a:xfrm>
            <a:off x="2745581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وہ کہاں مختلف تھے؟</a:t>
            </a:r>
          </a:p>
          <a:p>
            <a:pPr algn="l" rtl="1"/>
            <a:endParaRPr lang="en-US"/>
          </a:p>
        </p:txBody>
      </p:sp>
      <p:sp>
        <p:nvSpPr>
          <p:cNvPr id="15" name="کس کی آواز غائب ہے؟"/>
          <p:cNvSpPr/>
          <p:nvPr/>
        </p:nvSpPr>
        <p:spPr>
          <a:xfrm>
            <a:off x="420886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کس کی آواز غائب ہے؟</a:t>
            </a:r>
          </a:p>
          <a:p>
            <a:pPr algn="l" rtl="1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9–12: تاریخی تحقیق، زمانی ترتیب، علّت، نقطۂ نظر، ذرائع کا جائزہ، دعوے/شواہد، جغرافیائی تشریح اور بصری ابلاغ۔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واقعے کے اثرات کے چار حصے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سیاسی"/>
          <p:cNvSpPr/>
          <p:nvPr/>
        </p:nvSpPr>
        <p:spPr>
          <a:xfrm>
            <a:off x="6278166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سیاسی</a:t>
            </a:r>
          </a:p>
          <a:p>
            <a:pPr algn="l" rtl="1"/>
            <a:endParaRPr lang="en-US"/>
          </a:p>
        </p:txBody>
      </p:sp>
      <p:sp>
        <p:nvSpPr>
          <p:cNvPr id="8" name="واقعہ"/>
          <p:cNvSpPr/>
          <p:nvPr/>
        </p:nvSpPr>
        <p:spPr>
          <a:xfrm>
            <a:off x="3853458" y="1133921"/>
            <a:ext cx="2351633" cy="4174182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</p:txBody>
      </p:sp>
      <p:sp>
        <p:nvSpPr>
          <p:cNvPr id="9" name="اقتصادی"/>
          <p:cNvSpPr/>
          <p:nvPr/>
        </p:nvSpPr>
        <p:spPr>
          <a:xfrm>
            <a:off x="421035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اقتصادی</a:t>
            </a:r>
          </a:p>
          <a:p>
            <a:pPr algn="l" rtl="1"/>
            <a:endParaRPr lang="en-US"/>
          </a:p>
        </p:txBody>
      </p:sp>
      <p:sp>
        <p:nvSpPr>
          <p:cNvPr id="10" name="سماجی / ثقافتی"/>
          <p:cNvSpPr/>
          <p:nvPr/>
        </p:nvSpPr>
        <p:spPr>
          <a:xfrm>
            <a:off x="6278166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سماجی / ثقافتی</a:t>
            </a:r>
          </a:p>
          <a:p>
            <a:pPr algn="l" rtl="1"/>
            <a:endParaRPr lang="en-US"/>
          </a:p>
        </p:txBody>
      </p:sp>
      <p:sp>
        <p:nvSpPr>
          <p:cNvPr id="11" name="جغرافیائی / ماحولیاتی"/>
          <p:cNvSpPr/>
          <p:nvPr/>
        </p:nvSpPr>
        <p:spPr>
          <a:xfrm>
            <a:off x="421035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جغرافیائی / ماحولیاتی</a:t>
            </a:r>
          </a:p>
          <a:p>
            <a:pPr algn="l" rtl="1"/>
            <a:endParaRPr lang="en-US"/>
          </a:p>
        </p:txBody>
      </p:sp>
      <p:sp>
        <p:nvSpPr>
          <p:cNvPr id="12" name="فوری"/>
          <p:cNvSpPr/>
          <p:nvPr/>
        </p:nvSpPr>
        <p:spPr>
          <a:xfrm>
            <a:off x="6626275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فوری</a:t>
            </a:r>
          </a:p>
          <a:p>
            <a:pPr algn="l" rtl="1"/>
            <a:endParaRPr lang="en-US"/>
          </a:p>
        </p:txBody>
      </p:sp>
      <p:sp>
        <p:nvSpPr>
          <p:cNvPr id="13" name="طویل مدتی"/>
          <p:cNvSpPr/>
          <p:nvPr/>
        </p:nvSpPr>
        <p:spPr>
          <a:xfrm>
            <a:off x="3523655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طویل مدتی</a:t>
            </a:r>
          </a:p>
          <a:p>
            <a:pPr algn="l" rtl="1"/>
            <a:endParaRPr lang="en-US"/>
          </a:p>
        </p:txBody>
      </p:sp>
      <p:sp>
        <p:nvSpPr>
          <p:cNvPr id="14" name="کون سا اثر سب سے اہم تھا؟"/>
          <p:cNvSpPr/>
          <p:nvPr/>
        </p:nvSpPr>
        <p:spPr>
          <a:xfrm>
            <a:off x="421035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کون سا اثر سب سے اہم تھا؟</a:t>
            </a:r>
          </a:p>
          <a:p>
            <a:pPr algn="l" rtl="1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9–12: تاریخی تحقیق، زمانی ترتیب، علّت، نقطۂ نظر، ذرائع کا جائزہ، دعوے/شواہد، جغرافیائی تشریح اور بصری ابلاغ۔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تسلسل اور تبدیلی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پہلے"/>
          <p:cNvSpPr/>
          <p:nvPr/>
        </p:nvSpPr>
        <p:spPr>
          <a:xfrm>
            <a:off x="6620173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پہلے</a:t>
            </a:r>
          </a:p>
          <a:p>
            <a:pPr algn="l" rtl="1"/>
            <a:endParaRPr lang="en-US"/>
          </a:p>
        </p:txBody>
      </p:sp>
      <p:sp>
        <p:nvSpPr>
          <p:cNvPr id="8" name="دوران"/>
          <p:cNvSpPr/>
          <p:nvPr/>
        </p:nvSpPr>
        <p:spPr>
          <a:xfrm>
            <a:off x="3520529" y="1133921"/>
            <a:ext cx="3017490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دوران</a:t>
            </a:r>
          </a:p>
          <a:p>
            <a:pPr algn="l" rtl="1"/>
            <a:endParaRPr lang="en-US"/>
          </a:p>
        </p:txBody>
      </p:sp>
      <p:sp>
        <p:nvSpPr>
          <p:cNvPr id="9" name="بعد میں"/>
          <p:cNvSpPr/>
          <p:nvPr/>
        </p:nvSpPr>
        <p:spPr>
          <a:xfrm>
            <a:off x="421035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بعد میں</a:t>
            </a:r>
          </a:p>
          <a:p>
            <a:pPr algn="l" rtl="1"/>
            <a:endParaRPr lang="en-US"/>
          </a:p>
        </p:txBody>
      </p:sp>
      <p:sp>
        <p:nvSpPr>
          <p:cNvPr id="10" name="نمایاں تبدیلی"/>
          <p:cNvSpPr/>
          <p:nvPr/>
        </p:nvSpPr>
        <p:spPr>
          <a:xfrm>
            <a:off x="6620173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نمایاں تبدیلی</a:t>
            </a:r>
          </a:p>
          <a:p>
            <a:pPr algn="l" rtl="1"/>
            <a:endParaRPr lang="en-US"/>
          </a:p>
        </p:txBody>
      </p:sp>
      <p:sp>
        <p:nvSpPr>
          <p:cNvPr id="11" name="تدریجی تبدیلی"/>
          <p:cNvSpPr/>
          <p:nvPr/>
        </p:nvSpPr>
        <p:spPr>
          <a:xfrm>
            <a:off x="3520529" y="3396258"/>
            <a:ext cx="3017490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تدریجی تبدیلی</a:t>
            </a:r>
          </a:p>
          <a:p>
            <a:pPr algn="l" rtl="1"/>
            <a:endParaRPr lang="en-US"/>
          </a:p>
        </p:txBody>
      </p:sp>
      <p:sp>
        <p:nvSpPr>
          <p:cNvPr id="12" name="کیا ویسا ہی رہا؟"/>
          <p:cNvSpPr/>
          <p:nvPr/>
        </p:nvSpPr>
        <p:spPr>
          <a:xfrm>
            <a:off x="421035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کیا ویسا ہی رہا؟</a:t>
            </a:r>
          </a:p>
          <a:p>
            <a:pPr algn="l" rtl="1"/>
            <a:endParaRPr lang="en-US"/>
          </a:p>
        </p:txBody>
      </p:sp>
      <p:sp>
        <p:nvSpPr>
          <p:cNvPr id="13" name="کیوں؟"/>
          <p:cNvSpPr/>
          <p:nvPr/>
        </p:nvSpPr>
        <p:spPr>
          <a:xfrm>
            <a:off x="5075039" y="5440561"/>
            <a:ext cx="4562475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کیوں؟</a:t>
            </a:r>
          </a:p>
          <a:p>
            <a:pPr algn="l" rtl="1"/>
            <a:endParaRPr lang="en-US"/>
          </a:p>
        </p:txBody>
      </p:sp>
      <p:sp>
        <p:nvSpPr>
          <p:cNvPr id="14" name="آپ کا فیصلہ"/>
          <p:cNvSpPr/>
          <p:nvPr/>
        </p:nvSpPr>
        <p:spPr>
          <a:xfrm>
            <a:off x="421035" y="5440561"/>
            <a:ext cx="4562624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آپ کا فیصلہ</a:t>
            </a:r>
          </a:p>
          <a:p>
            <a:pPr algn="l" rtl="1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9–12: تاریخی تحقیق، زمانی ترتیب، علّت، نقطۂ نظر، ذرائع کا جائزہ، دعوے/شواہد، جغرافیائی تشریح اور بصری ابلاغ۔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تاریخی ثبوت کی فائل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تاریخی سوال"/>
          <p:cNvSpPr/>
          <p:nvPr/>
        </p:nvSpPr>
        <p:spPr>
          <a:xfrm>
            <a:off x="420886" y="1133921"/>
            <a:ext cx="9216628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تاریخی سوال</a:t>
            </a:r>
          </a:p>
          <a:p>
            <a:pPr algn="l" rtl="1"/>
            <a:endParaRPr lang="en-US"/>
          </a:p>
        </p:txBody>
      </p:sp>
      <p:sp>
        <p:nvSpPr>
          <p:cNvPr id="8" name="ذریعہ 1"/>
          <p:cNvSpPr/>
          <p:nvPr/>
        </p:nvSpPr>
        <p:spPr>
          <a:xfrm>
            <a:off x="6614071" y="2343150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ذریعہ 1</a:t>
            </a:r>
          </a:p>
          <a:p>
            <a:pPr algn="l" rtl="1"/>
            <a:endParaRPr lang="en-US"/>
          </a:p>
        </p:txBody>
      </p:sp>
      <p:sp>
        <p:nvSpPr>
          <p:cNvPr id="9" name="ماخذ 1 سے شواہد"/>
          <p:cNvSpPr/>
          <p:nvPr/>
        </p:nvSpPr>
        <p:spPr>
          <a:xfrm>
            <a:off x="6614071" y="3331518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ماخذ 1 سے شواہد</a:t>
            </a:r>
          </a:p>
          <a:p>
            <a:pPr algn="l" rtl="1"/>
            <a:endParaRPr lang="en-US"/>
          </a:p>
        </p:txBody>
      </p:sp>
      <p:sp>
        <p:nvSpPr>
          <p:cNvPr id="10" name="قابلِ اعتماد ہونا / حدود"/>
          <p:cNvSpPr/>
          <p:nvPr/>
        </p:nvSpPr>
        <p:spPr>
          <a:xfrm>
            <a:off x="6614071" y="4319885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قابلِ اعتماد ہونا / حدود</a:t>
            </a:r>
          </a:p>
          <a:p>
            <a:pPr algn="l" rtl="1"/>
            <a:endParaRPr lang="en-US"/>
          </a:p>
        </p:txBody>
      </p:sp>
      <p:sp>
        <p:nvSpPr>
          <p:cNvPr id="11" name="ذریعہ 2"/>
          <p:cNvSpPr/>
          <p:nvPr/>
        </p:nvSpPr>
        <p:spPr>
          <a:xfrm>
            <a:off x="3517553" y="2343150"/>
            <a:ext cx="3023443" cy="92794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ذریعہ 2</a:t>
            </a:r>
          </a:p>
          <a:p>
            <a:pPr algn="l" rtl="1"/>
            <a:endParaRPr lang="en-US"/>
          </a:p>
        </p:txBody>
      </p:sp>
      <p:sp>
        <p:nvSpPr>
          <p:cNvPr id="12" name="ماخذ 2 سے شواہد"/>
          <p:cNvSpPr/>
          <p:nvPr/>
        </p:nvSpPr>
        <p:spPr>
          <a:xfrm>
            <a:off x="3517553" y="3344168"/>
            <a:ext cx="3023443" cy="9088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ماخذ 2 سے شواہد</a:t>
            </a:r>
          </a:p>
          <a:p>
            <a:pPr algn="l" rtl="1"/>
            <a:endParaRPr lang="en-US"/>
          </a:p>
        </p:txBody>
      </p:sp>
      <p:sp>
        <p:nvSpPr>
          <p:cNvPr id="13" name="قابلِ اعتماد ہونا / حدود"/>
          <p:cNvSpPr/>
          <p:nvPr/>
        </p:nvSpPr>
        <p:spPr>
          <a:xfrm>
            <a:off x="3517553" y="4326136"/>
            <a:ext cx="3023443" cy="909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قابلِ اعتماد ہونا / حدود</a:t>
            </a:r>
          </a:p>
          <a:p>
            <a:pPr algn="l" rtl="1"/>
            <a:endParaRPr lang="en-US"/>
          </a:p>
        </p:txBody>
      </p:sp>
      <p:sp>
        <p:nvSpPr>
          <p:cNvPr id="14" name="ذریعہ 3"/>
          <p:cNvSpPr/>
          <p:nvPr/>
        </p:nvSpPr>
        <p:spPr>
          <a:xfrm>
            <a:off x="420886" y="2343150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ذریعہ 3</a:t>
            </a:r>
          </a:p>
          <a:p>
            <a:pPr algn="l" rtl="1"/>
            <a:endParaRPr lang="en-US"/>
          </a:p>
        </p:txBody>
      </p:sp>
      <p:sp>
        <p:nvSpPr>
          <p:cNvPr id="15" name="ماخذ 3 سے شواہد"/>
          <p:cNvSpPr/>
          <p:nvPr/>
        </p:nvSpPr>
        <p:spPr>
          <a:xfrm>
            <a:off x="420886" y="3331518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ماخذ 3 سے شواہد</a:t>
            </a:r>
          </a:p>
          <a:p>
            <a:pPr algn="l" rtl="1"/>
            <a:endParaRPr lang="en-US"/>
          </a:p>
        </p:txBody>
      </p:sp>
      <p:sp>
        <p:nvSpPr>
          <p:cNvPr id="16" name="قابلِ اعتماد ہونا / حدود"/>
          <p:cNvSpPr/>
          <p:nvPr/>
        </p:nvSpPr>
        <p:spPr>
          <a:xfrm>
            <a:off x="420886" y="4319885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قابلِ اعتماد ہونا / حدود</a:t>
            </a:r>
          </a:p>
          <a:p>
            <a:pPr algn="l" rtl="1"/>
            <a:endParaRPr lang="en-US"/>
          </a:p>
        </p:txBody>
      </p:sp>
      <p:sp>
        <p:nvSpPr>
          <p:cNvPr id="17" name="متضاد / غائب ثبوت"/>
          <p:cNvSpPr/>
          <p:nvPr/>
        </p:nvSpPr>
        <p:spPr>
          <a:xfrm>
            <a:off x="6614071" y="5308253"/>
            <a:ext cx="3023443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متضاد / غائب ثبوت</a:t>
            </a:r>
          </a:p>
          <a:p>
            <a:pPr algn="l" rtl="1"/>
            <a:endParaRPr lang="en-US"/>
          </a:p>
        </p:txBody>
      </p:sp>
      <p:sp>
        <p:nvSpPr>
          <p:cNvPr id="18" name="ابتدائی نتیجہ"/>
          <p:cNvSpPr/>
          <p:nvPr/>
        </p:nvSpPr>
        <p:spPr>
          <a:xfrm>
            <a:off x="420886" y="5308253"/>
            <a:ext cx="6120110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ابتدائی نتیجہ</a:t>
            </a:r>
          </a:p>
          <a:p>
            <a:pPr algn="l" rtl="1"/>
            <a:endParaRPr lang="en-US"/>
          </a:p>
        </p:txBody>
      </p:sp>
      <p:cxnSp>
        <p:nvCxnSpPr>
          <p:cNvPr id="19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0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9–12: تاریخی تحقیق، زمانی ترتیب، علّت، نقطۂ نظر، ذرائع کا جائزہ، دعوے/شواہد، جغرافیائی تشریح اور بصری ابلاغ۔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دو واقعات کا موازنہ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واقعہ الف"/>
          <p:cNvSpPr/>
          <p:nvPr/>
        </p:nvSpPr>
        <p:spPr>
          <a:xfrm>
            <a:off x="6398121" y="1133921"/>
            <a:ext cx="3239393" cy="9550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واقعہ الف</a:t>
            </a:r>
          </a:p>
          <a:p>
            <a:pPr algn="l" rtl="1"/>
            <a:endParaRPr lang="en-US"/>
          </a:p>
        </p:txBody>
      </p:sp>
      <p:sp>
        <p:nvSpPr>
          <p:cNvPr id="8" name="واقعہ ب"/>
          <p:cNvSpPr/>
          <p:nvPr/>
        </p:nvSpPr>
        <p:spPr>
          <a:xfrm>
            <a:off x="420886" y="1133921"/>
            <a:ext cx="3239542" cy="9550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واقعہ ب</a:t>
            </a:r>
          </a:p>
          <a:p>
            <a:pPr algn="l" rtl="1"/>
            <a:endParaRPr lang="en-US"/>
          </a:p>
        </p:txBody>
      </p:sp>
      <p:sp>
        <p:nvSpPr>
          <p:cNvPr id="9" name="اس کی وجہ کیا تھی؟"/>
          <p:cNvSpPr/>
          <p:nvPr/>
        </p:nvSpPr>
        <p:spPr>
          <a:xfrm>
            <a:off x="6398121" y="2162026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اس کی وجہ کیا تھی؟</a:t>
            </a:r>
          </a:p>
          <a:p>
            <a:pPr algn="l" rtl="1"/>
            <a:endParaRPr lang="en-US"/>
          </a:p>
        </p:txBody>
      </p:sp>
      <p:sp>
        <p:nvSpPr>
          <p:cNvPr id="10" name="اہم لوگ / گروہ"/>
          <p:cNvSpPr/>
          <p:nvPr/>
        </p:nvSpPr>
        <p:spPr>
          <a:xfrm>
            <a:off x="6398121" y="3066752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اہم لوگ / گروہ</a:t>
            </a:r>
          </a:p>
          <a:p>
            <a:pPr algn="l" rtl="1"/>
            <a:endParaRPr lang="en-US"/>
          </a:p>
        </p:txBody>
      </p:sp>
      <p:sp>
        <p:nvSpPr>
          <p:cNvPr id="11" name="مماثلتیں"/>
          <p:cNvSpPr/>
          <p:nvPr/>
        </p:nvSpPr>
        <p:spPr>
          <a:xfrm>
            <a:off x="3733502" y="2162026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مماثلتیں</a:t>
            </a:r>
          </a:p>
          <a:p>
            <a:pPr algn="l" rtl="1"/>
            <a:endParaRPr lang="en-US"/>
          </a:p>
        </p:txBody>
      </p:sp>
      <p:sp>
        <p:nvSpPr>
          <p:cNvPr id="12" name="اختلافات"/>
          <p:cNvSpPr/>
          <p:nvPr/>
        </p:nvSpPr>
        <p:spPr>
          <a:xfrm>
            <a:off x="3733502" y="3066752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اختلافات</a:t>
            </a:r>
          </a:p>
          <a:p>
            <a:pPr algn="l" rtl="1"/>
            <a:endParaRPr lang="en-US"/>
          </a:p>
        </p:txBody>
      </p:sp>
      <p:sp>
        <p:nvSpPr>
          <p:cNvPr id="13" name="اس کی وجہ کیا تھی؟"/>
          <p:cNvSpPr/>
          <p:nvPr/>
        </p:nvSpPr>
        <p:spPr>
          <a:xfrm>
            <a:off x="420886" y="2162026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اس کی وجہ کیا تھی؟</a:t>
            </a:r>
          </a:p>
          <a:p>
            <a:pPr algn="l" rtl="1"/>
            <a:endParaRPr lang="en-US"/>
          </a:p>
        </p:txBody>
      </p:sp>
      <p:sp>
        <p:nvSpPr>
          <p:cNvPr id="14" name="اہم لوگ / گروہ"/>
          <p:cNvSpPr/>
          <p:nvPr/>
        </p:nvSpPr>
        <p:spPr>
          <a:xfrm>
            <a:off x="420886" y="3066752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اہم لوگ / گروہ</a:t>
            </a:r>
          </a:p>
          <a:p>
            <a:pPr algn="l" rtl="1"/>
            <a:endParaRPr lang="en-US"/>
          </a:p>
        </p:txBody>
      </p:sp>
      <p:sp>
        <p:nvSpPr>
          <p:cNvPr id="15" name="نتائج"/>
          <p:cNvSpPr/>
          <p:nvPr/>
        </p:nvSpPr>
        <p:spPr>
          <a:xfrm>
            <a:off x="6398121" y="3971479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نتائج</a:t>
            </a:r>
          </a:p>
          <a:p>
            <a:pPr algn="l" rtl="1"/>
            <a:endParaRPr lang="en-US"/>
          </a:p>
        </p:txBody>
      </p:sp>
      <p:sp>
        <p:nvSpPr>
          <p:cNvPr id="16" name="تاریخی اہمیت"/>
          <p:cNvSpPr/>
          <p:nvPr/>
        </p:nvSpPr>
        <p:spPr>
          <a:xfrm>
            <a:off x="6398121" y="4876205"/>
            <a:ext cx="3239393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تاریخی اہمیت</a:t>
            </a:r>
          </a:p>
          <a:p>
            <a:pPr algn="l" rtl="1"/>
            <a:endParaRPr lang="en-US"/>
          </a:p>
        </p:txBody>
      </p:sp>
      <p:sp>
        <p:nvSpPr>
          <p:cNvPr id="17" name="کون سا موازنہ سب سے اہم ہے؟"/>
          <p:cNvSpPr/>
          <p:nvPr/>
        </p:nvSpPr>
        <p:spPr>
          <a:xfrm>
            <a:off x="3733502" y="3971479"/>
            <a:ext cx="2591544" cy="173652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کون سا موازنہ سب سے اہم ہے؟</a:t>
            </a:r>
          </a:p>
          <a:p>
            <a:pPr algn="l" rtl="1"/>
            <a:endParaRPr lang="en-US"/>
          </a:p>
        </p:txBody>
      </p:sp>
      <p:sp>
        <p:nvSpPr>
          <p:cNvPr id="18" name="نتائج"/>
          <p:cNvSpPr/>
          <p:nvPr/>
        </p:nvSpPr>
        <p:spPr>
          <a:xfrm>
            <a:off x="420886" y="3971479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نتائج</a:t>
            </a:r>
          </a:p>
          <a:p>
            <a:pPr algn="l" rtl="1"/>
            <a:endParaRPr lang="en-US"/>
          </a:p>
        </p:txBody>
      </p:sp>
      <p:sp>
        <p:nvSpPr>
          <p:cNvPr id="19" name="تاریخی اہمیت"/>
          <p:cNvSpPr/>
          <p:nvPr/>
        </p:nvSpPr>
        <p:spPr>
          <a:xfrm>
            <a:off x="420886" y="4876205"/>
            <a:ext cx="3239542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تاریخی اہمیت</a:t>
            </a:r>
          </a:p>
          <a:p>
            <a:pPr algn="l" rtl="1"/>
            <a:endParaRPr lang="en-US"/>
          </a:p>
        </p:txBody>
      </p:sp>
      <p:sp>
        <p:nvSpPr>
          <p:cNvPr id="20" name="ثبوت"/>
          <p:cNvSpPr/>
          <p:nvPr/>
        </p:nvSpPr>
        <p:spPr>
          <a:xfrm>
            <a:off x="420886" y="5781080"/>
            <a:ext cx="9216628" cy="6276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ثبوت</a:t>
            </a:r>
          </a:p>
          <a:p>
            <a:pPr algn="l" rtl="1"/>
            <a:endParaRPr lang="en-US"/>
          </a:p>
        </p:txBody>
      </p:sp>
      <p:cxnSp>
        <p:nvCxnSpPr>
          <p:cNvPr id="21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2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9–12: تاریخی تحقیق، زمانی ترتیب، علّت، نقطۂ نظر، ذرائع کا جائزہ، دعوے/شواہد، جغرافیائی تشریح اور بصری ابلاغ۔</a:t>
            </a:r>
          </a:p>
        </p:txBody>
      </p:sp>
      <p:sp>
        <p:nvSpPr>
          <p:cNvPr id="24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24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تاریخی واقعات کے نقشے</dc:title>
  <dc:creator>Miguel Guhlin / Miguel Guhlin</dc:creator>
  <cp:lastModifiedBy>Miguel Guhlin</cp:lastModifiedBy>
</cp:coreProperties>
</file>