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0058400" cy="7772400"/>
  <p:notesSz cx="7772400" cy="100584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Name: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Date: __________ Class/Period: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Conflict Map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Grade Band: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Topic / Event: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Side / Group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Side / Group A</a:t>
            </a:r>
          </a:p>
          <a:p>
            <a:pPr algn="l"/>
            <a:endParaRPr lang="en-US"/>
          </a:p>
        </p:txBody>
      </p:sp>
      <p:sp>
        <p:nvSpPr>
          <p:cNvPr id="8" name="Goal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Goal</a:t>
            </a:r>
          </a:p>
          <a:p>
            <a:pPr algn="l"/>
            <a:endParaRPr lang="en-US"/>
          </a:p>
        </p:txBody>
      </p:sp>
      <p:sp>
        <p:nvSpPr>
          <p:cNvPr id="9" name="Actions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Actions</a:t>
            </a:r>
          </a:p>
          <a:p>
            <a:pPr algn="l"/>
            <a:endParaRPr lang="en-US"/>
          </a:p>
        </p:txBody>
      </p:sp>
      <p:sp>
        <p:nvSpPr>
          <p:cNvPr id="10" name="Key Conflict / Event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Key Conflict / Event</a:t>
            </a:r>
          </a:p>
        </p:txBody>
      </p:sp>
      <p:sp>
        <p:nvSpPr>
          <p:cNvPr id="11" name="Side / Group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Side / Group B</a:t>
            </a:r>
          </a:p>
          <a:p>
            <a:pPr algn="l"/>
            <a:endParaRPr lang="en-US"/>
          </a:p>
        </p:txBody>
      </p:sp>
      <p:sp>
        <p:nvSpPr>
          <p:cNvPr id="12" name="Goal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Goal</a:t>
            </a:r>
          </a:p>
          <a:p>
            <a:pPr algn="l"/>
            <a:endParaRPr lang="en-US"/>
          </a:p>
        </p:txBody>
      </p:sp>
      <p:sp>
        <p:nvSpPr>
          <p:cNvPr id="13" name="Actions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Actions</a:t>
            </a:r>
          </a:p>
          <a:p>
            <a:pPr algn="l"/>
            <a:endParaRPr lang="en-US"/>
          </a:p>
        </p:txBody>
      </p:sp>
      <p:sp>
        <p:nvSpPr>
          <p:cNvPr id="14" name="Resolution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Resolution</a:t>
            </a:r>
          </a:p>
          <a:p>
            <a:pPr algn="l"/>
            <a:endParaRPr lang="en-US"/>
          </a:p>
        </p:txBody>
      </p:sp>
      <p:sp>
        <p:nvSpPr>
          <p:cNvPr id="15" name="Result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Sources Used: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Skill Focus: Grades 6-8: research, chronology, cause/effect, comparison, historical context, perspective, source evaluation, visual communication.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Nombre: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Fecha: __________ Clase/Período: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Mapa de conflicto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Grados: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53678"/>
            <a:ext cx="2505039" cy="201162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Tema / Evento: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Lado / Grupo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Lado / Grupo A</a:t>
            </a:r>
          </a:p>
          <a:p>
            <a:pPr algn="l"/>
            <a:endParaRPr lang="en-US"/>
          </a:p>
        </p:txBody>
      </p:sp>
      <p:sp>
        <p:nvSpPr>
          <p:cNvPr id="8" name="Meta del lado A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 del lado A</a:t>
            </a:r>
          </a:p>
          <a:p>
            <a:pPr algn="l"/>
            <a:endParaRPr lang="en-US"/>
          </a:p>
        </p:txBody>
      </p:sp>
      <p:sp>
        <p:nvSpPr>
          <p:cNvPr id="9" name="Acción del lado A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del lado A</a:t>
            </a:r>
          </a:p>
          <a:p>
            <a:pPr algn="l"/>
            <a:endParaRPr lang="en-US"/>
          </a:p>
        </p:txBody>
      </p:sp>
      <p:sp>
        <p:nvSpPr>
          <p:cNvPr id="10" name="Evento del conflicto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Evento del conflicto</a:t>
            </a:r>
          </a:p>
        </p:txBody>
      </p:sp>
      <p:sp>
        <p:nvSpPr>
          <p:cNvPr id="11" name="Lado / Grupo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Lado / Grupo B</a:t>
            </a:r>
          </a:p>
          <a:p>
            <a:pPr algn="l"/>
            <a:endParaRPr lang="en-US"/>
          </a:p>
        </p:txBody>
      </p:sp>
      <p:sp>
        <p:nvSpPr>
          <p:cNvPr id="12" name="Meta del lado B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Meta del lado B</a:t>
            </a:r>
          </a:p>
          <a:p>
            <a:pPr algn="l"/>
            <a:endParaRPr lang="en-US"/>
          </a:p>
        </p:txBody>
      </p:sp>
      <p:sp>
        <p:nvSpPr>
          <p:cNvPr id="13" name="Acción del lado B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Acción del lado B</a:t>
            </a:r>
          </a:p>
          <a:p>
            <a:pPr algn="l"/>
            <a:endParaRPr lang="en-US"/>
          </a:p>
        </p:txBody>
      </p:sp>
      <p:sp>
        <p:nvSpPr>
          <p:cNvPr id="14" name="Resolución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Resolución</a:t>
            </a:r>
          </a:p>
          <a:p>
            <a:pPr algn="l"/>
            <a:endParaRPr lang="en-US"/>
          </a:p>
        </p:txBody>
      </p:sp>
      <p:sp>
        <p:nvSpPr>
          <p:cNvPr id="15" name="Resultado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Resultado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Fuentes usadas: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Enfoque de habilidades TEKS: Grados 6–8: investigación, cronología, causa y efecto, comparación, contexto histórico, perspectiva, evaluación de fuentes y comunicación visual.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Họ tên: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Ngày: __________ Lớp/Tiết: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7135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Bản đồ xung đột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66626"/>
            <a:ext cx="4213735" cy="1882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Khối lớp: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710803"/>
            <a:ext cx="2505039" cy="344037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Chủ đề / Sự kiện: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Bên / Nhóm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Bên / Nhóm A</a:t>
            </a:r>
          </a:p>
          <a:p>
            <a:pPr algn="l"/>
            <a:endParaRPr lang="en-US"/>
          </a:p>
        </p:txBody>
      </p:sp>
      <p:sp>
        <p:nvSpPr>
          <p:cNvPr id="8" name="Mục tiêu của bên A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bên A</a:t>
            </a:r>
          </a:p>
          <a:p>
            <a:pPr algn="l"/>
            <a:endParaRPr lang="en-US"/>
          </a:p>
        </p:txBody>
      </p:sp>
      <p:sp>
        <p:nvSpPr>
          <p:cNvPr id="9" name="Hành động của bên A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của bên A</a:t>
            </a:r>
          </a:p>
          <a:p>
            <a:pPr algn="l"/>
            <a:endParaRPr lang="en-US"/>
          </a:p>
        </p:txBody>
      </p:sp>
      <p:sp>
        <p:nvSpPr>
          <p:cNvPr id="10" name="Sự kiện xung đột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Sự kiện xung đột</a:t>
            </a:r>
          </a:p>
        </p:txBody>
      </p:sp>
      <p:sp>
        <p:nvSpPr>
          <p:cNvPr id="11" name="Bên / Nhóm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Bên / Nhóm B</a:t>
            </a:r>
          </a:p>
          <a:p>
            <a:pPr algn="l"/>
            <a:endParaRPr lang="en-US"/>
          </a:p>
        </p:txBody>
      </p:sp>
      <p:sp>
        <p:nvSpPr>
          <p:cNvPr id="12" name="Mục tiêu của bên B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Mục tiêu của bên B</a:t>
            </a:r>
          </a:p>
          <a:p>
            <a:pPr algn="l"/>
            <a:endParaRPr lang="en-US"/>
          </a:p>
        </p:txBody>
      </p:sp>
      <p:sp>
        <p:nvSpPr>
          <p:cNvPr id="13" name="Hành động của bên B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Hành động của bên B</a:t>
            </a:r>
          </a:p>
          <a:p>
            <a:pPr algn="l"/>
            <a:endParaRPr lang="en-US"/>
          </a:p>
        </p:txBody>
      </p:sp>
      <p:sp>
        <p:nvSpPr>
          <p:cNvPr id="14" name="Giải quyết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Giải quyết</a:t>
            </a:r>
          </a:p>
          <a:p>
            <a:pPr algn="l"/>
            <a:endParaRPr lang="en-US"/>
          </a:p>
        </p:txBody>
      </p:sp>
      <p:sp>
        <p:nvSpPr>
          <p:cNvPr id="15" name="Kết quả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Kết quả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24688"/>
            <a:ext cx="2204704" cy="3977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Nguồn đã dùng: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Trọng tâm kỹ năng TEKS: Khối 6–8: nghiên cứu, trình tự thời gian, nguyên nhân/kết quả, so sánh, bối cảnh lịch sử, góc nhìn, đánh giá nguồn tư liệu và trình bày trực quan.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姓名: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日期: __________ 班级/课时: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427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冲突图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38051"/>
            <a:ext cx="4213735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年级段: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28526"/>
            <a:ext cx="2505039" cy="2263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主题 / 事件: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A 方 / 群体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 / 群体</a:t>
            </a:r>
          </a:p>
          <a:p>
            <a:pPr algn="l"/>
            <a:endParaRPr lang="en-US"/>
          </a:p>
        </p:txBody>
      </p:sp>
      <p:sp>
        <p:nvSpPr>
          <p:cNvPr id="8" name="A 方的目标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方的目标</a:t>
            </a:r>
          </a:p>
          <a:p>
            <a:pPr algn="l"/>
            <a:endParaRPr lang="en-US"/>
          </a:p>
        </p:txBody>
      </p:sp>
      <p:sp>
        <p:nvSpPr>
          <p:cNvPr id="9" name="A 方的行动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A 方的行动</a:t>
            </a:r>
          </a:p>
          <a:p>
            <a:pPr algn="l"/>
            <a:endParaRPr lang="en-US"/>
          </a:p>
        </p:txBody>
      </p:sp>
      <p:sp>
        <p:nvSpPr>
          <p:cNvPr id="10" name="冲突事件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冲突事件</a:t>
            </a:r>
          </a:p>
        </p:txBody>
      </p:sp>
      <p:sp>
        <p:nvSpPr>
          <p:cNvPr id="11" name="B 方 / 群体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 / 群体</a:t>
            </a:r>
          </a:p>
          <a:p>
            <a:pPr algn="l"/>
            <a:endParaRPr lang="en-US"/>
          </a:p>
        </p:txBody>
      </p:sp>
      <p:sp>
        <p:nvSpPr>
          <p:cNvPr id="12" name="B 方的目标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方的目标</a:t>
            </a:r>
          </a:p>
          <a:p>
            <a:pPr algn="l"/>
            <a:endParaRPr lang="en-US"/>
          </a:p>
        </p:txBody>
      </p:sp>
      <p:sp>
        <p:nvSpPr>
          <p:cNvPr id="13" name="B 方的行动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B 方的行动</a:t>
            </a:r>
          </a:p>
          <a:p>
            <a:pPr algn="l"/>
            <a:endParaRPr lang="en-US"/>
          </a:p>
        </p:txBody>
      </p:sp>
      <p:sp>
        <p:nvSpPr>
          <p:cNvPr id="14" name="解决方式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解决方式</a:t>
            </a:r>
          </a:p>
          <a:p>
            <a:pPr algn="l"/>
            <a:endParaRPr lang="en-US"/>
          </a:p>
        </p:txBody>
      </p:sp>
      <p:sp>
        <p:nvSpPr>
          <p:cNvPr id="15" name="结果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结果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使用的资料: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技能重点: 6–8年级：研究、时间顺序、因果关系、比较、历史背景、观点、资料来源评估、视觉表达。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420886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नाम: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तारीख: __________ कक्षा/पीरियड: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2845594" y="552301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संघर्ष मानचित्र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2845594" y="847576"/>
            <a:ext cx="4213735" cy="2072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ग्रेड स्तर: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7169051" y="838051"/>
            <a:ext cx="2505039" cy="2167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विषय / घटना: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पक्ष / समूह A"/>
          <p:cNvSpPr/>
          <p:nvPr/>
        </p:nvSpPr>
        <p:spPr>
          <a:xfrm>
            <a:off x="420886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/ समूह A</a:t>
            </a:r>
          </a:p>
          <a:p>
            <a:pPr algn="l"/>
            <a:endParaRPr lang="en-US"/>
          </a:p>
        </p:txBody>
      </p:sp>
      <p:sp>
        <p:nvSpPr>
          <p:cNvPr id="8" name="पक्ष A का लक्ष्य"/>
          <p:cNvSpPr/>
          <p:nvPr/>
        </p:nvSpPr>
        <p:spPr>
          <a:xfrm>
            <a:off x="420886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A का लक्ष्य</a:t>
            </a:r>
          </a:p>
          <a:p>
            <a:pPr algn="l"/>
            <a:endParaRPr lang="en-US"/>
          </a:p>
        </p:txBody>
      </p:sp>
      <p:sp>
        <p:nvSpPr>
          <p:cNvPr id="9" name="पक्ष A की कार्रवाई"/>
          <p:cNvSpPr/>
          <p:nvPr/>
        </p:nvSpPr>
        <p:spPr>
          <a:xfrm>
            <a:off x="420886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A की कार्रवाई</a:t>
            </a:r>
          </a:p>
          <a:p>
            <a:pPr algn="l"/>
            <a:endParaRPr lang="en-US"/>
          </a:p>
        </p:txBody>
      </p:sp>
      <p:sp>
        <p:nvSpPr>
          <p:cNvPr id="10" name="संघर्ष की घटना"/>
          <p:cNvSpPr/>
          <p:nvPr/>
        </p:nvSpPr>
        <p:spPr>
          <a:xfrm>
            <a:off x="3797201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संघर्ष की घटना</a:t>
            </a:r>
          </a:p>
        </p:txBody>
      </p:sp>
      <p:sp>
        <p:nvSpPr>
          <p:cNvPr id="11" name="पक्ष / समूह B"/>
          <p:cNvSpPr/>
          <p:nvPr/>
        </p:nvSpPr>
        <p:spPr>
          <a:xfrm>
            <a:off x="6352431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/ समूह B</a:t>
            </a:r>
          </a:p>
          <a:p>
            <a:pPr algn="l"/>
            <a:endParaRPr lang="en-US"/>
          </a:p>
        </p:txBody>
      </p:sp>
      <p:sp>
        <p:nvSpPr>
          <p:cNvPr id="12" name="पक्ष B का लक्ष्य"/>
          <p:cNvSpPr/>
          <p:nvPr/>
        </p:nvSpPr>
        <p:spPr>
          <a:xfrm>
            <a:off x="6352431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B का लक्ष्य</a:t>
            </a:r>
          </a:p>
          <a:p>
            <a:pPr algn="l"/>
            <a:endParaRPr lang="en-US"/>
          </a:p>
        </p:txBody>
      </p:sp>
      <p:sp>
        <p:nvSpPr>
          <p:cNvPr id="13" name="पक्ष B की कार्रवाई"/>
          <p:cNvSpPr/>
          <p:nvPr/>
        </p:nvSpPr>
        <p:spPr>
          <a:xfrm>
            <a:off x="6352431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पक्ष B की कार्रवाई</a:t>
            </a:r>
          </a:p>
          <a:p>
            <a:pPr algn="l"/>
            <a:endParaRPr lang="en-US"/>
          </a:p>
        </p:txBody>
      </p:sp>
      <p:sp>
        <p:nvSpPr>
          <p:cNvPr id="14" name="समाधान"/>
          <p:cNvSpPr/>
          <p:nvPr/>
        </p:nvSpPr>
        <p:spPr>
          <a:xfrm>
            <a:off x="420886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समाधान</a:t>
            </a:r>
          </a:p>
          <a:p>
            <a:pPr algn="l"/>
            <a:endParaRPr lang="en-US"/>
          </a:p>
        </p:txBody>
      </p:sp>
      <p:sp>
        <p:nvSpPr>
          <p:cNvPr id="15" name="परिणाम"/>
          <p:cNvSpPr/>
          <p:nvPr/>
        </p:nvSpPr>
        <p:spPr>
          <a:xfrm>
            <a:off x="5074741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परिणाम</a:t>
            </a:r>
          </a:p>
          <a:p>
            <a:pPr algn="l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420886" y="7015162"/>
            <a:ext cx="2204704" cy="41681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उपयोग किए गए स्रोत: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2680395" y="7074247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कौशल फोकस: कक्षा 6–8: शोध, कालक्रम, कारण/प्रभाव, तुलना, ऐतिहासिक संदर्भ, दृष्टिकोण, स्रोत मूल्यांकन और दृश्य संचार।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7017693" y="7144345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الاسم: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التاريخ: __________ الصف/الحصة: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خريطة الصراع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المرحلة: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الموضوع / الحدث: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الطرف / المجموعة أ"/>
          <p:cNvSpPr/>
          <p:nvPr/>
        </p:nvSpPr>
        <p:spPr>
          <a:xfrm>
            <a:off x="6352580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الطرف / المجموعة أ</a:t>
            </a:r>
          </a:p>
          <a:p>
            <a:pPr algn="l" rtl="1"/>
            <a:endParaRPr lang="en-US"/>
          </a:p>
        </p:txBody>
      </p:sp>
      <p:sp>
        <p:nvSpPr>
          <p:cNvPr id="8" name="هدف الطرف أ"/>
          <p:cNvSpPr/>
          <p:nvPr/>
        </p:nvSpPr>
        <p:spPr>
          <a:xfrm>
            <a:off x="6352580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هدف الطرف أ</a:t>
            </a:r>
          </a:p>
          <a:p>
            <a:pPr algn="l" rtl="1"/>
            <a:endParaRPr lang="en-US"/>
          </a:p>
        </p:txBody>
      </p:sp>
      <p:sp>
        <p:nvSpPr>
          <p:cNvPr id="9" name="إجراء الطرف أ"/>
          <p:cNvSpPr/>
          <p:nvPr/>
        </p:nvSpPr>
        <p:spPr>
          <a:xfrm>
            <a:off x="6352580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إجراء الطرف أ</a:t>
            </a:r>
          </a:p>
          <a:p>
            <a:pPr algn="l" rtl="1"/>
            <a:endParaRPr lang="en-US"/>
          </a:p>
        </p:txBody>
      </p:sp>
      <p:sp>
        <p:nvSpPr>
          <p:cNvPr id="10" name="حدث الصراع"/>
          <p:cNvSpPr/>
          <p:nvPr/>
        </p:nvSpPr>
        <p:spPr>
          <a:xfrm>
            <a:off x="3797350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حدث الصراع</a:t>
            </a:r>
          </a:p>
        </p:txBody>
      </p:sp>
      <p:sp>
        <p:nvSpPr>
          <p:cNvPr id="11" name="الطرف / المجموعة ب"/>
          <p:cNvSpPr/>
          <p:nvPr/>
        </p:nvSpPr>
        <p:spPr>
          <a:xfrm>
            <a:off x="421035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الطرف / المجموعة ب</a:t>
            </a:r>
          </a:p>
          <a:p>
            <a:pPr algn="l" rtl="1"/>
            <a:endParaRPr lang="en-US"/>
          </a:p>
        </p:txBody>
      </p:sp>
      <p:sp>
        <p:nvSpPr>
          <p:cNvPr id="12" name="هدف الطرف ب"/>
          <p:cNvSpPr/>
          <p:nvPr/>
        </p:nvSpPr>
        <p:spPr>
          <a:xfrm>
            <a:off x="421035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هدف الطرف ب</a:t>
            </a:r>
          </a:p>
          <a:p>
            <a:pPr algn="l" rtl="1"/>
            <a:endParaRPr lang="en-US"/>
          </a:p>
        </p:txBody>
      </p:sp>
      <p:sp>
        <p:nvSpPr>
          <p:cNvPr id="13" name="إجراء الطرف ب"/>
          <p:cNvSpPr/>
          <p:nvPr/>
        </p:nvSpPr>
        <p:spPr>
          <a:xfrm>
            <a:off x="421035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إجراء الطرف ب</a:t>
            </a:r>
          </a:p>
          <a:p>
            <a:pPr algn="l" rtl="1"/>
            <a:endParaRPr lang="en-US"/>
          </a:p>
        </p:txBody>
      </p:sp>
      <p:sp>
        <p:nvSpPr>
          <p:cNvPr id="14" name="التسوية / الحل"/>
          <p:cNvSpPr/>
          <p:nvPr/>
        </p:nvSpPr>
        <p:spPr>
          <a:xfrm>
            <a:off x="5075039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التسوية / الحل</a:t>
            </a:r>
          </a:p>
          <a:p>
            <a:pPr algn="l" rtl="1"/>
            <a:endParaRPr lang="en-US"/>
          </a:p>
        </p:txBody>
      </p:sp>
      <p:sp>
        <p:nvSpPr>
          <p:cNvPr id="15" name="النتيجة"/>
          <p:cNvSpPr/>
          <p:nvPr/>
        </p:nvSpPr>
        <p:spPr>
          <a:xfrm>
            <a:off x="421035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النتيجة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6168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المصادر المستخدمة: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6339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تركيز مهارات TEKS: الصفوف 6–8: البحث، التسلسل الزمني، السبب والنتيجة، المقارنة، السياق التاريخي، المنظور، تقييم المصادر، والتواصل البصري.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23349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abel"/>
          <p:cNvSpPr txBox="1"/>
          <p:nvPr/>
        </p:nvSpPr>
        <p:spPr>
          <a:xfrm>
            <a:off x="7359104" y="402580"/>
            <a:ext cx="2314986" cy="652260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نام: ___________________</a:t>
            </a:r>
            <a:br/>
            <a:r>
              <a:rPr lang="en-US" sz="950" b="0" dirty="0">
                <a:solidFill>
                  <a:srgbClr val="111111"/>
                </a:solidFill>
                <a:latin typeface="Arial"/>
                <a:cs typeface="Arial"/>
              </a:rPr>
              <a:t>تاریخ: __________ کلاس/پیریڈ: __________</a:t>
            </a:r>
          </a:p>
        </p:txBody>
      </p:sp>
      <p:sp>
        <p:nvSpPr>
          <p:cNvPr id="3" name="label"/>
          <p:cNvSpPr txBox="1"/>
          <p:nvPr/>
        </p:nvSpPr>
        <p:spPr>
          <a:xfrm>
            <a:off x="3035647" y="466576"/>
            <a:ext cx="4213735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2000" b="1" dirty="0">
                <a:solidFill>
                  <a:srgbClr val="111111"/>
                </a:solidFill>
                <a:latin typeface="Arial"/>
                <a:cs typeface="Arial"/>
              </a:rPr>
              <a:t>تنازع کا نقشہ</a:t>
            </a:r>
          </a:p>
        </p:txBody>
      </p:sp>
      <p:sp>
        <p:nvSpPr>
          <p:cNvPr id="4" name="label"/>
          <p:cNvSpPr txBox="1"/>
          <p:nvPr/>
        </p:nvSpPr>
        <p:spPr>
          <a:xfrm>
            <a:off x="3035647" y="761851"/>
            <a:ext cx="4213735" cy="29298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ctr" rtl="1"/>
            <a:r>
              <a:rPr lang="en-US" sz="900" b="0" dirty="0">
                <a:solidFill>
                  <a:srgbClr val="111111"/>
                </a:solidFill>
                <a:latin typeface="Arial"/>
                <a:cs typeface="Arial"/>
              </a:rPr>
              <a:t>جماعتی سطح: 6-8</a:t>
            </a:r>
          </a:p>
        </p:txBody>
      </p:sp>
      <p:sp>
        <p:nvSpPr>
          <p:cNvPr id="5" name="label"/>
          <p:cNvSpPr txBox="1"/>
          <p:nvPr/>
        </p:nvSpPr>
        <p:spPr>
          <a:xfrm>
            <a:off x="420886" y="733276"/>
            <a:ext cx="2505039" cy="32156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1000" b="0" dirty="0">
                <a:solidFill>
                  <a:srgbClr val="111111"/>
                </a:solidFill>
                <a:latin typeface="Arial"/>
                <a:cs typeface="Arial"/>
              </a:rPr>
              <a:t>موضوع / واقعہ: _____________________</a:t>
            </a:r>
          </a:p>
        </p:txBody>
      </p:sp>
      <p:cxnSp>
        <p:nvCxnSpPr>
          <p:cNvPr id="6" name="rule"/>
          <p:cNvCxnSpPr/>
          <p:nvPr/>
        </p:nvCxnSpPr>
        <p:spPr>
          <a:xfrm>
            <a:off x="420886" y="1042541"/>
            <a:ext cx="9216628" cy="0"/>
          </a:xfrm>
          <a:prstGeom prst="line">
            <a:avLst/>
          </a:prstGeom>
          <a:ln w="28575">
            <a:solidFill>
              <a:srgbClr val="111111"/>
            </a:solidFill>
          </a:ln>
        </p:spPr>
      </p:cxnSp>
      <p:sp>
        <p:nvSpPr>
          <p:cNvPr id="7" name="فریق / گروہ A"/>
          <p:cNvSpPr/>
          <p:nvPr/>
        </p:nvSpPr>
        <p:spPr>
          <a:xfrm>
            <a:off x="6352580" y="1133921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/ گروہ A</a:t>
            </a:r>
          </a:p>
          <a:p>
            <a:pPr algn="l" rtl="1"/>
            <a:endParaRPr lang="en-US"/>
          </a:p>
        </p:txBody>
      </p:sp>
      <p:sp>
        <p:nvSpPr>
          <p:cNvPr id="8" name="فریق الف کا مقصد"/>
          <p:cNvSpPr/>
          <p:nvPr/>
        </p:nvSpPr>
        <p:spPr>
          <a:xfrm>
            <a:off x="6352580" y="2344043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الف کا مقصد</a:t>
            </a:r>
          </a:p>
          <a:p>
            <a:pPr algn="l" rtl="1"/>
            <a:endParaRPr lang="en-US"/>
          </a:p>
        </p:txBody>
      </p:sp>
      <p:sp>
        <p:nvSpPr>
          <p:cNvPr id="9" name="فریق الف کی کارروائی"/>
          <p:cNvSpPr/>
          <p:nvPr/>
        </p:nvSpPr>
        <p:spPr>
          <a:xfrm>
            <a:off x="6352580" y="3554164"/>
            <a:ext cx="3284934" cy="11370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الف کی کارروائی</a:t>
            </a:r>
          </a:p>
          <a:p>
            <a:pPr algn="l" rtl="1"/>
            <a:endParaRPr lang="en-US"/>
          </a:p>
        </p:txBody>
      </p:sp>
      <p:sp>
        <p:nvSpPr>
          <p:cNvPr id="10" name="تنازع کا واقعہ"/>
          <p:cNvSpPr/>
          <p:nvPr/>
        </p:nvSpPr>
        <p:spPr>
          <a:xfrm>
            <a:off x="3797350" y="1133921"/>
            <a:ext cx="2463850" cy="3557290"/>
          </a:xfrm>
          <a:prstGeom prst="ellipse">
            <a:avLst>
              <a:gd name="adj" fmla="val 14000"/>
            </a:avLst>
          </a:prstGeom>
          <a:noFill/>
          <a:ln w="38100" cap="flat">
            <a:solidFill>
              <a:srgbClr val="111111"/>
            </a:solidFill>
          </a:ln>
        </p:spPr>
        <p:txBody>
          <a:bodyPr lIns="45720" tIns="27432" rIns="45720" bIns="27432" anchor="ctr" wrap="square"/>
          <a:lstStyle/>
          <a:p>
            <a:pPr algn="ctr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تنازع کا واقعہ</a:t>
            </a:r>
          </a:p>
        </p:txBody>
      </p:sp>
      <p:sp>
        <p:nvSpPr>
          <p:cNvPr id="11" name="فریق / گروہ B"/>
          <p:cNvSpPr/>
          <p:nvPr/>
        </p:nvSpPr>
        <p:spPr>
          <a:xfrm>
            <a:off x="421035" y="1133921"/>
            <a:ext cx="3284934" cy="1149697"/>
          </a:xfrm>
          <a:prstGeom prst="roundRect">
            <a:avLst>
              <a:gd name="adj" fmla="val 14000"/>
            </a:avLst>
          </a:prstGeom>
          <a:noFill/>
          <a:ln w="3429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/ گروہ B</a:t>
            </a:r>
          </a:p>
          <a:p>
            <a:pPr algn="l" rtl="1"/>
            <a:endParaRPr lang="en-US"/>
          </a:p>
        </p:txBody>
      </p:sp>
      <p:sp>
        <p:nvSpPr>
          <p:cNvPr id="12" name="فریق ب کا مقصد"/>
          <p:cNvSpPr/>
          <p:nvPr/>
        </p:nvSpPr>
        <p:spPr>
          <a:xfrm>
            <a:off x="421035" y="2356693"/>
            <a:ext cx="3284934" cy="1130647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ب کا مقصد</a:t>
            </a:r>
          </a:p>
          <a:p>
            <a:pPr algn="l" rtl="1"/>
            <a:endParaRPr lang="en-US"/>
          </a:p>
        </p:txBody>
      </p:sp>
      <p:sp>
        <p:nvSpPr>
          <p:cNvPr id="13" name="فریق ب کی کارروائی"/>
          <p:cNvSpPr/>
          <p:nvPr/>
        </p:nvSpPr>
        <p:spPr>
          <a:xfrm>
            <a:off x="421035" y="3560415"/>
            <a:ext cx="3284934" cy="1130796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فریق ب کی کارروائی</a:t>
            </a:r>
          </a:p>
          <a:p>
            <a:pPr algn="l" rtl="1"/>
            <a:endParaRPr lang="en-US"/>
          </a:p>
        </p:txBody>
      </p:sp>
      <p:sp>
        <p:nvSpPr>
          <p:cNvPr id="14" name="حل"/>
          <p:cNvSpPr/>
          <p:nvPr/>
        </p:nvSpPr>
        <p:spPr>
          <a:xfrm>
            <a:off x="5075039" y="4782592"/>
            <a:ext cx="4562475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حل</a:t>
            </a:r>
          </a:p>
          <a:p>
            <a:pPr algn="l" rtl="1"/>
            <a:endParaRPr lang="en-US"/>
          </a:p>
        </p:txBody>
      </p:sp>
      <p:sp>
        <p:nvSpPr>
          <p:cNvPr id="15" name="نتیجہ"/>
          <p:cNvSpPr/>
          <p:nvPr/>
        </p:nvSpPr>
        <p:spPr>
          <a:xfrm>
            <a:off x="421035" y="4782592"/>
            <a:ext cx="4562624" cy="2074962"/>
          </a:xfrm>
          <a:prstGeom prst="roundRect">
            <a:avLst>
              <a:gd name="adj" fmla="val 14000"/>
            </a:avLst>
          </a:prstGeom>
          <a:noFill/>
          <a:ln w="19050" cap="flat">
            <a:solidFill>
              <a:srgbClr val="111111"/>
            </a:solidFill>
            <a:prstDash val="dash"/>
          </a:ln>
        </p:spPr>
        <p:txBody>
          <a:bodyPr lIns="45720" tIns="27432" rIns="45720" bIns="27432" anchor="t" wrap="square"/>
          <a:lstStyle/>
          <a:p>
            <a:pPr algn="l" rtl="1"/>
            <a:r>
              <a:rPr lang="en-US" sz="1050" b="1" dirty="0">
                <a:solidFill>
                  <a:srgbClr val="111111"/>
                </a:solidFill>
                <a:latin typeface="Arial"/>
                <a:cs typeface="Arial"/>
              </a:rPr>
              <a:t>نتیجہ</a:t>
            </a:r>
          </a:p>
          <a:p>
            <a:pPr algn="l" rtl="1"/>
            <a:endParaRPr lang="en-US"/>
          </a:p>
        </p:txBody>
      </p:sp>
      <p:cxnSp>
        <p:nvCxnSpPr>
          <p:cNvPr id="16" name="rule"/>
          <p:cNvCxnSpPr/>
          <p:nvPr/>
        </p:nvCxnSpPr>
        <p:spPr>
          <a:xfrm>
            <a:off x="420886" y="6949083"/>
            <a:ext cx="9216628" cy="0"/>
          </a:xfrm>
          <a:prstGeom prst="line">
            <a:avLst/>
          </a:prstGeom>
          <a:ln w="9525">
            <a:solidFill>
              <a:srgbClr val="111111"/>
            </a:solidFill>
          </a:ln>
        </p:spPr>
      </p:cxnSp>
      <p:sp>
        <p:nvSpPr>
          <p:cNvPr id="17" name="label"/>
          <p:cNvSpPr txBox="1"/>
          <p:nvPr/>
        </p:nvSpPr>
        <p:spPr>
          <a:xfrm>
            <a:off x="7469386" y="7004298"/>
            <a:ext cx="2204704" cy="502539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r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استعمال شدہ ذرائع: 1.________________ 2.________________ 3.________________</a:t>
            </a:r>
          </a:p>
        </p:txBody>
      </p:sp>
      <p:sp>
        <p:nvSpPr>
          <p:cNvPr id="18" name="label"/>
          <p:cNvSpPr txBox="1"/>
          <p:nvPr/>
        </p:nvSpPr>
        <p:spPr>
          <a:xfrm>
            <a:off x="3132088" y="7106245"/>
            <a:ext cx="4282494" cy="298644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800" b="0" dirty="0">
                <a:solidFill>
                  <a:srgbClr val="111111"/>
                </a:solidFill>
                <a:latin typeface="Arial"/>
                <a:cs typeface="Arial"/>
              </a:rPr>
              <a:t>TEKS مہارت کا مرکز: جماعت 6–8: تحقیق، زمانی ترتیب، سبب و اثر، موازنہ، تاریخی پس منظر، نقطۂ نظر، ذرائع کا جائزہ اور بصری ابلاغ۔</a:t>
            </a:r>
          </a:p>
        </p:txBody>
      </p:sp>
      <p:sp>
        <p:nvSpPr>
          <p:cNvPr id="19" name="label"/>
          <p:cNvSpPr txBox="1"/>
          <p:nvPr/>
        </p:nvSpPr>
        <p:spPr>
          <a:xfrm>
            <a:off x="420886" y="7176343"/>
            <a:ext cx="2656397" cy="158448"/>
          </a:xfrm>
          <a:prstGeom prst="rect">
            <a:avLst/>
          </a:prstGeom>
          <a:noFill/>
          <a:ln>
            <a:noFill/>
          </a:ln>
        </p:spPr>
        <p:txBody>
          <a:bodyPr lIns="18288" tIns="9144" rIns="18288" bIns="9144" anchor="t" wrap="square"/>
          <a:lstStyle/>
          <a:p>
            <a:pPr algn="l" rtl="1"/>
            <a:r>
              <a:rPr lang="en-US" sz="710" b="0" dirty="0">
                <a:solidFill>
                  <a:srgbClr val="111111"/>
                </a:solidFill>
                <a:latin typeface="Arial"/>
                <a:cs typeface="Arial"/>
              </a:rPr>
              <a:t>CC BY-NC 4.0 · Miguel Guhlin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23266"/>
      </a:dk2>
      <a:lt2>
        <a:srgbClr val="F4F8FC"/>
      </a:lt2>
      <a:accent1>
        <a:srgbClr val="054C8C"/>
      </a:accent1>
      <a:accent2>
        <a:srgbClr val="FBD239"/>
      </a:accent2>
      <a:accent3>
        <a:srgbClr val="238A8D"/>
      </a:accent3>
      <a:accent4>
        <a:srgbClr val="6D5AA8"/>
      </a:accent4>
      <a:accent5>
        <a:srgbClr val="D97A28"/>
      </a:accent5>
      <a:accent6>
        <a:srgbClr val="5A8F52"/>
      </a:accent6>
      <a:hlink>
        <a:srgbClr val="054C8C"/>
      </a:hlink>
      <a:folHlink>
        <a:srgbClr val="6D5AA8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History Event Maps</Application>
  <Slides>7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Conflict Map — 7 languages</dc:title>
  <dc:creator>Miguel Guhlin / Miguel Guhlin</dc:creator>
  <cp:lastModifiedBy>Miguel Guhlin</cp:lastModifiedBy>
</cp:coreProperties>
</file>