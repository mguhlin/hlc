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0058400" cy="7772400"/>
  <p:notesSz cx="7772400" cy="100584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Name: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Date: __________ Class/Period: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Event Chain Reaction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Grade Band: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Topic / Event: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Action 1"/>
          <p:cNvSpPr/>
          <p:nvPr/>
        </p:nvSpPr>
        <p:spPr>
          <a:xfrm>
            <a:off x="420886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Action 1</a:t>
            </a:r>
          </a:p>
          <a:p>
            <a:pPr algn="l"/>
            <a:endParaRPr lang="en-US"/>
          </a:p>
        </p:txBody>
      </p:sp>
      <p:sp>
        <p:nvSpPr>
          <p:cNvPr id="8" name="Reaction 1"/>
          <p:cNvSpPr/>
          <p:nvPr/>
        </p:nvSpPr>
        <p:spPr>
          <a:xfrm>
            <a:off x="2017812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Reaction 1</a:t>
            </a:r>
          </a:p>
          <a:p>
            <a:pPr algn="l"/>
            <a:endParaRPr lang="en-US"/>
          </a:p>
        </p:txBody>
      </p:sp>
      <p:sp>
        <p:nvSpPr>
          <p:cNvPr id="9" name="Action 2"/>
          <p:cNvSpPr/>
          <p:nvPr/>
        </p:nvSpPr>
        <p:spPr>
          <a:xfrm>
            <a:off x="3614738" y="1133921"/>
            <a:ext cx="1231999" cy="3218408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Action 2</a:t>
            </a:r>
          </a:p>
          <a:p>
            <a:pPr algn="l"/>
            <a:endParaRPr lang="en-US"/>
          </a:p>
        </p:txBody>
      </p:sp>
      <p:sp>
        <p:nvSpPr>
          <p:cNvPr id="10" name="Reaction 2"/>
          <p:cNvSpPr/>
          <p:nvPr/>
        </p:nvSpPr>
        <p:spPr>
          <a:xfrm>
            <a:off x="5230713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Reaction 2</a:t>
            </a:r>
          </a:p>
          <a:p>
            <a:pPr algn="l"/>
            <a:endParaRPr lang="en-US"/>
          </a:p>
        </p:txBody>
      </p:sp>
      <p:sp>
        <p:nvSpPr>
          <p:cNvPr id="11" name="Crisis / Turning Point"/>
          <p:cNvSpPr/>
          <p:nvPr/>
        </p:nvSpPr>
        <p:spPr>
          <a:xfrm>
            <a:off x="6827639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Crisis / Turning Point</a:t>
            </a:r>
          </a:p>
          <a:p>
            <a:pPr algn="l"/>
            <a:endParaRPr lang="en-US"/>
          </a:p>
        </p:txBody>
      </p:sp>
      <p:sp>
        <p:nvSpPr>
          <p:cNvPr id="12" name="Result"/>
          <p:cNvSpPr/>
          <p:nvPr/>
        </p:nvSpPr>
        <p:spPr>
          <a:xfrm>
            <a:off x="8424565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Result</a:t>
            </a:r>
          </a:p>
          <a:p>
            <a:pPr algn="l"/>
            <a:endParaRPr lang="en-US"/>
          </a:p>
        </p:txBody>
      </p:sp>
      <p:sp>
        <p:nvSpPr>
          <p:cNvPr id="13" name="Which link mattered most?"/>
          <p:cNvSpPr/>
          <p:nvPr/>
        </p:nvSpPr>
        <p:spPr>
          <a:xfrm>
            <a:off x="420886" y="4443710"/>
            <a:ext cx="4562624" cy="241399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Which link mattered most?</a:t>
            </a:r>
          </a:p>
          <a:p>
            <a:pPr algn="l"/>
            <a:endParaRPr lang="en-US"/>
          </a:p>
        </p:txBody>
      </p:sp>
      <p:sp>
        <p:nvSpPr>
          <p:cNvPr id="14" name="Evidence"/>
          <p:cNvSpPr/>
          <p:nvPr/>
        </p:nvSpPr>
        <p:spPr>
          <a:xfrm>
            <a:off x="5074890" y="4443710"/>
            <a:ext cx="4562624" cy="241399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Evidence</a:t>
            </a:r>
          </a:p>
          <a:p>
            <a:pPr algn="l"/>
            <a:endParaRPr lang="en-US"/>
          </a:p>
        </p:txBody>
      </p:sp>
      <p:sp>
        <p:nvSpPr>
          <p:cNvPr id="15" name="arrow"/>
          <p:cNvSpPr txBox="1"/>
          <p:nvPr/>
        </p:nvSpPr>
        <p:spPr>
          <a:xfrm>
            <a:off x="1574363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6" name="arrow"/>
          <p:cNvSpPr txBox="1"/>
          <p:nvPr/>
        </p:nvSpPr>
        <p:spPr>
          <a:xfrm>
            <a:off x="3171289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7" name="arrow"/>
          <p:cNvSpPr txBox="1"/>
          <p:nvPr/>
        </p:nvSpPr>
        <p:spPr>
          <a:xfrm>
            <a:off x="4787265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8" name="arrow"/>
          <p:cNvSpPr txBox="1"/>
          <p:nvPr/>
        </p:nvSpPr>
        <p:spPr>
          <a:xfrm>
            <a:off x="6384191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9" name="arrow"/>
          <p:cNvSpPr txBox="1"/>
          <p:nvPr/>
        </p:nvSpPr>
        <p:spPr>
          <a:xfrm>
            <a:off x="7981117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cxnSp>
        <p:nvCxnSpPr>
          <p:cNvPr id="20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21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Sources Used: 1.________________ 2.________________ 3.________________</a:t>
            </a:r>
          </a:p>
        </p:txBody>
      </p:sp>
      <p:sp>
        <p:nvSpPr>
          <p:cNvPr id="22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Skill Focus: Grades 6-8: research, chronology, cause/effect, comparison, historical context, perspective, source evaluation, visual communication.</a:t>
            </a:r>
          </a:p>
        </p:txBody>
      </p:sp>
      <p:sp>
        <p:nvSpPr>
          <p:cNvPr id="23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Nombre: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Fecha: __________ Clase/Período: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Reacción en cadena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Grados: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Tema / Evento: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Acción 1"/>
          <p:cNvSpPr/>
          <p:nvPr/>
        </p:nvSpPr>
        <p:spPr>
          <a:xfrm>
            <a:off x="420886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Acción 1</a:t>
            </a:r>
          </a:p>
          <a:p>
            <a:pPr algn="l"/>
            <a:endParaRPr lang="en-US"/>
          </a:p>
        </p:txBody>
      </p:sp>
      <p:sp>
        <p:nvSpPr>
          <p:cNvPr id="8" name="Reacción 1"/>
          <p:cNvSpPr/>
          <p:nvPr/>
        </p:nvSpPr>
        <p:spPr>
          <a:xfrm>
            <a:off x="2017812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Reacción 1</a:t>
            </a:r>
          </a:p>
          <a:p>
            <a:pPr algn="l"/>
            <a:endParaRPr lang="en-US"/>
          </a:p>
        </p:txBody>
      </p:sp>
      <p:sp>
        <p:nvSpPr>
          <p:cNvPr id="9" name="Acción 2"/>
          <p:cNvSpPr/>
          <p:nvPr/>
        </p:nvSpPr>
        <p:spPr>
          <a:xfrm>
            <a:off x="3614738" y="1133921"/>
            <a:ext cx="1231999" cy="3218408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Acción 2</a:t>
            </a:r>
          </a:p>
          <a:p>
            <a:pPr algn="l"/>
            <a:endParaRPr lang="en-US"/>
          </a:p>
        </p:txBody>
      </p:sp>
      <p:sp>
        <p:nvSpPr>
          <p:cNvPr id="10" name="Reacción 2"/>
          <p:cNvSpPr/>
          <p:nvPr/>
        </p:nvSpPr>
        <p:spPr>
          <a:xfrm>
            <a:off x="5230713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Reacción 2</a:t>
            </a:r>
          </a:p>
          <a:p>
            <a:pPr algn="l"/>
            <a:endParaRPr lang="en-US"/>
          </a:p>
        </p:txBody>
      </p:sp>
      <p:sp>
        <p:nvSpPr>
          <p:cNvPr id="11" name="Crisis / Punto de inflexión"/>
          <p:cNvSpPr/>
          <p:nvPr/>
        </p:nvSpPr>
        <p:spPr>
          <a:xfrm>
            <a:off x="6827639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Crisis / Punto de inflexión</a:t>
            </a:r>
          </a:p>
          <a:p>
            <a:pPr algn="l"/>
            <a:endParaRPr lang="en-US"/>
          </a:p>
        </p:txBody>
      </p:sp>
      <p:sp>
        <p:nvSpPr>
          <p:cNvPr id="12" name="Resultado"/>
          <p:cNvSpPr/>
          <p:nvPr/>
        </p:nvSpPr>
        <p:spPr>
          <a:xfrm>
            <a:off x="8424565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Resultado</a:t>
            </a:r>
          </a:p>
          <a:p>
            <a:pPr algn="l"/>
            <a:endParaRPr lang="en-US"/>
          </a:p>
        </p:txBody>
      </p:sp>
      <p:sp>
        <p:nvSpPr>
          <p:cNvPr id="13" name="Eslabón más importante"/>
          <p:cNvSpPr/>
          <p:nvPr/>
        </p:nvSpPr>
        <p:spPr>
          <a:xfrm>
            <a:off x="420886" y="4443710"/>
            <a:ext cx="4562624" cy="241399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Eslabón más importante</a:t>
            </a:r>
          </a:p>
          <a:p>
            <a:pPr algn="l"/>
            <a:endParaRPr lang="en-US"/>
          </a:p>
        </p:txBody>
      </p:sp>
      <p:sp>
        <p:nvSpPr>
          <p:cNvPr id="14" name="Evidencia"/>
          <p:cNvSpPr/>
          <p:nvPr/>
        </p:nvSpPr>
        <p:spPr>
          <a:xfrm>
            <a:off x="5074890" y="4443710"/>
            <a:ext cx="4562624" cy="241399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Evidencia</a:t>
            </a:r>
          </a:p>
          <a:p>
            <a:pPr algn="l"/>
            <a:endParaRPr lang="en-US"/>
          </a:p>
        </p:txBody>
      </p:sp>
      <p:sp>
        <p:nvSpPr>
          <p:cNvPr id="15" name="arrow"/>
          <p:cNvSpPr txBox="1"/>
          <p:nvPr/>
        </p:nvSpPr>
        <p:spPr>
          <a:xfrm>
            <a:off x="1574363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6" name="arrow"/>
          <p:cNvSpPr txBox="1"/>
          <p:nvPr/>
        </p:nvSpPr>
        <p:spPr>
          <a:xfrm>
            <a:off x="3171289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7" name="arrow"/>
          <p:cNvSpPr txBox="1"/>
          <p:nvPr/>
        </p:nvSpPr>
        <p:spPr>
          <a:xfrm>
            <a:off x="4787265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8" name="arrow"/>
          <p:cNvSpPr txBox="1"/>
          <p:nvPr/>
        </p:nvSpPr>
        <p:spPr>
          <a:xfrm>
            <a:off x="6384191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9" name="arrow"/>
          <p:cNvSpPr txBox="1"/>
          <p:nvPr/>
        </p:nvSpPr>
        <p:spPr>
          <a:xfrm>
            <a:off x="7981117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cxnSp>
        <p:nvCxnSpPr>
          <p:cNvPr id="20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21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Fuentes usadas: 1.________________ 2.________________ 3.________________</a:t>
            </a:r>
          </a:p>
        </p:txBody>
      </p:sp>
      <p:sp>
        <p:nvSpPr>
          <p:cNvPr id="22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Enfoque de habilidades TEKS: Grados 6–8: investigación, cronología, causa y efecto, comparación, contexto histórico, perspectiva, evaluación de fuentes y comunicación visual.</a:t>
            </a:r>
          </a:p>
        </p:txBody>
      </p:sp>
      <p:sp>
        <p:nvSpPr>
          <p:cNvPr id="23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Họ tên: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Ngày: __________ Lớp/Tiết: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Chuỗi phản ứng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Khối lớp: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710803"/>
            <a:ext cx="2505039" cy="344037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Chủ đề / Sự kiện: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Hành động 1"/>
          <p:cNvSpPr/>
          <p:nvPr/>
        </p:nvSpPr>
        <p:spPr>
          <a:xfrm>
            <a:off x="420886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Hành động 1</a:t>
            </a:r>
          </a:p>
          <a:p>
            <a:pPr algn="l"/>
            <a:endParaRPr lang="en-US"/>
          </a:p>
        </p:txBody>
      </p:sp>
      <p:sp>
        <p:nvSpPr>
          <p:cNvPr id="8" name="Phản ứng 1"/>
          <p:cNvSpPr/>
          <p:nvPr/>
        </p:nvSpPr>
        <p:spPr>
          <a:xfrm>
            <a:off x="2017812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Phản ứng 1</a:t>
            </a:r>
          </a:p>
          <a:p>
            <a:pPr algn="l"/>
            <a:endParaRPr lang="en-US"/>
          </a:p>
        </p:txBody>
      </p:sp>
      <p:sp>
        <p:nvSpPr>
          <p:cNvPr id="9" name="Hành động 2"/>
          <p:cNvSpPr/>
          <p:nvPr/>
        </p:nvSpPr>
        <p:spPr>
          <a:xfrm>
            <a:off x="3614738" y="1133921"/>
            <a:ext cx="1231999" cy="3218408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Hành động 2</a:t>
            </a:r>
          </a:p>
          <a:p>
            <a:pPr algn="l"/>
            <a:endParaRPr lang="en-US"/>
          </a:p>
        </p:txBody>
      </p:sp>
      <p:sp>
        <p:nvSpPr>
          <p:cNvPr id="10" name="Phản ứng 2"/>
          <p:cNvSpPr/>
          <p:nvPr/>
        </p:nvSpPr>
        <p:spPr>
          <a:xfrm>
            <a:off x="5230713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Phản ứng 2</a:t>
            </a:r>
          </a:p>
          <a:p>
            <a:pPr algn="l"/>
            <a:endParaRPr lang="en-US"/>
          </a:p>
        </p:txBody>
      </p:sp>
      <p:sp>
        <p:nvSpPr>
          <p:cNvPr id="11" name="Khủng hoảng / Bước ngoặt"/>
          <p:cNvSpPr/>
          <p:nvPr/>
        </p:nvSpPr>
        <p:spPr>
          <a:xfrm>
            <a:off x="6827639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Khủng hoảng / Bước ngoặt</a:t>
            </a:r>
          </a:p>
          <a:p>
            <a:pPr algn="l"/>
            <a:endParaRPr lang="en-US"/>
          </a:p>
        </p:txBody>
      </p:sp>
      <p:sp>
        <p:nvSpPr>
          <p:cNvPr id="12" name="Kết quả"/>
          <p:cNvSpPr/>
          <p:nvPr/>
        </p:nvSpPr>
        <p:spPr>
          <a:xfrm>
            <a:off x="8424565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Kết quả</a:t>
            </a:r>
          </a:p>
          <a:p>
            <a:pPr algn="l"/>
            <a:endParaRPr lang="en-US"/>
          </a:p>
        </p:txBody>
      </p:sp>
      <p:sp>
        <p:nvSpPr>
          <p:cNvPr id="13" name="Mắt xích quan trọng nhất"/>
          <p:cNvSpPr/>
          <p:nvPr/>
        </p:nvSpPr>
        <p:spPr>
          <a:xfrm>
            <a:off x="420886" y="4443710"/>
            <a:ext cx="4562624" cy="241399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Mắt xích quan trọng nhất</a:t>
            </a:r>
          </a:p>
          <a:p>
            <a:pPr algn="l"/>
            <a:endParaRPr lang="en-US"/>
          </a:p>
        </p:txBody>
      </p:sp>
      <p:sp>
        <p:nvSpPr>
          <p:cNvPr id="14" name="Bằng chứng"/>
          <p:cNvSpPr/>
          <p:nvPr/>
        </p:nvSpPr>
        <p:spPr>
          <a:xfrm>
            <a:off x="5074890" y="4443710"/>
            <a:ext cx="4562624" cy="241399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Bằng chứng</a:t>
            </a:r>
          </a:p>
          <a:p>
            <a:pPr algn="l"/>
            <a:endParaRPr lang="en-US"/>
          </a:p>
        </p:txBody>
      </p:sp>
      <p:sp>
        <p:nvSpPr>
          <p:cNvPr id="15" name="arrow"/>
          <p:cNvSpPr txBox="1"/>
          <p:nvPr/>
        </p:nvSpPr>
        <p:spPr>
          <a:xfrm>
            <a:off x="1574363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6" name="arrow"/>
          <p:cNvSpPr txBox="1"/>
          <p:nvPr/>
        </p:nvSpPr>
        <p:spPr>
          <a:xfrm>
            <a:off x="3171289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7" name="arrow"/>
          <p:cNvSpPr txBox="1"/>
          <p:nvPr/>
        </p:nvSpPr>
        <p:spPr>
          <a:xfrm>
            <a:off x="4787265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8" name="arrow"/>
          <p:cNvSpPr txBox="1"/>
          <p:nvPr/>
        </p:nvSpPr>
        <p:spPr>
          <a:xfrm>
            <a:off x="6384191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9" name="arrow"/>
          <p:cNvSpPr txBox="1"/>
          <p:nvPr/>
        </p:nvSpPr>
        <p:spPr>
          <a:xfrm>
            <a:off x="7981117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cxnSp>
        <p:nvCxnSpPr>
          <p:cNvPr id="20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21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Nguồn đã dùng: 1.________________ 2.________________ 3.________________</a:t>
            </a:r>
          </a:p>
        </p:txBody>
      </p:sp>
      <p:sp>
        <p:nvSpPr>
          <p:cNvPr id="22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Trọng tâm kỹ năng TEKS: Khối 6–8: nghiên cứu, trình tự thời gian, nguyên nhân/kết quả, so sánh, bối cảnh lịch sử, góc nhìn, đánh giá nguồn tư liệu và trình bày trực quan.</a:t>
            </a:r>
          </a:p>
        </p:txBody>
      </p:sp>
      <p:sp>
        <p:nvSpPr>
          <p:cNvPr id="23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姓名: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日期: __________ 班级/课时: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427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事件连锁反应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38051"/>
            <a:ext cx="4213735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年级段: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28526"/>
            <a:ext cx="2505039" cy="2263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主题 / 事件: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行动 1"/>
          <p:cNvSpPr/>
          <p:nvPr/>
        </p:nvSpPr>
        <p:spPr>
          <a:xfrm>
            <a:off x="420886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行动 1</a:t>
            </a:r>
          </a:p>
          <a:p>
            <a:pPr algn="l"/>
            <a:endParaRPr lang="en-US"/>
          </a:p>
        </p:txBody>
      </p:sp>
      <p:sp>
        <p:nvSpPr>
          <p:cNvPr id="8" name="反应 1"/>
          <p:cNvSpPr/>
          <p:nvPr/>
        </p:nvSpPr>
        <p:spPr>
          <a:xfrm>
            <a:off x="2017812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反应 1</a:t>
            </a:r>
          </a:p>
          <a:p>
            <a:pPr algn="l"/>
            <a:endParaRPr lang="en-US"/>
          </a:p>
        </p:txBody>
      </p:sp>
      <p:sp>
        <p:nvSpPr>
          <p:cNvPr id="9" name="行动 2"/>
          <p:cNvSpPr/>
          <p:nvPr/>
        </p:nvSpPr>
        <p:spPr>
          <a:xfrm>
            <a:off x="3614738" y="1133921"/>
            <a:ext cx="1231999" cy="3218408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行动 2</a:t>
            </a:r>
          </a:p>
          <a:p>
            <a:pPr algn="l"/>
            <a:endParaRPr lang="en-US"/>
          </a:p>
        </p:txBody>
      </p:sp>
      <p:sp>
        <p:nvSpPr>
          <p:cNvPr id="10" name="反应 2"/>
          <p:cNvSpPr/>
          <p:nvPr/>
        </p:nvSpPr>
        <p:spPr>
          <a:xfrm>
            <a:off x="5230713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反应 2</a:t>
            </a:r>
          </a:p>
          <a:p>
            <a:pPr algn="l"/>
            <a:endParaRPr lang="en-US"/>
          </a:p>
        </p:txBody>
      </p:sp>
      <p:sp>
        <p:nvSpPr>
          <p:cNvPr id="11" name="危机 / 转折点"/>
          <p:cNvSpPr/>
          <p:nvPr/>
        </p:nvSpPr>
        <p:spPr>
          <a:xfrm>
            <a:off x="6827639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危机 / 转折点</a:t>
            </a:r>
          </a:p>
          <a:p>
            <a:pPr algn="l"/>
            <a:endParaRPr lang="en-US"/>
          </a:p>
        </p:txBody>
      </p:sp>
      <p:sp>
        <p:nvSpPr>
          <p:cNvPr id="12" name="结果"/>
          <p:cNvSpPr/>
          <p:nvPr/>
        </p:nvSpPr>
        <p:spPr>
          <a:xfrm>
            <a:off x="8424565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结果</a:t>
            </a:r>
          </a:p>
          <a:p>
            <a:pPr algn="l"/>
            <a:endParaRPr lang="en-US"/>
          </a:p>
        </p:txBody>
      </p:sp>
      <p:sp>
        <p:nvSpPr>
          <p:cNvPr id="13" name="最重要的环节"/>
          <p:cNvSpPr/>
          <p:nvPr/>
        </p:nvSpPr>
        <p:spPr>
          <a:xfrm>
            <a:off x="420886" y="4443710"/>
            <a:ext cx="4562624" cy="241399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最重要的环节</a:t>
            </a:r>
          </a:p>
          <a:p>
            <a:pPr algn="l"/>
            <a:endParaRPr lang="en-US"/>
          </a:p>
        </p:txBody>
      </p:sp>
      <p:sp>
        <p:nvSpPr>
          <p:cNvPr id="14" name="证据"/>
          <p:cNvSpPr/>
          <p:nvPr/>
        </p:nvSpPr>
        <p:spPr>
          <a:xfrm>
            <a:off x="5074890" y="4443710"/>
            <a:ext cx="4562624" cy="241399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证据</a:t>
            </a:r>
          </a:p>
          <a:p>
            <a:pPr algn="l"/>
            <a:endParaRPr lang="en-US"/>
          </a:p>
        </p:txBody>
      </p:sp>
      <p:sp>
        <p:nvSpPr>
          <p:cNvPr id="15" name="arrow"/>
          <p:cNvSpPr txBox="1"/>
          <p:nvPr/>
        </p:nvSpPr>
        <p:spPr>
          <a:xfrm>
            <a:off x="1574363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6" name="arrow"/>
          <p:cNvSpPr txBox="1"/>
          <p:nvPr/>
        </p:nvSpPr>
        <p:spPr>
          <a:xfrm>
            <a:off x="3171289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7" name="arrow"/>
          <p:cNvSpPr txBox="1"/>
          <p:nvPr/>
        </p:nvSpPr>
        <p:spPr>
          <a:xfrm>
            <a:off x="4787265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8" name="arrow"/>
          <p:cNvSpPr txBox="1"/>
          <p:nvPr/>
        </p:nvSpPr>
        <p:spPr>
          <a:xfrm>
            <a:off x="6384191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9" name="arrow"/>
          <p:cNvSpPr txBox="1"/>
          <p:nvPr/>
        </p:nvSpPr>
        <p:spPr>
          <a:xfrm>
            <a:off x="7981117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cxnSp>
        <p:nvCxnSpPr>
          <p:cNvPr id="20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21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使用的资料: 1.________________ 2.________________ 3.________________</a:t>
            </a:r>
          </a:p>
        </p:txBody>
      </p:sp>
      <p:sp>
        <p:nvSpPr>
          <p:cNvPr id="22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技能重点: 6–8年级：研究、时间顺序、因果关系、比较、历史背景、观点、资料来源评估、视觉表达。</a:t>
            </a:r>
          </a:p>
        </p:txBody>
      </p:sp>
      <p:sp>
        <p:nvSpPr>
          <p:cNvPr id="23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नाम: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तारीख: __________ कक्षा/पीरियड: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5230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घटना श्रृंखला प्रतिक्रिया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47576"/>
            <a:ext cx="4213735" cy="2072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ग्रेड स्तर: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38051"/>
            <a:ext cx="2505039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विषय / घटना: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कार्रवाई 1"/>
          <p:cNvSpPr/>
          <p:nvPr/>
        </p:nvSpPr>
        <p:spPr>
          <a:xfrm>
            <a:off x="420886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कार्रवाई 1</a:t>
            </a:r>
          </a:p>
          <a:p>
            <a:pPr algn="l"/>
            <a:endParaRPr lang="en-US"/>
          </a:p>
        </p:txBody>
      </p:sp>
      <p:sp>
        <p:nvSpPr>
          <p:cNvPr id="8" name="प्रतिक्रिया 1"/>
          <p:cNvSpPr/>
          <p:nvPr/>
        </p:nvSpPr>
        <p:spPr>
          <a:xfrm>
            <a:off x="2017812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प्रतिक्रिया 1</a:t>
            </a:r>
          </a:p>
          <a:p>
            <a:pPr algn="l"/>
            <a:endParaRPr lang="en-US"/>
          </a:p>
        </p:txBody>
      </p:sp>
      <p:sp>
        <p:nvSpPr>
          <p:cNvPr id="9" name="कार्रवाई 2"/>
          <p:cNvSpPr/>
          <p:nvPr/>
        </p:nvSpPr>
        <p:spPr>
          <a:xfrm>
            <a:off x="3614738" y="1133921"/>
            <a:ext cx="1231999" cy="3218408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कार्रवाई 2</a:t>
            </a:r>
          </a:p>
          <a:p>
            <a:pPr algn="l"/>
            <a:endParaRPr lang="en-US"/>
          </a:p>
        </p:txBody>
      </p:sp>
      <p:sp>
        <p:nvSpPr>
          <p:cNvPr id="10" name="प्रतिक्रिया 2"/>
          <p:cNvSpPr/>
          <p:nvPr/>
        </p:nvSpPr>
        <p:spPr>
          <a:xfrm>
            <a:off x="5230713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प्रतिक्रिया 2</a:t>
            </a:r>
          </a:p>
          <a:p>
            <a:pPr algn="l"/>
            <a:endParaRPr lang="en-US"/>
          </a:p>
        </p:txBody>
      </p:sp>
      <p:sp>
        <p:nvSpPr>
          <p:cNvPr id="11" name="संकट / मोड़ बिंदु"/>
          <p:cNvSpPr/>
          <p:nvPr/>
        </p:nvSpPr>
        <p:spPr>
          <a:xfrm>
            <a:off x="6827639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संकट / मोड़ बिंदु</a:t>
            </a:r>
          </a:p>
          <a:p>
            <a:pPr algn="l"/>
            <a:endParaRPr lang="en-US"/>
          </a:p>
        </p:txBody>
      </p:sp>
      <p:sp>
        <p:nvSpPr>
          <p:cNvPr id="12" name="परिणाम"/>
          <p:cNvSpPr/>
          <p:nvPr/>
        </p:nvSpPr>
        <p:spPr>
          <a:xfrm>
            <a:off x="8424565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परिणाम</a:t>
            </a:r>
          </a:p>
          <a:p>
            <a:pPr algn="l"/>
            <a:endParaRPr lang="en-US"/>
          </a:p>
        </p:txBody>
      </p:sp>
      <p:sp>
        <p:nvSpPr>
          <p:cNvPr id="13" name="सबसे महत्वपूर्ण कड़ी"/>
          <p:cNvSpPr/>
          <p:nvPr/>
        </p:nvSpPr>
        <p:spPr>
          <a:xfrm>
            <a:off x="420886" y="4443710"/>
            <a:ext cx="4562624" cy="241399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सबसे महत्वपूर्ण कड़ी</a:t>
            </a:r>
          </a:p>
          <a:p>
            <a:pPr algn="l"/>
            <a:endParaRPr lang="en-US"/>
          </a:p>
        </p:txBody>
      </p:sp>
      <p:sp>
        <p:nvSpPr>
          <p:cNvPr id="14" name="प्रमाण"/>
          <p:cNvSpPr/>
          <p:nvPr/>
        </p:nvSpPr>
        <p:spPr>
          <a:xfrm>
            <a:off x="5074890" y="4443710"/>
            <a:ext cx="4562624" cy="241399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प्रमाण</a:t>
            </a:r>
          </a:p>
          <a:p>
            <a:pPr algn="l"/>
            <a:endParaRPr lang="en-US"/>
          </a:p>
        </p:txBody>
      </p:sp>
      <p:sp>
        <p:nvSpPr>
          <p:cNvPr id="15" name="arrow"/>
          <p:cNvSpPr txBox="1"/>
          <p:nvPr/>
        </p:nvSpPr>
        <p:spPr>
          <a:xfrm>
            <a:off x="1574363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6" name="arrow"/>
          <p:cNvSpPr txBox="1"/>
          <p:nvPr/>
        </p:nvSpPr>
        <p:spPr>
          <a:xfrm>
            <a:off x="3171289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7" name="arrow"/>
          <p:cNvSpPr txBox="1"/>
          <p:nvPr/>
        </p:nvSpPr>
        <p:spPr>
          <a:xfrm>
            <a:off x="4787265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8" name="arrow"/>
          <p:cNvSpPr txBox="1"/>
          <p:nvPr/>
        </p:nvSpPr>
        <p:spPr>
          <a:xfrm>
            <a:off x="6384191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9" name="arrow"/>
          <p:cNvSpPr txBox="1"/>
          <p:nvPr/>
        </p:nvSpPr>
        <p:spPr>
          <a:xfrm>
            <a:off x="7981117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cxnSp>
        <p:nvCxnSpPr>
          <p:cNvPr id="20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21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उपयोग किए गए स्रोत: 1.________________ 2.________________ 3.________________</a:t>
            </a:r>
          </a:p>
        </p:txBody>
      </p:sp>
      <p:sp>
        <p:nvSpPr>
          <p:cNvPr id="22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कौशल फोकस: कक्षा 6–8: शोध, कालक्रम, कारण/प्रभाव, तुलना, ऐतिहासिक संदर्भ, दृष्टिकोण, स्रोत मूल्यांकन और दृश्य संचार।</a:t>
            </a:r>
          </a:p>
        </p:txBody>
      </p:sp>
      <p:sp>
        <p:nvSpPr>
          <p:cNvPr id="23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الاسم: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التاريخ: __________ الصف/الحصة: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سلسلة ردود الفعل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المرحلة: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الموضوع / الحدث: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الإجراء 1"/>
          <p:cNvSpPr/>
          <p:nvPr/>
        </p:nvSpPr>
        <p:spPr>
          <a:xfrm>
            <a:off x="8424565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الإجراء 1</a:t>
            </a:r>
          </a:p>
          <a:p>
            <a:pPr algn="l" rtl="1"/>
            <a:endParaRPr lang="en-US"/>
          </a:p>
        </p:txBody>
      </p:sp>
      <p:sp>
        <p:nvSpPr>
          <p:cNvPr id="8" name="رد الفعل 1"/>
          <p:cNvSpPr/>
          <p:nvPr/>
        </p:nvSpPr>
        <p:spPr>
          <a:xfrm>
            <a:off x="6827639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رد الفعل 1</a:t>
            </a:r>
          </a:p>
          <a:p>
            <a:pPr algn="l" rtl="1"/>
            <a:endParaRPr lang="en-US"/>
          </a:p>
        </p:txBody>
      </p:sp>
      <p:sp>
        <p:nvSpPr>
          <p:cNvPr id="9" name="الإجراء 2"/>
          <p:cNvSpPr/>
          <p:nvPr/>
        </p:nvSpPr>
        <p:spPr>
          <a:xfrm>
            <a:off x="5211663" y="1133921"/>
            <a:ext cx="1231999" cy="3218408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الإجراء 2</a:t>
            </a:r>
          </a:p>
          <a:p>
            <a:pPr algn="l" rtl="1"/>
            <a:endParaRPr lang="en-US"/>
          </a:p>
        </p:txBody>
      </p:sp>
      <p:sp>
        <p:nvSpPr>
          <p:cNvPr id="10" name="رد الفعل 2"/>
          <p:cNvSpPr/>
          <p:nvPr/>
        </p:nvSpPr>
        <p:spPr>
          <a:xfrm>
            <a:off x="3614738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رد الفعل 2</a:t>
            </a:r>
          </a:p>
          <a:p>
            <a:pPr algn="l" rtl="1"/>
            <a:endParaRPr lang="en-US"/>
          </a:p>
        </p:txBody>
      </p:sp>
      <p:sp>
        <p:nvSpPr>
          <p:cNvPr id="11" name="أزمة / نقطة تحوّل"/>
          <p:cNvSpPr/>
          <p:nvPr/>
        </p:nvSpPr>
        <p:spPr>
          <a:xfrm>
            <a:off x="2017812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أزمة / نقطة تحوّل</a:t>
            </a:r>
          </a:p>
          <a:p>
            <a:pPr algn="l" rtl="1"/>
            <a:endParaRPr lang="en-US"/>
          </a:p>
        </p:txBody>
      </p:sp>
      <p:sp>
        <p:nvSpPr>
          <p:cNvPr id="12" name="النتيجة"/>
          <p:cNvSpPr/>
          <p:nvPr/>
        </p:nvSpPr>
        <p:spPr>
          <a:xfrm>
            <a:off x="420886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النتيجة</a:t>
            </a:r>
          </a:p>
          <a:p>
            <a:pPr algn="l" rtl="1"/>
            <a:endParaRPr lang="en-US"/>
          </a:p>
        </p:txBody>
      </p:sp>
      <p:sp>
        <p:nvSpPr>
          <p:cNvPr id="13" name="الحلقة الأكثر أهمية"/>
          <p:cNvSpPr/>
          <p:nvPr/>
        </p:nvSpPr>
        <p:spPr>
          <a:xfrm>
            <a:off x="5074890" y="4443710"/>
            <a:ext cx="4562624" cy="241399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الحلقة الأكثر أهمية</a:t>
            </a:r>
          </a:p>
          <a:p>
            <a:pPr algn="l" rtl="1"/>
            <a:endParaRPr lang="en-US"/>
          </a:p>
        </p:txBody>
      </p:sp>
      <p:sp>
        <p:nvSpPr>
          <p:cNvPr id="14" name="الدليل"/>
          <p:cNvSpPr/>
          <p:nvPr/>
        </p:nvSpPr>
        <p:spPr>
          <a:xfrm>
            <a:off x="420886" y="4443710"/>
            <a:ext cx="4562624" cy="241399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الدليل</a:t>
            </a:r>
          </a:p>
          <a:p>
            <a:pPr algn="l" rtl="1"/>
            <a:endParaRPr lang="en-US"/>
          </a:p>
        </p:txBody>
      </p:sp>
      <p:sp>
        <p:nvSpPr>
          <p:cNvPr id="15" name="arrow"/>
          <p:cNvSpPr txBox="1"/>
          <p:nvPr/>
        </p:nvSpPr>
        <p:spPr>
          <a:xfrm>
            <a:off x="7981117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 rtl="1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6" name="arrow"/>
          <p:cNvSpPr txBox="1"/>
          <p:nvPr/>
        </p:nvSpPr>
        <p:spPr>
          <a:xfrm>
            <a:off x="6384191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 rtl="1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7" name="arrow"/>
          <p:cNvSpPr txBox="1"/>
          <p:nvPr/>
        </p:nvSpPr>
        <p:spPr>
          <a:xfrm>
            <a:off x="4768215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 rtl="1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8" name="arrow"/>
          <p:cNvSpPr txBox="1"/>
          <p:nvPr/>
        </p:nvSpPr>
        <p:spPr>
          <a:xfrm>
            <a:off x="3171289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 rtl="1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9" name="arrow"/>
          <p:cNvSpPr txBox="1"/>
          <p:nvPr/>
        </p:nvSpPr>
        <p:spPr>
          <a:xfrm>
            <a:off x="1574363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 rtl="1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cxnSp>
        <p:nvCxnSpPr>
          <p:cNvPr id="20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21" name="label"/>
          <p:cNvSpPr txBox="1"/>
          <p:nvPr/>
        </p:nvSpPr>
        <p:spPr>
          <a:xfrm>
            <a:off x="7469386" y="7004298"/>
            <a:ext cx="2204704" cy="6168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المصادر المستخدمة: 1.________________ 2.________________ 3.________________</a:t>
            </a:r>
          </a:p>
        </p:txBody>
      </p:sp>
      <p:sp>
        <p:nvSpPr>
          <p:cNvPr id="22" name="label"/>
          <p:cNvSpPr txBox="1"/>
          <p:nvPr/>
        </p:nvSpPr>
        <p:spPr>
          <a:xfrm>
            <a:off x="3132088" y="716339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تركيز مهارات TEKS: الصفوف 6–8: البحث، التسلسل الزمني، السبب والنتيجة، المقارنة، السياق التاريخي، المنظور، تقييم المصادر، والتواصل البصري.</a:t>
            </a:r>
          </a:p>
        </p:txBody>
      </p:sp>
      <p:sp>
        <p:nvSpPr>
          <p:cNvPr id="23" name="label"/>
          <p:cNvSpPr txBox="1"/>
          <p:nvPr/>
        </p:nvSpPr>
        <p:spPr>
          <a:xfrm>
            <a:off x="420886" y="723349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نام: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تاریخ: __________ کلاس/پیریڈ: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واقعاتی زنجیری ردعمل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جماعتی سطح: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موضوع / واقعہ: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کارروائی 1"/>
          <p:cNvSpPr/>
          <p:nvPr/>
        </p:nvSpPr>
        <p:spPr>
          <a:xfrm>
            <a:off x="8424565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کارروائی 1</a:t>
            </a:r>
          </a:p>
          <a:p>
            <a:pPr algn="l" rtl="1"/>
            <a:endParaRPr lang="en-US"/>
          </a:p>
        </p:txBody>
      </p:sp>
      <p:sp>
        <p:nvSpPr>
          <p:cNvPr id="8" name="ردِعمل 1"/>
          <p:cNvSpPr/>
          <p:nvPr/>
        </p:nvSpPr>
        <p:spPr>
          <a:xfrm>
            <a:off x="6827639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ردِعمل 1</a:t>
            </a:r>
          </a:p>
          <a:p>
            <a:pPr algn="l" rtl="1"/>
            <a:endParaRPr lang="en-US"/>
          </a:p>
        </p:txBody>
      </p:sp>
      <p:sp>
        <p:nvSpPr>
          <p:cNvPr id="9" name="کارروائی 2"/>
          <p:cNvSpPr/>
          <p:nvPr/>
        </p:nvSpPr>
        <p:spPr>
          <a:xfrm>
            <a:off x="5211663" y="1133921"/>
            <a:ext cx="1231999" cy="3218408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کارروائی 2</a:t>
            </a:r>
          </a:p>
          <a:p>
            <a:pPr algn="l" rtl="1"/>
            <a:endParaRPr lang="en-US"/>
          </a:p>
        </p:txBody>
      </p:sp>
      <p:sp>
        <p:nvSpPr>
          <p:cNvPr id="10" name="ردِعمل 2"/>
          <p:cNvSpPr/>
          <p:nvPr/>
        </p:nvSpPr>
        <p:spPr>
          <a:xfrm>
            <a:off x="3614738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ردِعمل 2</a:t>
            </a:r>
          </a:p>
          <a:p>
            <a:pPr algn="l" rtl="1"/>
            <a:endParaRPr lang="en-US"/>
          </a:p>
        </p:txBody>
      </p:sp>
      <p:sp>
        <p:nvSpPr>
          <p:cNvPr id="11" name="بحران / اہم موڑ"/>
          <p:cNvSpPr/>
          <p:nvPr/>
        </p:nvSpPr>
        <p:spPr>
          <a:xfrm>
            <a:off x="2017812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بحران / اہم موڑ</a:t>
            </a:r>
          </a:p>
          <a:p>
            <a:pPr algn="l" rtl="1"/>
            <a:endParaRPr lang="en-US"/>
          </a:p>
        </p:txBody>
      </p:sp>
      <p:sp>
        <p:nvSpPr>
          <p:cNvPr id="12" name="نتیجہ"/>
          <p:cNvSpPr/>
          <p:nvPr/>
        </p:nvSpPr>
        <p:spPr>
          <a:xfrm>
            <a:off x="420886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نتیجہ</a:t>
            </a:r>
          </a:p>
          <a:p>
            <a:pPr algn="l" rtl="1"/>
            <a:endParaRPr lang="en-US"/>
          </a:p>
        </p:txBody>
      </p:sp>
      <p:sp>
        <p:nvSpPr>
          <p:cNvPr id="13" name="سب سے اہم کڑی"/>
          <p:cNvSpPr/>
          <p:nvPr/>
        </p:nvSpPr>
        <p:spPr>
          <a:xfrm>
            <a:off x="5074890" y="4443710"/>
            <a:ext cx="4562624" cy="241399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سب سے اہم کڑی</a:t>
            </a:r>
          </a:p>
          <a:p>
            <a:pPr algn="l" rtl="1"/>
            <a:endParaRPr lang="en-US"/>
          </a:p>
        </p:txBody>
      </p:sp>
      <p:sp>
        <p:nvSpPr>
          <p:cNvPr id="14" name="ثبوت"/>
          <p:cNvSpPr/>
          <p:nvPr/>
        </p:nvSpPr>
        <p:spPr>
          <a:xfrm>
            <a:off x="420886" y="4443710"/>
            <a:ext cx="4562624" cy="241399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ثبوت</a:t>
            </a:r>
          </a:p>
          <a:p>
            <a:pPr algn="l" rtl="1"/>
            <a:endParaRPr lang="en-US"/>
          </a:p>
        </p:txBody>
      </p:sp>
      <p:sp>
        <p:nvSpPr>
          <p:cNvPr id="15" name="arrow"/>
          <p:cNvSpPr txBox="1"/>
          <p:nvPr/>
        </p:nvSpPr>
        <p:spPr>
          <a:xfrm>
            <a:off x="7981117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 rtl="1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6" name="arrow"/>
          <p:cNvSpPr txBox="1"/>
          <p:nvPr/>
        </p:nvSpPr>
        <p:spPr>
          <a:xfrm>
            <a:off x="6384191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 rtl="1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7" name="arrow"/>
          <p:cNvSpPr txBox="1"/>
          <p:nvPr/>
        </p:nvSpPr>
        <p:spPr>
          <a:xfrm>
            <a:off x="4768215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 rtl="1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8" name="arrow"/>
          <p:cNvSpPr txBox="1"/>
          <p:nvPr/>
        </p:nvSpPr>
        <p:spPr>
          <a:xfrm>
            <a:off x="3171289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 rtl="1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9" name="arrow"/>
          <p:cNvSpPr txBox="1"/>
          <p:nvPr/>
        </p:nvSpPr>
        <p:spPr>
          <a:xfrm>
            <a:off x="1574363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 rtl="1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cxnSp>
        <p:nvCxnSpPr>
          <p:cNvPr id="20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21" name="label"/>
          <p:cNvSpPr txBox="1"/>
          <p:nvPr/>
        </p:nvSpPr>
        <p:spPr>
          <a:xfrm>
            <a:off x="7469386" y="7004298"/>
            <a:ext cx="2204704" cy="5025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استعمال شدہ ذرائع: 1.________________ 2.________________ 3.________________</a:t>
            </a:r>
          </a:p>
        </p:txBody>
      </p:sp>
      <p:sp>
        <p:nvSpPr>
          <p:cNvPr id="22" name="label"/>
          <p:cNvSpPr txBox="1"/>
          <p:nvPr/>
        </p:nvSpPr>
        <p:spPr>
          <a:xfrm>
            <a:off x="3132088" y="710624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مہارت کا مرکز: جماعت 6–8: تحقیق، زمانی ترتیب، سبب و اثر، موازنہ، تاریخی پس منظر، نقطۂ نظر، ذرائع کا جائزہ اور بصری ابلاغ۔</a:t>
            </a:r>
          </a:p>
        </p:txBody>
      </p:sp>
      <p:sp>
        <p:nvSpPr>
          <p:cNvPr id="23" name="label"/>
          <p:cNvSpPr txBox="1"/>
          <p:nvPr/>
        </p:nvSpPr>
        <p:spPr>
          <a:xfrm>
            <a:off x="420886" y="717634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23266"/>
      </a:dk2>
      <a:lt2>
        <a:srgbClr val="F4F8FC"/>
      </a:lt2>
      <a:accent1>
        <a:srgbClr val="054C8C"/>
      </a:accent1>
      <a:accent2>
        <a:srgbClr val="FBD239"/>
      </a:accent2>
      <a:accent3>
        <a:srgbClr val="238A8D"/>
      </a:accent3>
      <a:accent4>
        <a:srgbClr val="6D5AA8"/>
      </a:accent4>
      <a:accent5>
        <a:srgbClr val="D97A28"/>
      </a:accent5>
      <a:accent6>
        <a:srgbClr val="5A8F52"/>
      </a:accent6>
      <a:hlink>
        <a:srgbClr val="054C8C"/>
      </a:hlink>
      <a:folHlink>
        <a:srgbClr val="6D5AA8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History Event Maps</Application>
  <Slides>7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Event Chain Reaction — 7 languages</dc:title>
  <dc:creator>Miguel Guhlin / Miguel Guhlin</dc:creator>
  <cp:lastModifiedBy>Miguel Guhlin</cp:lastModifiedBy>
</cp:coreProperties>
</file>