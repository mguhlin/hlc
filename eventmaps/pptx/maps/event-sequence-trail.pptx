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Event Sequence Trail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equence (Order of Events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Sequence (Order of Events)</a:t>
            </a:r>
          </a:p>
          <a:p>
            <a:pPr algn="ctr"/>
            <a:endParaRPr lang="en-US"/>
          </a:p>
        </p:txBody>
      </p:sp>
      <p:sp>
        <p:nvSpPr>
          <p:cNvPr id="8" name="Where did it happen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Where did it happen?</a:t>
            </a:r>
          </a:p>
          <a:p>
            <a:pPr algn="l"/>
            <a:endParaRPr lang="en-US"/>
          </a:p>
        </p:txBody>
      </p:sp>
      <p:sp>
        <p:nvSpPr>
          <p:cNvPr id="9" name="The Event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The Event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When did it happen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When did it happen?</a:t>
            </a:r>
          </a:p>
          <a:p>
            <a:pPr algn="l"/>
            <a:endParaRPr lang="en-US"/>
          </a:p>
        </p:txBody>
      </p:sp>
      <p:sp>
        <p:nvSpPr>
          <p:cNvPr id="11" name="Beginning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Beginning</a:t>
            </a:r>
          </a:p>
          <a:p>
            <a:pPr algn="l"/>
            <a:endParaRPr lang="en-US"/>
          </a:p>
        </p:txBody>
      </p:sp>
      <p:sp>
        <p:nvSpPr>
          <p:cNvPr id="12" name="Who was involved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Who was involved?</a:t>
            </a:r>
          </a:p>
          <a:p>
            <a:pPr algn="l"/>
            <a:endParaRPr lang="en-US"/>
          </a:p>
        </p:txBody>
      </p:sp>
      <p:sp>
        <p:nvSpPr>
          <p:cNvPr id="13" name="Ending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Ending</a:t>
            </a:r>
          </a:p>
          <a:p>
            <a:pPr algn="l"/>
            <a:endParaRPr lang="en-US"/>
          </a:p>
        </p:txBody>
      </p:sp>
      <p:sp>
        <p:nvSpPr>
          <p:cNvPr id="14" name="Why was it important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Why was it important?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3-5: chronology, cause/effect, sources, point of view, maps, graphic organizers, claims and evidence.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Ruta de secuencia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ecuencia (orden de los sucesos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Secuencia (orden de los sucesos)</a:t>
            </a:r>
          </a:p>
          <a:p>
            <a:pPr algn="ctr"/>
            <a:endParaRPr lang="en-US"/>
          </a:p>
        </p:txBody>
      </p:sp>
      <p:sp>
        <p:nvSpPr>
          <p:cNvPr id="8" name="¿Dónde ocurrió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¿Dónde ocurrió?</a:t>
            </a:r>
          </a:p>
          <a:p>
            <a:pPr algn="l"/>
            <a:endParaRPr lang="en-US"/>
          </a:p>
        </p:txBody>
      </p:sp>
      <p:sp>
        <p:nvSpPr>
          <p:cNvPr id="9" name="El evento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El evento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¿Cuándo ocurrió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¿Cuándo ocurrió?</a:t>
            </a:r>
          </a:p>
          <a:p>
            <a:pPr algn="l"/>
            <a:endParaRPr lang="en-US"/>
          </a:p>
        </p:txBody>
      </p:sp>
      <p:sp>
        <p:nvSpPr>
          <p:cNvPr id="11" name="Inicio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Inicio</a:t>
            </a:r>
          </a:p>
          <a:p>
            <a:pPr algn="l"/>
            <a:endParaRPr lang="en-US"/>
          </a:p>
        </p:txBody>
      </p:sp>
      <p:sp>
        <p:nvSpPr>
          <p:cNvPr id="12" name="¿Quiénes participaron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¿Quiénes participaron?</a:t>
            </a:r>
          </a:p>
          <a:p>
            <a:pPr algn="l"/>
            <a:endParaRPr lang="en-US"/>
          </a:p>
        </p:txBody>
      </p:sp>
      <p:sp>
        <p:nvSpPr>
          <p:cNvPr id="13" name="Final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Final</a:t>
            </a:r>
          </a:p>
          <a:p>
            <a:pPr algn="l"/>
            <a:endParaRPr lang="en-US"/>
          </a:p>
        </p:txBody>
      </p:sp>
      <p:sp>
        <p:nvSpPr>
          <p:cNvPr id="14" name="¿Por qué fue importante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¿Por qué fue importante?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3–5: cronología, causa y efecto, fuentes, punto de vista, mapas, organizadores gráficos, afirmaciones y evidencia.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Đường trình tự sự kiện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Trình tự (thứ tự các sự kiện)"/>
          <p:cNvSpPr/>
          <p:nvPr/>
        </p:nvSpPr>
        <p:spPr>
          <a:xfrm>
            <a:off x="420886" y="4469755"/>
            <a:ext cx="9216628" cy="2387947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Trình tự (thứ tự các sự kiện)</a:t>
            </a:r>
          </a:p>
          <a:p>
            <a:pPr algn="ctr"/>
            <a:endParaRPr lang="en-US"/>
          </a:p>
        </p:txBody>
      </p:sp>
      <p:sp>
        <p:nvSpPr>
          <p:cNvPr id="8" name="Xảy ra ở đâu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ở đâu?</a:t>
            </a:r>
          </a:p>
          <a:p>
            <a:pPr algn="l"/>
            <a:endParaRPr lang="en-US"/>
          </a:p>
        </p:txBody>
      </p:sp>
      <p:sp>
        <p:nvSpPr>
          <p:cNvPr id="9" name="Sự kiện"/>
          <p:cNvSpPr/>
          <p:nvPr/>
        </p:nvSpPr>
        <p:spPr>
          <a:xfrm>
            <a:off x="3379887" y="1133921"/>
            <a:ext cx="3298478" cy="2076599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Sự kiện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Xảy ra khi nào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Xảy ra khi nào?</a:t>
            </a:r>
          </a:p>
          <a:p>
            <a:pPr algn="l"/>
            <a:endParaRPr lang="en-US"/>
          </a:p>
        </p:txBody>
      </p:sp>
      <p:sp>
        <p:nvSpPr>
          <p:cNvPr id="11" name="Bắt đầu"/>
          <p:cNvSpPr/>
          <p:nvPr/>
        </p:nvSpPr>
        <p:spPr>
          <a:xfrm>
            <a:off x="420886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Bắt đầu</a:t>
            </a:r>
          </a:p>
          <a:p>
            <a:pPr algn="l"/>
            <a:endParaRPr lang="en-US"/>
          </a:p>
        </p:txBody>
      </p:sp>
      <p:sp>
        <p:nvSpPr>
          <p:cNvPr id="12" name="Ai tham gia?"/>
          <p:cNvSpPr/>
          <p:nvPr/>
        </p:nvSpPr>
        <p:spPr>
          <a:xfrm>
            <a:off x="6751439" y="226427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Ai tham gia?</a:t>
            </a:r>
          </a:p>
          <a:p>
            <a:pPr algn="l"/>
            <a:endParaRPr lang="en-US"/>
          </a:p>
        </p:txBody>
      </p:sp>
      <p:sp>
        <p:nvSpPr>
          <p:cNvPr id="13" name="Kết thúc"/>
          <p:cNvSpPr/>
          <p:nvPr/>
        </p:nvSpPr>
        <p:spPr>
          <a:xfrm>
            <a:off x="420886" y="3283595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thúc</a:t>
            </a:r>
          </a:p>
          <a:p>
            <a:pPr algn="l"/>
            <a:endParaRPr lang="en-US"/>
          </a:p>
        </p:txBody>
      </p:sp>
      <p:sp>
        <p:nvSpPr>
          <p:cNvPr id="14" name="Vì sao quan trọng?"/>
          <p:cNvSpPr/>
          <p:nvPr/>
        </p:nvSpPr>
        <p:spPr>
          <a:xfrm>
            <a:off x="3379887" y="3283595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Vì sao quan trọng?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2320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89704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7072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44405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1823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3–5: trình tự thời gian, nguyên nhân/kết quả, nguồn tư liệu, quan điểm, bản đồ, sơ đồ tổ chức, nhận định và bằng chứng.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事件顺序路径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顺序（事件排序）"/>
          <p:cNvSpPr/>
          <p:nvPr/>
        </p:nvSpPr>
        <p:spPr>
          <a:xfrm>
            <a:off x="420886" y="4460230"/>
            <a:ext cx="9216628" cy="2397472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顺序（事件排序）</a:t>
            </a:r>
          </a:p>
          <a:p>
            <a:pPr algn="ctr"/>
            <a:endParaRPr lang="en-US"/>
          </a:p>
        </p:txBody>
      </p:sp>
      <p:sp>
        <p:nvSpPr>
          <p:cNvPr id="8" name="在哪里发生？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在哪里发生？</a:t>
            </a:r>
          </a:p>
          <a:p>
            <a:pPr algn="l"/>
            <a:endParaRPr lang="en-US"/>
          </a:p>
        </p:txBody>
      </p:sp>
      <p:sp>
        <p:nvSpPr>
          <p:cNvPr id="9" name="事件"/>
          <p:cNvSpPr/>
          <p:nvPr/>
        </p:nvSpPr>
        <p:spPr>
          <a:xfrm>
            <a:off x="3379887" y="1133921"/>
            <a:ext cx="3298478" cy="2070348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事件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什么时候发生？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什么时候发生？</a:t>
            </a:r>
          </a:p>
          <a:p>
            <a:pPr algn="l"/>
            <a:endParaRPr lang="en-US"/>
          </a:p>
        </p:txBody>
      </p:sp>
      <p:sp>
        <p:nvSpPr>
          <p:cNvPr id="11" name="开始"/>
          <p:cNvSpPr/>
          <p:nvPr/>
        </p:nvSpPr>
        <p:spPr>
          <a:xfrm>
            <a:off x="420886" y="226114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开始</a:t>
            </a:r>
          </a:p>
          <a:p>
            <a:pPr algn="l"/>
            <a:endParaRPr lang="en-US"/>
          </a:p>
        </p:txBody>
      </p:sp>
      <p:sp>
        <p:nvSpPr>
          <p:cNvPr id="12" name="谁参与了？"/>
          <p:cNvSpPr/>
          <p:nvPr/>
        </p:nvSpPr>
        <p:spPr>
          <a:xfrm>
            <a:off x="6751439" y="226114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谁参与了？</a:t>
            </a:r>
          </a:p>
          <a:p>
            <a:pPr algn="l"/>
            <a:endParaRPr lang="en-US"/>
          </a:p>
        </p:txBody>
      </p:sp>
      <p:sp>
        <p:nvSpPr>
          <p:cNvPr id="13" name="结束"/>
          <p:cNvSpPr/>
          <p:nvPr/>
        </p:nvSpPr>
        <p:spPr>
          <a:xfrm>
            <a:off x="420886" y="3277344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结束</a:t>
            </a:r>
          </a:p>
          <a:p>
            <a:pPr algn="l"/>
            <a:endParaRPr lang="en-US"/>
          </a:p>
        </p:txBody>
      </p:sp>
      <p:sp>
        <p:nvSpPr>
          <p:cNvPr id="14" name="为什么重要？"/>
          <p:cNvSpPr/>
          <p:nvPr/>
        </p:nvSpPr>
        <p:spPr>
          <a:xfrm>
            <a:off x="3379887" y="3277344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为什么重要？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32734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90656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8024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53930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2776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3–5年级：时间顺序、因果关系、资料来源、观点、地图、图示组织、主张与证据。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घटना क्रम पथ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क्रम (घटनाओं का क्रम)"/>
          <p:cNvSpPr/>
          <p:nvPr/>
        </p:nvSpPr>
        <p:spPr>
          <a:xfrm>
            <a:off x="420886" y="4455468"/>
            <a:ext cx="9216628" cy="2402235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क्रम (घटनाओं का क्रम)</a:t>
            </a:r>
          </a:p>
          <a:p>
            <a:pPr algn="ctr"/>
            <a:endParaRPr lang="en-US"/>
          </a:p>
        </p:txBody>
      </p:sp>
      <p:sp>
        <p:nvSpPr>
          <p:cNvPr id="8" name="यह कहाँ हुआ?"/>
          <p:cNvSpPr/>
          <p:nvPr/>
        </p:nvSpPr>
        <p:spPr>
          <a:xfrm>
            <a:off x="420886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कहाँ हुआ?</a:t>
            </a:r>
          </a:p>
          <a:p>
            <a:pPr algn="l"/>
            <a:endParaRPr lang="en-US"/>
          </a:p>
        </p:txBody>
      </p:sp>
      <p:sp>
        <p:nvSpPr>
          <p:cNvPr id="9" name="घटना"/>
          <p:cNvSpPr/>
          <p:nvPr/>
        </p:nvSpPr>
        <p:spPr>
          <a:xfrm>
            <a:off x="3379887" y="1133921"/>
            <a:ext cx="3298478" cy="2067371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घटना</a:t>
            </a:r>
          </a:p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यह कब हुआ?"/>
          <p:cNvSpPr/>
          <p:nvPr/>
        </p:nvSpPr>
        <p:spPr>
          <a:xfrm>
            <a:off x="6751439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कब हुआ?</a:t>
            </a:r>
          </a:p>
          <a:p>
            <a:pPr algn="l"/>
            <a:endParaRPr lang="en-US"/>
          </a:p>
        </p:txBody>
      </p:sp>
      <p:sp>
        <p:nvSpPr>
          <p:cNvPr id="11" name="शुरुआत"/>
          <p:cNvSpPr/>
          <p:nvPr/>
        </p:nvSpPr>
        <p:spPr>
          <a:xfrm>
            <a:off x="420886" y="22595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शुरुआत</a:t>
            </a:r>
          </a:p>
          <a:p>
            <a:pPr algn="l"/>
            <a:endParaRPr lang="en-US"/>
          </a:p>
        </p:txBody>
      </p:sp>
      <p:sp>
        <p:nvSpPr>
          <p:cNvPr id="12" name="कौन शामिल था?"/>
          <p:cNvSpPr/>
          <p:nvPr/>
        </p:nvSpPr>
        <p:spPr>
          <a:xfrm>
            <a:off x="6751439" y="22595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कौन शामिल था?</a:t>
            </a:r>
          </a:p>
          <a:p>
            <a:pPr algn="l"/>
            <a:endParaRPr lang="en-US"/>
          </a:p>
        </p:txBody>
      </p:sp>
      <p:sp>
        <p:nvSpPr>
          <p:cNvPr id="13" name="अंत"/>
          <p:cNvSpPr/>
          <p:nvPr/>
        </p:nvSpPr>
        <p:spPr>
          <a:xfrm>
            <a:off x="420886" y="3274368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अंत</a:t>
            </a:r>
          </a:p>
          <a:p>
            <a:pPr algn="l"/>
            <a:endParaRPr lang="en-US"/>
          </a:p>
        </p:txBody>
      </p:sp>
      <p:sp>
        <p:nvSpPr>
          <p:cNvPr id="14" name="यह महत्वपूर्ण क्यों था?"/>
          <p:cNvSpPr/>
          <p:nvPr/>
        </p:nvSpPr>
        <p:spPr>
          <a:xfrm>
            <a:off x="3379887" y="3274368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यह महत्वपूर्ण क्यों था?</a:t>
            </a:r>
          </a:p>
          <a:p>
            <a:pPr algn="l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549473" y="4737497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549473" y="491132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549473" y="5085011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549473" y="525869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549473" y="5432524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3–5: कालक्रम, कारण/प्रभाव, स्रोत, दृष्टिकोण, मानचित्र, ग्राफिक आयोजक, दावे और प्रमाण।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مسار تسلسل الحدث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تسلسل (ترتيب الأحداث)"/>
          <p:cNvSpPr/>
          <p:nvPr/>
        </p:nvSpPr>
        <p:spPr>
          <a:xfrm>
            <a:off x="420886" y="4407843"/>
            <a:ext cx="9216628" cy="244986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التسلسل (ترتيب الأحداث)</a:t>
            </a:r>
          </a:p>
          <a:p>
            <a:pPr algn="ctr" rtl="1"/>
            <a:endParaRPr lang="en-US"/>
          </a:p>
        </p:txBody>
      </p:sp>
      <p:sp>
        <p:nvSpPr>
          <p:cNvPr id="8" name="أين حدث؟"/>
          <p:cNvSpPr/>
          <p:nvPr/>
        </p:nvSpPr>
        <p:spPr>
          <a:xfrm>
            <a:off x="6751588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أين حدث؟</a:t>
            </a:r>
          </a:p>
          <a:p>
            <a:pPr algn="l" rtl="1"/>
            <a:endParaRPr lang="en-US"/>
          </a:p>
        </p:txBody>
      </p:sp>
      <p:sp>
        <p:nvSpPr>
          <p:cNvPr id="9" name="الحدث"/>
          <p:cNvSpPr/>
          <p:nvPr/>
        </p:nvSpPr>
        <p:spPr>
          <a:xfrm>
            <a:off x="3380036" y="1133921"/>
            <a:ext cx="3298478" cy="2036713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الحدث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متى حدث؟"/>
          <p:cNvSpPr/>
          <p:nvPr/>
        </p:nvSpPr>
        <p:spPr>
          <a:xfrm>
            <a:off x="421035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متى حدث؟</a:t>
            </a:r>
          </a:p>
          <a:p>
            <a:pPr algn="l" rtl="1"/>
            <a:endParaRPr lang="en-US"/>
          </a:p>
        </p:txBody>
      </p:sp>
      <p:sp>
        <p:nvSpPr>
          <p:cNvPr id="11" name="البداية"/>
          <p:cNvSpPr/>
          <p:nvPr/>
        </p:nvSpPr>
        <p:spPr>
          <a:xfrm>
            <a:off x="6751588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البداية</a:t>
            </a:r>
          </a:p>
          <a:p>
            <a:pPr algn="l" rtl="1"/>
            <a:endParaRPr lang="en-US"/>
          </a:p>
        </p:txBody>
      </p:sp>
      <p:sp>
        <p:nvSpPr>
          <p:cNvPr id="12" name="من شارك؟"/>
          <p:cNvSpPr/>
          <p:nvPr/>
        </p:nvSpPr>
        <p:spPr>
          <a:xfrm>
            <a:off x="421035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من شارك؟</a:t>
            </a:r>
          </a:p>
          <a:p>
            <a:pPr algn="l" rtl="1"/>
            <a:endParaRPr lang="en-US"/>
          </a:p>
        </p:txBody>
      </p:sp>
      <p:sp>
        <p:nvSpPr>
          <p:cNvPr id="13" name="النهاية"/>
          <p:cNvSpPr/>
          <p:nvPr/>
        </p:nvSpPr>
        <p:spPr>
          <a:xfrm>
            <a:off x="6751588" y="32437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النهاية</a:t>
            </a:r>
          </a:p>
          <a:p>
            <a:pPr algn="l" rtl="1"/>
            <a:endParaRPr lang="en-US"/>
          </a:p>
        </p:txBody>
      </p:sp>
      <p:sp>
        <p:nvSpPr>
          <p:cNvPr id="14" name="لماذا كان مهمًا؟"/>
          <p:cNvSpPr/>
          <p:nvPr/>
        </p:nvSpPr>
        <p:spPr>
          <a:xfrm>
            <a:off x="3380036" y="3243709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لماذا كان مهمًا؟</a:t>
            </a:r>
          </a:p>
          <a:p>
            <a:pPr algn="l" rtl="1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9402961" y="478512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9402961" y="495895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9402961" y="513263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9402961" y="530631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9402961" y="548014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3–5: التسلسل الزمني، السبب والنتيجة، المصادر، وجهة النظر، الخرائط، المنظمات الرسومية، الادعاءات والأدلة.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واقعاتی ترتیب کا راستہ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3-5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ترتیب (واقعات کی ترتیب)"/>
          <p:cNvSpPr/>
          <p:nvPr/>
        </p:nvSpPr>
        <p:spPr>
          <a:xfrm>
            <a:off x="420886" y="4407843"/>
            <a:ext cx="9216628" cy="2449860"/>
          </a:xfrm>
          <a:prstGeom prst="roundRect">
            <a:avLst>
              <a:gd name="adj" fmla="val 6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ترتیب (واقعات کی ترتیب)</a:t>
            </a:r>
          </a:p>
          <a:p>
            <a:pPr algn="ctr" rtl="1"/>
            <a:endParaRPr lang="en-US"/>
          </a:p>
        </p:txBody>
      </p:sp>
      <p:sp>
        <p:nvSpPr>
          <p:cNvPr id="8" name="یہ کہاں ہوا؟"/>
          <p:cNvSpPr/>
          <p:nvPr/>
        </p:nvSpPr>
        <p:spPr>
          <a:xfrm>
            <a:off x="6751588" y="1133921"/>
            <a:ext cx="2885926" cy="681484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کہاں ہوا؟</a:t>
            </a:r>
          </a:p>
          <a:p>
            <a:pPr algn="l" rtl="1"/>
            <a:endParaRPr lang="en-US"/>
          </a:p>
        </p:txBody>
      </p:sp>
      <p:sp>
        <p:nvSpPr>
          <p:cNvPr id="9" name="واقعہ"/>
          <p:cNvSpPr/>
          <p:nvPr/>
        </p:nvSpPr>
        <p:spPr>
          <a:xfrm>
            <a:off x="3380036" y="1133921"/>
            <a:ext cx="3298478" cy="2036713"/>
          </a:xfrm>
          <a:prstGeom prst="roundRect">
            <a:avLst>
              <a:gd name="adj" fmla="val 6000"/>
            </a:avLst>
          </a:prstGeom>
          <a:noFill/>
          <a:ln w="28575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ctr" rtl="1"/>
            <a:r>
              <a:rPr lang="en-US" sz="900" b="1" dirty="0">
                <a:solidFill>
                  <a:srgbClr val="111111"/>
                </a:solidFill>
                <a:latin typeface="Arial"/>
                <a:cs typeface="Arial"/>
              </a:rPr>
              <a:t>واقعہ</a:t>
            </a:r>
          </a:p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________________</a:t>
            </a:r>
          </a:p>
        </p:txBody>
      </p:sp>
      <p:sp>
        <p:nvSpPr>
          <p:cNvPr id="10" name="یہ کب ہوا؟"/>
          <p:cNvSpPr/>
          <p:nvPr/>
        </p:nvSpPr>
        <p:spPr>
          <a:xfrm>
            <a:off x="421035" y="1133921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کب ہوا؟</a:t>
            </a:r>
          </a:p>
          <a:p>
            <a:pPr algn="l" rtl="1"/>
            <a:endParaRPr lang="en-US"/>
          </a:p>
        </p:txBody>
      </p:sp>
      <p:sp>
        <p:nvSpPr>
          <p:cNvPr id="11" name="آغاز"/>
          <p:cNvSpPr/>
          <p:nvPr/>
        </p:nvSpPr>
        <p:spPr>
          <a:xfrm>
            <a:off x="6751588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آغاز</a:t>
            </a:r>
          </a:p>
          <a:p>
            <a:pPr algn="l" rtl="1"/>
            <a:endParaRPr lang="en-US"/>
          </a:p>
        </p:txBody>
      </p:sp>
      <p:sp>
        <p:nvSpPr>
          <p:cNvPr id="12" name="کون شامل تھا؟"/>
          <p:cNvSpPr/>
          <p:nvPr/>
        </p:nvSpPr>
        <p:spPr>
          <a:xfrm>
            <a:off x="421035" y="2243286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کون شامل تھا؟</a:t>
            </a:r>
          </a:p>
          <a:p>
            <a:pPr algn="l" rtl="1"/>
            <a:endParaRPr lang="en-US"/>
          </a:p>
        </p:txBody>
      </p:sp>
      <p:sp>
        <p:nvSpPr>
          <p:cNvPr id="13" name="اختتام"/>
          <p:cNvSpPr/>
          <p:nvPr/>
        </p:nvSpPr>
        <p:spPr>
          <a:xfrm>
            <a:off x="6751588" y="3243709"/>
            <a:ext cx="2885926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اختتام</a:t>
            </a:r>
          </a:p>
          <a:p>
            <a:pPr algn="l" rtl="1"/>
            <a:endParaRPr lang="en-US"/>
          </a:p>
        </p:txBody>
      </p:sp>
      <p:sp>
        <p:nvSpPr>
          <p:cNvPr id="14" name="یہ اہم کیوں تھا؟"/>
          <p:cNvSpPr/>
          <p:nvPr/>
        </p:nvSpPr>
        <p:spPr>
          <a:xfrm>
            <a:off x="3380036" y="3243709"/>
            <a:ext cx="3298478" cy="662434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یہ اہم کیوں تھا؟</a:t>
            </a:r>
          </a:p>
          <a:p>
            <a:pPr algn="l" rtl="1"/>
            <a:endParaRPr lang="en-US"/>
          </a:p>
        </p:txBody>
      </p:sp>
      <p:sp>
        <p:nvSpPr>
          <p:cNvPr id="15" name="label"/>
          <p:cNvSpPr txBox="1"/>
          <p:nvPr/>
        </p:nvSpPr>
        <p:spPr>
          <a:xfrm>
            <a:off x="9402961" y="4785122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1.</a:t>
            </a:r>
          </a:p>
        </p:txBody>
      </p:sp>
      <p:sp>
        <p:nvSpPr>
          <p:cNvPr id="16" name="label"/>
          <p:cNvSpPr txBox="1"/>
          <p:nvPr/>
        </p:nvSpPr>
        <p:spPr>
          <a:xfrm>
            <a:off x="9402961" y="4958953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2.</a:t>
            </a:r>
          </a:p>
        </p:txBody>
      </p:sp>
      <p:sp>
        <p:nvSpPr>
          <p:cNvPr id="17" name="label"/>
          <p:cNvSpPr txBox="1"/>
          <p:nvPr/>
        </p:nvSpPr>
        <p:spPr>
          <a:xfrm>
            <a:off x="9402961" y="5132636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3.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9402961" y="5306318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4.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9402961" y="5480149"/>
            <a:ext cx="142542" cy="1977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1000" b="1" dirty="0">
                <a:solidFill>
                  <a:srgbClr val="111111"/>
                </a:solidFill>
                <a:latin typeface="Arial"/>
                <a:cs typeface="Arial"/>
              </a:rPr>
              <a:t>5.</a:t>
            </a:r>
          </a:p>
        </p:txBody>
      </p:sp>
      <p:cxnSp>
        <p:nvCxnSpPr>
          <p:cNvPr id="20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21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22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3–5: زمانی ترتیب، سبب و اثر، ذرائع، نقطۂ نظر، نقشے، گرافک آرگنائزر، دعوے اور شواہد۔</a:t>
            </a:r>
          </a:p>
        </p:txBody>
      </p:sp>
      <p:sp>
        <p:nvSpPr>
          <p:cNvPr id="23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 Sequence Trail — 7 languages</dc:title>
  <dc:creator>Miguel Guhlin / Miguel Guhlin</dc:creator>
  <cp:lastModifiedBy>Miguel Guhlin</cp:lastModifiedBy>
</cp:coreProperties>
</file>