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058400" cy="7772400"/>
  <p:notesSz cx="7772400" cy="100584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Continuity and Change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Before"/>
          <p:cNvSpPr/>
          <p:nvPr/>
        </p:nvSpPr>
        <p:spPr>
          <a:xfrm>
            <a:off x="420886" y="1133921"/>
            <a:ext cx="3017341" cy="218018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Before</a:t>
            </a:r>
          </a:p>
          <a:p>
            <a:pPr algn="l"/>
            <a:endParaRPr lang="en-US"/>
          </a:p>
        </p:txBody>
      </p:sp>
      <p:sp>
        <p:nvSpPr>
          <p:cNvPr id="8" name="During"/>
          <p:cNvSpPr/>
          <p:nvPr/>
        </p:nvSpPr>
        <p:spPr>
          <a:xfrm>
            <a:off x="3520380" y="1133921"/>
            <a:ext cx="3017490" cy="218018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During</a:t>
            </a:r>
          </a:p>
          <a:p>
            <a:pPr algn="l"/>
            <a:endParaRPr lang="en-US"/>
          </a:p>
        </p:txBody>
      </p:sp>
      <p:sp>
        <p:nvSpPr>
          <p:cNvPr id="9" name="After"/>
          <p:cNvSpPr/>
          <p:nvPr/>
        </p:nvSpPr>
        <p:spPr>
          <a:xfrm>
            <a:off x="6620024" y="1133921"/>
            <a:ext cx="3017341" cy="218018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After</a:t>
            </a:r>
          </a:p>
          <a:p>
            <a:pPr algn="l"/>
            <a:endParaRPr lang="en-US"/>
          </a:p>
        </p:txBody>
      </p:sp>
      <p:sp>
        <p:nvSpPr>
          <p:cNvPr id="10" name="Changed Significantly"/>
          <p:cNvSpPr/>
          <p:nvPr/>
        </p:nvSpPr>
        <p:spPr>
          <a:xfrm>
            <a:off x="420886" y="3396258"/>
            <a:ext cx="3017341" cy="196215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Changed Significantly</a:t>
            </a:r>
          </a:p>
          <a:p>
            <a:pPr algn="l"/>
            <a:endParaRPr lang="en-US"/>
          </a:p>
        </p:txBody>
      </p:sp>
      <p:sp>
        <p:nvSpPr>
          <p:cNvPr id="11" name="Changed Gradually"/>
          <p:cNvSpPr/>
          <p:nvPr/>
        </p:nvSpPr>
        <p:spPr>
          <a:xfrm>
            <a:off x="3520380" y="3396258"/>
            <a:ext cx="3017490" cy="196215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Changed Gradually</a:t>
            </a:r>
          </a:p>
          <a:p>
            <a:pPr algn="l"/>
            <a:endParaRPr lang="en-US"/>
          </a:p>
        </p:txBody>
      </p:sp>
      <p:sp>
        <p:nvSpPr>
          <p:cNvPr id="12" name="What stayed the same?"/>
          <p:cNvSpPr/>
          <p:nvPr/>
        </p:nvSpPr>
        <p:spPr>
          <a:xfrm>
            <a:off x="6620024" y="3396258"/>
            <a:ext cx="3017341" cy="196215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What stayed the same?</a:t>
            </a:r>
          </a:p>
          <a:p>
            <a:pPr algn="l"/>
            <a:endParaRPr lang="en-US"/>
          </a:p>
        </p:txBody>
      </p:sp>
      <p:sp>
        <p:nvSpPr>
          <p:cNvPr id="13" name="Why?"/>
          <p:cNvSpPr/>
          <p:nvPr/>
        </p:nvSpPr>
        <p:spPr>
          <a:xfrm>
            <a:off x="420886" y="5440561"/>
            <a:ext cx="4562475" cy="14169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Why?</a:t>
            </a:r>
          </a:p>
          <a:p>
            <a:pPr algn="l"/>
            <a:endParaRPr lang="en-US"/>
          </a:p>
        </p:txBody>
      </p:sp>
      <p:sp>
        <p:nvSpPr>
          <p:cNvPr id="14" name="Your Judgment"/>
          <p:cNvSpPr/>
          <p:nvPr/>
        </p:nvSpPr>
        <p:spPr>
          <a:xfrm>
            <a:off x="5074741" y="5440561"/>
            <a:ext cx="4562624" cy="14169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Your Judgment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9-12: historical inquiry, chronology, causation, perspective, source evaluation, claims/evidence, geographic interpretation, visual communication.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Continuidad y cambio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Antes"/>
          <p:cNvSpPr/>
          <p:nvPr/>
        </p:nvSpPr>
        <p:spPr>
          <a:xfrm>
            <a:off x="420886" y="1133921"/>
            <a:ext cx="3017341" cy="218018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Antes</a:t>
            </a:r>
          </a:p>
          <a:p>
            <a:pPr algn="l"/>
            <a:endParaRPr lang="en-US"/>
          </a:p>
        </p:txBody>
      </p:sp>
      <p:sp>
        <p:nvSpPr>
          <p:cNvPr id="8" name="Durante"/>
          <p:cNvSpPr/>
          <p:nvPr/>
        </p:nvSpPr>
        <p:spPr>
          <a:xfrm>
            <a:off x="3520380" y="1133921"/>
            <a:ext cx="3017490" cy="218018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Durante</a:t>
            </a:r>
          </a:p>
          <a:p>
            <a:pPr algn="l"/>
            <a:endParaRPr lang="en-US"/>
          </a:p>
        </p:txBody>
      </p:sp>
      <p:sp>
        <p:nvSpPr>
          <p:cNvPr id="9" name="Después"/>
          <p:cNvSpPr/>
          <p:nvPr/>
        </p:nvSpPr>
        <p:spPr>
          <a:xfrm>
            <a:off x="6620024" y="1133921"/>
            <a:ext cx="3017341" cy="218018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Después</a:t>
            </a:r>
          </a:p>
          <a:p>
            <a:pPr algn="l"/>
            <a:endParaRPr lang="en-US"/>
          </a:p>
        </p:txBody>
      </p:sp>
      <p:sp>
        <p:nvSpPr>
          <p:cNvPr id="10" name="Cambió mucho"/>
          <p:cNvSpPr/>
          <p:nvPr/>
        </p:nvSpPr>
        <p:spPr>
          <a:xfrm>
            <a:off x="420886" y="3396258"/>
            <a:ext cx="3017341" cy="196215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Cambió mucho</a:t>
            </a:r>
          </a:p>
          <a:p>
            <a:pPr algn="l"/>
            <a:endParaRPr lang="en-US"/>
          </a:p>
        </p:txBody>
      </p:sp>
      <p:sp>
        <p:nvSpPr>
          <p:cNvPr id="11" name="Cambió gradualmente"/>
          <p:cNvSpPr/>
          <p:nvPr/>
        </p:nvSpPr>
        <p:spPr>
          <a:xfrm>
            <a:off x="3520380" y="3396258"/>
            <a:ext cx="3017490" cy="196215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Cambió gradualmente</a:t>
            </a:r>
          </a:p>
          <a:p>
            <a:pPr algn="l"/>
            <a:endParaRPr lang="en-US"/>
          </a:p>
        </p:txBody>
      </p:sp>
      <p:sp>
        <p:nvSpPr>
          <p:cNvPr id="12" name="¿Qué permaneció igual?"/>
          <p:cNvSpPr/>
          <p:nvPr/>
        </p:nvSpPr>
        <p:spPr>
          <a:xfrm>
            <a:off x="6620024" y="3396258"/>
            <a:ext cx="3017341" cy="196215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permaneció igual?</a:t>
            </a:r>
          </a:p>
          <a:p>
            <a:pPr algn="l"/>
            <a:endParaRPr lang="en-US"/>
          </a:p>
        </p:txBody>
      </p:sp>
      <p:sp>
        <p:nvSpPr>
          <p:cNvPr id="13" name="¿Por qué?"/>
          <p:cNvSpPr/>
          <p:nvPr/>
        </p:nvSpPr>
        <p:spPr>
          <a:xfrm>
            <a:off x="420886" y="5440561"/>
            <a:ext cx="4562475" cy="14169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¿Por qué?</a:t>
            </a:r>
          </a:p>
          <a:p>
            <a:pPr algn="l"/>
            <a:endParaRPr lang="en-US"/>
          </a:p>
        </p:txBody>
      </p:sp>
      <p:sp>
        <p:nvSpPr>
          <p:cNvPr id="14" name="Tu juicio"/>
          <p:cNvSpPr/>
          <p:nvPr/>
        </p:nvSpPr>
        <p:spPr>
          <a:xfrm>
            <a:off x="5074741" y="5440561"/>
            <a:ext cx="4562624" cy="14169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Tu juicio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13228"/>
            <a:ext cx="4282494" cy="420535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9–12: investigación histórica, cronología, causalidad, perspectiva, evaluación de fuentes, afirmaciones y evidencia, interpretación geográfica y comunicación visual.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Liên tục và thay đổi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Trước"/>
          <p:cNvSpPr/>
          <p:nvPr/>
        </p:nvSpPr>
        <p:spPr>
          <a:xfrm>
            <a:off x="420886" y="1133921"/>
            <a:ext cx="3017341" cy="218018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Trước</a:t>
            </a:r>
          </a:p>
          <a:p>
            <a:pPr algn="l"/>
            <a:endParaRPr lang="en-US"/>
          </a:p>
        </p:txBody>
      </p:sp>
      <p:sp>
        <p:nvSpPr>
          <p:cNvPr id="8" name="Trong thời kỳ"/>
          <p:cNvSpPr/>
          <p:nvPr/>
        </p:nvSpPr>
        <p:spPr>
          <a:xfrm>
            <a:off x="3520380" y="1133921"/>
            <a:ext cx="3017490" cy="218018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Trong thời kỳ</a:t>
            </a:r>
          </a:p>
          <a:p>
            <a:pPr algn="l"/>
            <a:endParaRPr lang="en-US"/>
          </a:p>
        </p:txBody>
      </p:sp>
      <p:sp>
        <p:nvSpPr>
          <p:cNvPr id="9" name="Sau"/>
          <p:cNvSpPr/>
          <p:nvPr/>
        </p:nvSpPr>
        <p:spPr>
          <a:xfrm>
            <a:off x="6620024" y="1133921"/>
            <a:ext cx="3017341" cy="218018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Sau</a:t>
            </a:r>
          </a:p>
          <a:p>
            <a:pPr algn="l"/>
            <a:endParaRPr lang="en-US"/>
          </a:p>
        </p:txBody>
      </p:sp>
      <p:sp>
        <p:nvSpPr>
          <p:cNvPr id="10" name="Thay đổi lớn"/>
          <p:cNvSpPr/>
          <p:nvPr/>
        </p:nvSpPr>
        <p:spPr>
          <a:xfrm>
            <a:off x="420886" y="3396258"/>
            <a:ext cx="3017341" cy="196215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Thay đổi lớn</a:t>
            </a:r>
          </a:p>
          <a:p>
            <a:pPr algn="l"/>
            <a:endParaRPr lang="en-US"/>
          </a:p>
        </p:txBody>
      </p:sp>
      <p:sp>
        <p:nvSpPr>
          <p:cNvPr id="11" name="Thay đổi dần"/>
          <p:cNvSpPr/>
          <p:nvPr/>
        </p:nvSpPr>
        <p:spPr>
          <a:xfrm>
            <a:off x="3520380" y="3396258"/>
            <a:ext cx="3017490" cy="196215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Thay đổi dần</a:t>
            </a:r>
          </a:p>
          <a:p>
            <a:pPr algn="l"/>
            <a:endParaRPr lang="en-US"/>
          </a:p>
        </p:txBody>
      </p:sp>
      <p:sp>
        <p:nvSpPr>
          <p:cNvPr id="12" name="Điều gì vẫn như cũ?"/>
          <p:cNvSpPr/>
          <p:nvPr/>
        </p:nvSpPr>
        <p:spPr>
          <a:xfrm>
            <a:off x="6620024" y="3396258"/>
            <a:ext cx="3017341" cy="196215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Điều gì vẫn như cũ?</a:t>
            </a:r>
          </a:p>
          <a:p>
            <a:pPr algn="l"/>
            <a:endParaRPr lang="en-US"/>
          </a:p>
        </p:txBody>
      </p:sp>
      <p:sp>
        <p:nvSpPr>
          <p:cNvPr id="13" name="Vì sao?"/>
          <p:cNvSpPr/>
          <p:nvPr/>
        </p:nvSpPr>
        <p:spPr>
          <a:xfrm>
            <a:off x="420886" y="5440561"/>
            <a:ext cx="4562475" cy="14169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Vì sao?</a:t>
            </a:r>
          </a:p>
          <a:p>
            <a:pPr algn="l"/>
            <a:endParaRPr lang="en-US"/>
          </a:p>
        </p:txBody>
      </p:sp>
      <p:sp>
        <p:nvSpPr>
          <p:cNvPr id="14" name="Nhận định của bạn"/>
          <p:cNvSpPr/>
          <p:nvPr/>
        </p:nvSpPr>
        <p:spPr>
          <a:xfrm>
            <a:off x="5074741" y="5440561"/>
            <a:ext cx="4562624" cy="14169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Nhận định của bạn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13228"/>
            <a:ext cx="4282494" cy="420535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9–12: điều tra lịch sử, trình tự thời gian, quan hệ nhân quả, góc nhìn, đánh giá nguồn tư liệu, nhận định/bằng chứng, diễn giải địa lý và trình bày trực quan.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427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延续与变化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38051"/>
            <a:ext cx="4213735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28526"/>
            <a:ext cx="2505039" cy="2263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之前"/>
          <p:cNvSpPr/>
          <p:nvPr/>
        </p:nvSpPr>
        <p:spPr>
          <a:xfrm>
            <a:off x="420886" y="1133921"/>
            <a:ext cx="3017341" cy="218018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之前</a:t>
            </a:r>
          </a:p>
          <a:p>
            <a:pPr algn="l"/>
            <a:endParaRPr lang="en-US"/>
          </a:p>
        </p:txBody>
      </p:sp>
      <p:sp>
        <p:nvSpPr>
          <p:cNvPr id="8" name="期间"/>
          <p:cNvSpPr/>
          <p:nvPr/>
        </p:nvSpPr>
        <p:spPr>
          <a:xfrm>
            <a:off x="3520380" y="1133921"/>
            <a:ext cx="3017490" cy="218018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期间</a:t>
            </a:r>
          </a:p>
          <a:p>
            <a:pPr algn="l"/>
            <a:endParaRPr lang="en-US"/>
          </a:p>
        </p:txBody>
      </p:sp>
      <p:sp>
        <p:nvSpPr>
          <p:cNvPr id="9" name="之后"/>
          <p:cNvSpPr/>
          <p:nvPr/>
        </p:nvSpPr>
        <p:spPr>
          <a:xfrm>
            <a:off x="6620024" y="1133921"/>
            <a:ext cx="3017341" cy="218018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之后</a:t>
            </a:r>
          </a:p>
          <a:p>
            <a:pPr algn="l"/>
            <a:endParaRPr lang="en-US"/>
          </a:p>
        </p:txBody>
      </p:sp>
      <p:sp>
        <p:nvSpPr>
          <p:cNvPr id="10" name="重大变化"/>
          <p:cNvSpPr/>
          <p:nvPr/>
        </p:nvSpPr>
        <p:spPr>
          <a:xfrm>
            <a:off x="420886" y="3396258"/>
            <a:ext cx="3017341" cy="196215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重大变化</a:t>
            </a:r>
          </a:p>
          <a:p>
            <a:pPr algn="l"/>
            <a:endParaRPr lang="en-US"/>
          </a:p>
        </p:txBody>
      </p:sp>
      <p:sp>
        <p:nvSpPr>
          <p:cNvPr id="11" name="逐渐变化"/>
          <p:cNvSpPr/>
          <p:nvPr/>
        </p:nvSpPr>
        <p:spPr>
          <a:xfrm>
            <a:off x="3520380" y="3396258"/>
            <a:ext cx="3017490" cy="196215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逐渐变化</a:t>
            </a:r>
          </a:p>
          <a:p>
            <a:pPr algn="l"/>
            <a:endParaRPr lang="en-US"/>
          </a:p>
        </p:txBody>
      </p:sp>
      <p:sp>
        <p:nvSpPr>
          <p:cNvPr id="12" name="什么保持不变？"/>
          <p:cNvSpPr/>
          <p:nvPr/>
        </p:nvSpPr>
        <p:spPr>
          <a:xfrm>
            <a:off x="6620024" y="3396258"/>
            <a:ext cx="3017341" cy="196215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什么保持不变？</a:t>
            </a:r>
          </a:p>
          <a:p>
            <a:pPr algn="l"/>
            <a:endParaRPr lang="en-US"/>
          </a:p>
        </p:txBody>
      </p:sp>
      <p:sp>
        <p:nvSpPr>
          <p:cNvPr id="13" name="为什么？"/>
          <p:cNvSpPr/>
          <p:nvPr/>
        </p:nvSpPr>
        <p:spPr>
          <a:xfrm>
            <a:off x="420886" y="5440561"/>
            <a:ext cx="4562475" cy="14169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为什么？</a:t>
            </a:r>
          </a:p>
          <a:p>
            <a:pPr algn="l"/>
            <a:endParaRPr lang="en-US"/>
          </a:p>
        </p:txBody>
      </p:sp>
      <p:sp>
        <p:nvSpPr>
          <p:cNvPr id="14" name="你的判断"/>
          <p:cNvSpPr/>
          <p:nvPr/>
        </p:nvSpPr>
        <p:spPr>
          <a:xfrm>
            <a:off x="5074741" y="5440561"/>
            <a:ext cx="4562624" cy="14169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你的判断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9–12年级：历史探究、时间顺序、因果关系、观点、资料来源评估、主张与证据、地理解读、视觉表达。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निरंतरता और परिवर्तन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पहले"/>
          <p:cNvSpPr/>
          <p:nvPr/>
        </p:nvSpPr>
        <p:spPr>
          <a:xfrm>
            <a:off x="420886" y="1133921"/>
            <a:ext cx="3017341" cy="218018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पहले</a:t>
            </a:r>
          </a:p>
          <a:p>
            <a:pPr algn="l"/>
            <a:endParaRPr lang="en-US"/>
          </a:p>
        </p:txBody>
      </p:sp>
      <p:sp>
        <p:nvSpPr>
          <p:cNvPr id="8" name="दौरान"/>
          <p:cNvSpPr/>
          <p:nvPr/>
        </p:nvSpPr>
        <p:spPr>
          <a:xfrm>
            <a:off x="3520380" y="1133921"/>
            <a:ext cx="3017490" cy="218018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दौरान</a:t>
            </a:r>
          </a:p>
          <a:p>
            <a:pPr algn="l"/>
            <a:endParaRPr lang="en-US"/>
          </a:p>
        </p:txBody>
      </p:sp>
      <p:sp>
        <p:nvSpPr>
          <p:cNvPr id="9" name="बाद में"/>
          <p:cNvSpPr/>
          <p:nvPr/>
        </p:nvSpPr>
        <p:spPr>
          <a:xfrm>
            <a:off x="6620024" y="1133921"/>
            <a:ext cx="3017341" cy="218018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बाद में</a:t>
            </a:r>
          </a:p>
          <a:p>
            <a:pPr algn="l"/>
            <a:endParaRPr lang="en-US"/>
          </a:p>
        </p:txBody>
      </p:sp>
      <p:sp>
        <p:nvSpPr>
          <p:cNvPr id="10" name="बहुत बदला"/>
          <p:cNvSpPr/>
          <p:nvPr/>
        </p:nvSpPr>
        <p:spPr>
          <a:xfrm>
            <a:off x="420886" y="3396258"/>
            <a:ext cx="3017341" cy="196215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बहुत बदला</a:t>
            </a:r>
          </a:p>
          <a:p>
            <a:pPr algn="l"/>
            <a:endParaRPr lang="en-US"/>
          </a:p>
        </p:txBody>
      </p:sp>
      <p:sp>
        <p:nvSpPr>
          <p:cNvPr id="11" name="धीरे-धीरे बदला"/>
          <p:cNvSpPr/>
          <p:nvPr/>
        </p:nvSpPr>
        <p:spPr>
          <a:xfrm>
            <a:off x="3520380" y="3396258"/>
            <a:ext cx="3017490" cy="196215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धीरे-धीरे बदला</a:t>
            </a:r>
          </a:p>
          <a:p>
            <a:pPr algn="l"/>
            <a:endParaRPr lang="en-US"/>
          </a:p>
        </p:txBody>
      </p:sp>
      <p:sp>
        <p:nvSpPr>
          <p:cNvPr id="12" name="क्या समान रहा?"/>
          <p:cNvSpPr/>
          <p:nvPr/>
        </p:nvSpPr>
        <p:spPr>
          <a:xfrm>
            <a:off x="6620024" y="3396258"/>
            <a:ext cx="3017341" cy="196215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क्या समान रहा?</a:t>
            </a:r>
          </a:p>
          <a:p>
            <a:pPr algn="l"/>
            <a:endParaRPr lang="en-US"/>
          </a:p>
        </p:txBody>
      </p:sp>
      <p:sp>
        <p:nvSpPr>
          <p:cNvPr id="13" name="क्यों?"/>
          <p:cNvSpPr/>
          <p:nvPr/>
        </p:nvSpPr>
        <p:spPr>
          <a:xfrm>
            <a:off x="420886" y="5440561"/>
            <a:ext cx="4562475" cy="14169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क्यों?</a:t>
            </a:r>
          </a:p>
          <a:p>
            <a:pPr algn="l"/>
            <a:endParaRPr lang="en-US"/>
          </a:p>
        </p:txBody>
      </p:sp>
      <p:sp>
        <p:nvSpPr>
          <p:cNvPr id="14" name="आपका निर्णय"/>
          <p:cNvSpPr/>
          <p:nvPr/>
        </p:nvSpPr>
        <p:spPr>
          <a:xfrm>
            <a:off x="5074741" y="5440561"/>
            <a:ext cx="4562624" cy="14169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आपका निर्णय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9–12: ऐतिहासिक अन्वेषण, कालक्रम, कारण-कार्य संबंध, दृष्टिकोण, स्रोत मूल्यांकन, दावे/प्रमाण, भौगोलिक व्याख्या और दृश्य संचार।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الاستمرارية والتغيير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قبل"/>
          <p:cNvSpPr/>
          <p:nvPr/>
        </p:nvSpPr>
        <p:spPr>
          <a:xfrm>
            <a:off x="6620173" y="1133921"/>
            <a:ext cx="3017341" cy="218018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قبل</a:t>
            </a:r>
          </a:p>
          <a:p>
            <a:pPr algn="l" rtl="1"/>
            <a:endParaRPr lang="en-US"/>
          </a:p>
        </p:txBody>
      </p:sp>
      <p:sp>
        <p:nvSpPr>
          <p:cNvPr id="8" name="أثناء"/>
          <p:cNvSpPr/>
          <p:nvPr/>
        </p:nvSpPr>
        <p:spPr>
          <a:xfrm>
            <a:off x="3520529" y="1133921"/>
            <a:ext cx="3017490" cy="218018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أثناء</a:t>
            </a:r>
          </a:p>
          <a:p>
            <a:pPr algn="l" rtl="1"/>
            <a:endParaRPr lang="en-US"/>
          </a:p>
        </p:txBody>
      </p:sp>
      <p:sp>
        <p:nvSpPr>
          <p:cNvPr id="9" name="بعد"/>
          <p:cNvSpPr/>
          <p:nvPr/>
        </p:nvSpPr>
        <p:spPr>
          <a:xfrm>
            <a:off x="421035" y="1133921"/>
            <a:ext cx="3017341" cy="218018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بعد</a:t>
            </a:r>
          </a:p>
          <a:p>
            <a:pPr algn="l" rtl="1"/>
            <a:endParaRPr lang="en-US"/>
          </a:p>
        </p:txBody>
      </p:sp>
      <p:sp>
        <p:nvSpPr>
          <p:cNvPr id="10" name="تغيّر كثيرًا"/>
          <p:cNvSpPr/>
          <p:nvPr/>
        </p:nvSpPr>
        <p:spPr>
          <a:xfrm>
            <a:off x="6620173" y="3396258"/>
            <a:ext cx="3017341" cy="196215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تغيّر كثيرًا</a:t>
            </a:r>
          </a:p>
          <a:p>
            <a:pPr algn="l" rtl="1"/>
            <a:endParaRPr lang="en-US"/>
          </a:p>
        </p:txBody>
      </p:sp>
      <p:sp>
        <p:nvSpPr>
          <p:cNvPr id="11" name="تغيّر تدريجيًا"/>
          <p:cNvSpPr/>
          <p:nvPr/>
        </p:nvSpPr>
        <p:spPr>
          <a:xfrm>
            <a:off x="3520529" y="3396258"/>
            <a:ext cx="3017490" cy="196215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تغيّر تدريجيًا</a:t>
            </a:r>
          </a:p>
          <a:p>
            <a:pPr algn="l" rtl="1"/>
            <a:endParaRPr lang="en-US"/>
          </a:p>
        </p:txBody>
      </p:sp>
      <p:sp>
        <p:nvSpPr>
          <p:cNvPr id="12" name="ما الذي بقي كما هو؟"/>
          <p:cNvSpPr/>
          <p:nvPr/>
        </p:nvSpPr>
        <p:spPr>
          <a:xfrm>
            <a:off x="421035" y="3396258"/>
            <a:ext cx="3017341" cy="196215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ما الذي بقي كما هو؟</a:t>
            </a:r>
          </a:p>
          <a:p>
            <a:pPr algn="l" rtl="1"/>
            <a:endParaRPr lang="en-US"/>
          </a:p>
        </p:txBody>
      </p:sp>
      <p:sp>
        <p:nvSpPr>
          <p:cNvPr id="13" name="لماذا؟"/>
          <p:cNvSpPr/>
          <p:nvPr/>
        </p:nvSpPr>
        <p:spPr>
          <a:xfrm>
            <a:off x="5075039" y="5440561"/>
            <a:ext cx="4562475" cy="14169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لماذا؟</a:t>
            </a:r>
          </a:p>
          <a:p>
            <a:pPr algn="l" rtl="1"/>
            <a:endParaRPr lang="en-US"/>
          </a:p>
        </p:txBody>
      </p:sp>
      <p:sp>
        <p:nvSpPr>
          <p:cNvPr id="14" name="حكمك"/>
          <p:cNvSpPr/>
          <p:nvPr/>
        </p:nvSpPr>
        <p:spPr>
          <a:xfrm>
            <a:off x="421035" y="5440561"/>
            <a:ext cx="4562624" cy="14169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حكمك</a:t>
            </a:r>
          </a:p>
          <a:p>
            <a:pPr algn="l" rtl="1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9–12: الاستقصاء التاريخي، التسلسل الزمني، السببية، المنظور، تقييم المصادر، الادعاءات والأدلة، التفسير الجغرافي، والتواصل البصري.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تسلسل اور تبدیلی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پہلے"/>
          <p:cNvSpPr/>
          <p:nvPr/>
        </p:nvSpPr>
        <p:spPr>
          <a:xfrm>
            <a:off x="6620173" y="1133921"/>
            <a:ext cx="3017341" cy="218018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پہلے</a:t>
            </a:r>
          </a:p>
          <a:p>
            <a:pPr algn="l" rtl="1"/>
            <a:endParaRPr lang="en-US"/>
          </a:p>
        </p:txBody>
      </p:sp>
      <p:sp>
        <p:nvSpPr>
          <p:cNvPr id="8" name="دوران"/>
          <p:cNvSpPr/>
          <p:nvPr/>
        </p:nvSpPr>
        <p:spPr>
          <a:xfrm>
            <a:off x="3520529" y="1133921"/>
            <a:ext cx="3017490" cy="218018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دوران</a:t>
            </a:r>
          </a:p>
          <a:p>
            <a:pPr algn="l" rtl="1"/>
            <a:endParaRPr lang="en-US"/>
          </a:p>
        </p:txBody>
      </p:sp>
      <p:sp>
        <p:nvSpPr>
          <p:cNvPr id="9" name="بعد میں"/>
          <p:cNvSpPr/>
          <p:nvPr/>
        </p:nvSpPr>
        <p:spPr>
          <a:xfrm>
            <a:off x="421035" y="1133921"/>
            <a:ext cx="3017341" cy="218018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بعد میں</a:t>
            </a:r>
          </a:p>
          <a:p>
            <a:pPr algn="l" rtl="1"/>
            <a:endParaRPr lang="en-US"/>
          </a:p>
        </p:txBody>
      </p:sp>
      <p:sp>
        <p:nvSpPr>
          <p:cNvPr id="10" name="نمایاں تبدیلی"/>
          <p:cNvSpPr/>
          <p:nvPr/>
        </p:nvSpPr>
        <p:spPr>
          <a:xfrm>
            <a:off x="6620173" y="3396258"/>
            <a:ext cx="3017341" cy="196215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نمایاں تبدیلی</a:t>
            </a:r>
          </a:p>
          <a:p>
            <a:pPr algn="l" rtl="1"/>
            <a:endParaRPr lang="en-US"/>
          </a:p>
        </p:txBody>
      </p:sp>
      <p:sp>
        <p:nvSpPr>
          <p:cNvPr id="11" name="تدریجی تبدیلی"/>
          <p:cNvSpPr/>
          <p:nvPr/>
        </p:nvSpPr>
        <p:spPr>
          <a:xfrm>
            <a:off x="3520529" y="3396258"/>
            <a:ext cx="3017490" cy="196215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تدریجی تبدیلی</a:t>
            </a:r>
          </a:p>
          <a:p>
            <a:pPr algn="l" rtl="1"/>
            <a:endParaRPr lang="en-US"/>
          </a:p>
        </p:txBody>
      </p:sp>
      <p:sp>
        <p:nvSpPr>
          <p:cNvPr id="12" name="کیا ویسا ہی رہا؟"/>
          <p:cNvSpPr/>
          <p:nvPr/>
        </p:nvSpPr>
        <p:spPr>
          <a:xfrm>
            <a:off x="421035" y="3396258"/>
            <a:ext cx="3017341" cy="196215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کیا ویسا ہی رہا؟</a:t>
            </a:r>
          </a:p>
          <a:p>
            <a:pPr algn="l" rtl="1"/>
            <a:endParaRPr lang="en-US"/>
          </a:p>
        </p:txBody>
      </p:sp>
      <p:sp>
        <p:nvSpPr>
          <p:cNvPr id="13" name="کیوں؟"/>
          <p:cNvSpPr/>
          <p:nvPr/>
        </p:nvSpPr>
        <p:spPr>
          <a:xfrm>
            <a:off x="5075039" y="5440561"/>
            <a:ext cx="4562475" cy="14169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کیوں؟</a:t>
            </a:r>
          </a:p>
          <a:p>
            <a:pPr algn="l" rtl="1"/>
            <a:endParaRPr lang="en-US"/>
          </a:p>
        </p:txBody>
      </p:sp>
      <p:sp>
        <p:nvSpPr>
          <p:cNvPr id="14" name="آپ کا فیصلہ"/>
          <p:cNvSpPr/>
          <p:nvPr/>
        </p:nvSpPr>
        <p:spPr>
          <a:xfrm>
            <a:off x="421035" y="5440561"/>
            <a:ext cx="4562624" cy="14169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آپ کا فیصلہ</a:t>
            </a:r>
          </a:p>
          <a:p>
            <a:pPr algn="l" rtl="1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9–12: تاریخی تحقیق، زمانی ترتیب، علّت، نقطۂ نظر، ذرائع کا جائزہ، دعوے/شواہد، جغرافیائی تشریح اور بصری ابلاغ۔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23266"/>
      </a:dk2>
      <a:lt2>
        <a:srgbClr val="F4F8FC"/>
      </a:lt2>
      <a:accent1>
        <a:srgbClr val="054C8C"/>
      </a:accent1>
      <a:accent2>
        <a:srgbClr val="FBD239"/>
      </a:accent2>
      <a:accent3>
        <a:srgbClr val="238A8D"/>
      </a:accent3>
      <a:accent4>
        <a:srgbClr val="6D5AA8"/>
      </a:accent4>
      <a:accent5>
        <a:srgbClr val="D97A28"/>
      </a:accent5>
      <a:accent6>
        <a:srgbClr val="5A8F52"/>
      </a:accent6>
      <a:hlink>
        <a:srgbClr val="054C8C"/>
      </a:hlink>
      <a:folHlink>
        <a:srgbClr val="6D5AA8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History Event Maps</Application>
  <Slides>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Continuity and Change — 7 languages</dc:title>
  <dc:creator>Miguel Guhlin / Miguel Guhlin</dc:creator>
  <cp:lastModifiedBy>Miguel Guhlin</cp:lastModifiedBy>
</cp:coreProperties>
</file>