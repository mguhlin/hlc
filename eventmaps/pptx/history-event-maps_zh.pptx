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事件概览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是什么导致的？"/>
          <p:cNvSpPr/>
          <p:nvPr/>
        </p:nvSpPr>
        <p:spPr>
          <a:xfrm>
            <a:off x="420886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8" name="为什么重要？"/>
          <p:cNvSpPr/>
          <p:nvPr/>
        </p:nvSpPr>
        <p:spPr>
          <a:xfrm>
            <a:off x="3373338" y="1133921"/>
            <a:ext cx="3311575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9" name="最后发生了什么？"/>
          <p:cNvSpPr/>
          <p:nvPr/>
        </p:nvSpPr>
        <p:spPr>
          <a:xfrm>
            <a:off x="6757988" y="1133921"/>
            <a:ext cx="287937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最后发生了什么？</a:t>
            </a:r>
          </a:p>
          <a:p>
            <a:pPr algn="l"/>
            <a:endParaRPr lang="en-US"/>
          </a:p>
        </p:txBody>
      </p:sp>
      <p:sp>
        <p:nvSpPr>
          <p:cNvPr id="10" name="如何发生？"/>
          <p:cNvSpPr/>
          <p:nvPr/>
        </p:nvSpPr>
        <p:spPr>
          <a:xfrm>
            <a:off x="420886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如何发生？</a:t>
            </a:r>
          </a:p>
          <a:p>
            <a:pPr algn="l"/>
            <a:endParaRPr lang="en-US"/>
          </a:p>
        </p:txBody>
      </p:sp>
      <p:sp>
        <p:nvSpPr>
          <p:cNvPr id="11" name="事件"/>
          <p:cNvSpPr/>
          <p:nvPr/>
        </p:nvSpPr>
        <p:spPr>
          <a:xfrm>
            <a:off x="3373338" y="3257550"/>
            <a:ext cx="3311575" cy="1476375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12" name="什么时候发生？"/>
          <p:cNvSpPr/>
          <p:nvPr/>
        </p:nvSpPr>
        <p:spPr>
          <a:xfrm>
            <a:off x="6757988" y="3257550"/>
            <a:ext cx="2879378" cy="14763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3" name="谁参与了？"/>
          <p:cNvSpPr/>
          <p:nvPr/>
        </p:nvSpPr>
        <p:spPr>
          <a:xfrm>
            <a:off x="420886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4" name="在哪里发生？"/>
          <p:cNvSpPr/>
          <p:nvPr/>
        </p:nvSpPr>
        <p:spPr>
          <a:xfrm>
            <a:off x="3373338" y="4807000"/>
            <a:ext cx="3311575" cy="205070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15" name="你能得出什么结论？"/>
          <p:cNvSpPr/>
          <p:nvPr/>
        </p:nvSpPr>
        <p:spPr>
          <a:xfrm>
            <a:off x="6757988" y="4807000"/>
            <a:ext cx="2879378" cy="205070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原因 → 事件 → 结果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为什么重要？"/>
          <p:cNvSpPr/>
          <p:nvPr/>
        </p:nvSpPr>
        <p:spPr>
          <a:xfrm>
            <a:off x="3379887" y="1133921"/>
            <a:ext cx="3298478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8" name="是什么导致的？"/>
          <p:cNvSpPr/>
          <p:nvPr/>
        </p:nvSpPr>
        <p:spPr>
          <a:xfrm>
            <a:off x="420886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</p:txBody>
      </p:sp>
      <p:sp>
        <p:nvSpPr>
          <p:cNvPr id="9" name="事件"/>
          <p:cNvSpPr/>
          <p:nvPr/>
        </p:nvSpPr>
        <p:spPr>
          <a:xfrm>
            <a:off x="3379887" y="2849761"/>
            <a:ext cx="3298478" cy="1469975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直接影响"/>
          <p:cNvSpPr/>
          <p:nvPr/>
        </p:nvSpPr>
        <p:spPr>
          <a:xfrm>
            <a:off x="6751439" y="2849761"/>
            <a:ext cx="2885926" cy="1469975"/>
          </a:xfrm>
          <a:prstGeom prst="ellipse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直接影响</a:t>
            </a:r>
          </a:p>
        </p:txBody>
      </p:sp>
      <p:sp>
        <p:nvSpPr>
          <p:cNvPr id="11" name="谁参与了？"/>
          <p:cNvSpPr/>
          <p:nvPr/>
        </p:nvSpPr>
        <p:spPr>
          <a:xfrm>
            <a:off x="420886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2" name="后续 / 长期影响"/>
          <p:cNvSpPr/>
          <p:nvPr/>
        </p:nvSpPr>
        <p:spPr>
          <a:xfrm>
            <a:off x="6751439" y="439281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后续 / 长期影响</a:t>
            </a:r>
          </a:p>
          <a:p>
            <a:pPr algn="l"/>
            <a:endParaRPr lang="en-US"/>
          </a:p>
        </p:txBody>
      </p:sp>
      <p:sp>
        <p:nvSpPr>
          <p:cNvPr id="13" name="你能得出什么结论？"/>
          <p:cNvSpPr/>
          <p:nvPr/>
        </p:nvSpPr>
        <p:spPr>
          <a:xfrm>
            <a:off x="3379887" y="6195120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事件顺序路径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顺序（事件排序）"/>
          <p:cNvSpPr/>
          <p:nvPr/>
        </p:nvSpPr>
        <p:spPr>
          <a:xfrm>
            <a:off x="420886" y="4460230"/>
            <a:ext cx="9216628" cy="2397472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顺序（事件排序）</a:t>
            </a:r>
          </a:p>
          <a:p>
            <a:pPr algn="ctr"/>
            <a:endParaRPr lang="en-US"/>
          </a:p>
        </p:txBody>
      </p:sp>
      <p:sp>
        <p:nvSpPr>
          <p:cNvPr id="8" name="在哪里发生？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9" name="事件"/>
          <p:cNvSpPr/>
          <p:nvPr/>
        </p:nvSpPr>
        <p:spPr>
          <a:xfrm>
            <a:off x="3379887" y="1133921"/>
            <a:ext cx="3298478" cy="2070348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什么时候发生？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1" name="开始"/>
          <p:cNvSpPr/>
          <p:nvPr/>
        </p:nvSpPr>
        <p:spPr>
          <a:xfrm>
            <a:off x="420886" y="226114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开始</a:t>
            </a:r>
          </a:p>
          <a:p>
            <a:pPr algn="l"/>
            <a:endParaRPr lang="en-US"/>
          </a:p>
        </p:txBody>
      </p:sp>
      <p:sp>
        <p:nvSpPr>
          <p:cNvPr id="12" name="谁参与了？"/>
          <p:cNvSpPr/>
          <p:nvPr/>
        </p:nvSpPr>
        <p:spPr>
          <a:xfrm>
            <a:off x="6751439" y="226114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3" name="结束"/>
          <p:cNvSpPr/>
          <p:nvPr/>
        </p:nvSpPr>
        <p:spPr>
          <a:xfrm>
            <a:off x="420886" y="3277344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结束</a:t>
            </a:r>
          </a:p>
          <a:p>
            <a:pPr algn="l"/>
            <a:endParaRPr lang="en-US"/>
          </a:p>
        </p:txBody>
      </p:sp>
      <p:sp>
        <p:nvSpPr>
          <p:cNvPr id="14" name="为什么重要？"/>
          <p:cNvSpPr/>
          <p:nvPr/>
        </p:nvSpPr>
        <p:spPr>
          <a:xfrm>
            <a:off x="3379887" y="3277344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32734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906566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8024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53930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27762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人物与群体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重要领导者"/>
          <p:cNvSpPr/>
          <p:nvPr/>
        </p:nvSpPr>
        <p:spPr>
          <a:xfrm>
            <a:off x="420886" y="1133921"/>
            <a:ext cx="3415010" cy="2768352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这个人为什么重要？"/>
          <p:cNvSpPr/>
          <p:nvPr/>
        </p:nvSpPr>
        <p:spPr>
          <a:xfrm>
            <a:off x="420886" y="3975348"/>
            <a:ext cx="3415010" cy="28823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这个人为什么重要？</a:t>
            </a:r>
          </a:p>
          <a:p>
            <a:pPr algn="l"/>
            <a:endParaRPr lang="en-US"/>
          </a:p>
        </p:txBody>
      </p:sp>
      <p:sp>
        <p:nvSpPr>
          <p:cNvPr id="9" name="群体 1"/>
          <p:cNvSpPr/>
          <p:nvPr/>
        </p:nvSpPr>
        <p:spPr>
          <a:xfrm>
            <a:off x="3945582" y="1133921"/>
            <a:ext cx="1848594" cy="30093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1</a:t>
            </a:r>
          </a:p>
          <a:p>
            <a:pPr algn="ctr"/>
            <a:endParaRPr lang="en-US"/>
          </a:p>
        </p:txBody>
      </p:sp>
      <p:sp>
        <p:nvSpPr>
          <p:cNvPr id="10" name="群体 1 想要什么？"/>
          <p:cNvSpPr/>
          <p:nvPr/>
        </p:nvSpPr>
        <p:spPr>
          <a:xfrm>
            <a:off x="3945582" y="1498848"/>
            <a:ext cx="1848594" cy="264735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1 想要什么？</a:t>
            </a:r>
          </a:p>
          <a:p>
            <a:pPr algn="l"/>
            <a:endParaRPr lang="en-US"/>
          </a:p>
        </p:txBody>
      </p:sp>
      <p:sp>
        <p:nvSpPr>
          <p:cNvPr id="11" name="你能得出什么结论？"/>
          <p:cNvSpPr/>
          <p:nvPr/>
        </p:nvSpPr>
        <p:spPr>
          <a:xfrm>
            <a:off x="3945582" y="4210199"/>
            <a:ext cx="1848594" cy="26475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sp>
        <p:nvSpPr>
          <p:cNvPr id="12" name="群体 2"/>
          <p:cNvSpPr/>
          <p:nvPr/>
        </p:nvSpPr>
        <p:spPr>
          <a:xfrm>
            <a:off x="5867251" y="1133921"/>
            <a:ext cx="1848594" cy="30093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2</a:t>
            </a:r>
          </a:p>
          <a:p>
            <a:pPr algn="ctr"/>
            <a:endParaRPr lang="en-US"/>
          </a:p>
        </p:txBody>
      </p:sp>
      <p:sp>
        <p:nvSpPr>
          <p:cNvPr id="13" name="群体 2 想要什么？"/>
          <p:cNvSpPr/>
          <p:nvPr/>
        </p:nvSpPr>
        <p:spPr>
          <a:xfrm>
            <a:off x="5867251" y="1498848"/>
            <a:ext cx="1848594" cy="264735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2 想要什么？</a:t>
            </a:r>
          </a:p>
          <a:p>
            <a:pPr algn="l"/>
            <a:endParaRPr lang="en-US"/>
          </a:p>
        </p:txBody>
      </p:sp>
      <p:sp>
        <p:nvSpPr>
          <p:cNvPr id="14" name="结果"/>
          <p:cNvSpPr/>
          <p:nvPr/>
        </p:nvSpPr>
        <p:spPr>
          <a:xfrm>
            <a:off x="5867251" y="4210199"/>
            <a:ext cx="1848594" cy="26475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5" name="群体 3"/>
          <p:cNvSpPr/>
          <p:nvPr/>
        </p:nvSpPr>
        <p:spPr>
          <a:xfrm>
            <a:off x="7788920" y="1133921"/>
            <a:ext cx="1848594" cy="30093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群体 3</a:t>
            </a:r>
          </a:p>
          <a:p>
            <a:pPr algn="ctr"/>
            <a:endParaRPr lang="en-US"/>
          </a:p>
        </p:txBody>
      </p:sp>
      <p:sp>
        <p:nvSpPr>
          <p:cNvPr id="16" name="群体 3 想要什么？"/>
          <p:cNvSpPr/>
          <p:nvPr/>
        </p:nvSpPr>
        <p:spPr>
          <a:xfrm>
            <a:off x="7788920" y="1498848"/>
            <a:ext cx="1848594" cy="264735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3 想要什么？</a:t>
            </a:r>
          </a:p>
          <a:p>
            <a:pPr algn="l"/>
            <a:endParaRPr lang="en-US"/>
          </a:p>
        </p:txBody>
      </p:sp>
      <p:sp>
        <p:nvSpPr>
          <p:cNvPr id="17" name="结果"/>
          <p:cNvSpPr/>
          <p:nvPr/>
        </p:nvSpPr>
        <p:spPr>
          <a:xfrm>
            <a:off x="7788920" y="4210199"/>
            <a:ext cx="1848594" cy="26475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cxnSp>
        <p:nvCxnSpPr>
          <p:cNvPr id="18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9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0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地点的重要性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自然地理特征"/>
          <p:cNvSpPr/>
          <p:nvPr/>
        </p:nvSpPr>
        <p:spPr>
          <a:xfrm>
            <a:off x="420886" y="1133921"/>
            <a:ext cx="3169741" cy="281612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自然地理特征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82008" y="1133921"/>
            <a:ext cx="2694236" cy="281612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人文地理特征"/>
          <p:cNvSpPr/>
          <p:nvPr/>
        </p:nvSpPr>
        <p:spPr>
          <a:xfrm>
            <a:off x="6467624" y="1133921"/>
            <a:ext cx="3169890" cy="281612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人文地理特征</a:t>
            </a:r>
          </a:p>
          <a:p>
            <a:pPr algn="l"/>
            <a:endParaRPr lang="en-US"/>
          </a:p>
        </p:txBody>
      </p:sp>
      <p:sp>
        <p:nvSpPr>
          <p:cNvPr id="10" name="为什么发生在这里？"/>
          <p:cNvSpPr/>
          <p:nvPr/>
        </p:nvSpPr>
        <p:spPr>
          <a:xfrm>
            <a:off x="420886" y="4041428"/>
            <a:ext cx="3169741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为什么发生在这里？</a:t>
            </a:r>
          </a:p>
          <a:p>
            <a:pPr algn="l"/>
            <a:endParaRPr lang="en-US"/>
          </a:p>
        </p:txBody>
      </p:sp>
      <p:sp>
        <p:nvSpPr>
          <p:cNvPr id="11" name="移动 / 路线"/>
          <p:cNvSpPr/>
          <p:nvPr/>
        </p:nvSpPr>
        <p:spPr>
          <a:xfrm>
            <a:off x="3682008" y="4041428"/>
            <a:ext cx="2694236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移动 / 路线</a:t>
            </a:r>
          </a:p>
          <a:p>
            <a:pPr algn="l"/>
            <a:endParaRPr lang="en-US"/>
          </a:p>
        </p:txBody>
      </p:sp>
      <p:sp>
        <p:nvSpPr>
          <p:cNvPr id="12" name="地点怎样影响事件？"/>
          <p:cNvSpPr/>
          <p:nvPr/>
        </p:nvSpPr>
        <p:spPr>
          <a:xfrm>
            <a:off x="6467624" y="4041428"/>
            <a:ext cx="3169890" cy="28162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地点怎样影响事件？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前后变化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14738" y="1133921"/>
            <a:ext cx="2809875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6808589" y="1133921"/>
            <a:ext cx="2828925" cy="28116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发生了什么变化？"/>
          <p:cNvSpPr/>
          <p:nvPr/>
        </p:nvSpPr>
        <p:spPr>
          <a:xfrm>
            <a:off x="420886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发生了什么变化？</a:t>
            </a:r>
          </a:p>
          <a:p>
            <a:pPr algn="l"/>
            <a:endParaRPr lang="en-US"/>
          </a:p>
        </p:txBody>
      </p:sp>
      <p:sp>
        <p:nvSpPr>
          <p:cNvPr id="11" name="什么保持不变？"/>
          <p:cNvSpPr/>
          <p:nvPr/>
        </p:nvSpPr>
        <p:spPr>
          <a:xfrm>
            <a:off x="5074890" y="4046041"/>
            <a:ext cx="4562624" cy="28116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什么保持不变？</a:t>
            </a:r>
          </a:p>
          <a:p>
            <a:pPr algn="l"/>
            <a:endParaRPr lang="en-US"/>
          </a:p>
        </p:txBody>
      </p:sp>
      <p:sp>
        <p:nvSpPr>
          <p:cNvPr id="12" name="arrow"/>
          <p:cNvSpPr txBox="1"/>
          <p:nvPr/>
        </p:nvSpPr>
        <p:spPr>
          <a:xfrm>
            <a:off x="3171289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3" name="arrow"/>
          <p:cNvSpPr txBox="1"/>
          <p:nvPr/>
        </p:nvSpPr>
        <p:spPr>
          <a:xfrm>
            <a:off x="6365141" y="1133921"/>
            <a:ext cx="502920" cy="2811661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事件证据图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资料 1"/>
          <p:cNvSpPr/>
          <p:nvPr/>
        </p:nvSpPr>
        <p:spPr>
          <a:xfrm>
            <a:off x="420886" y="1133921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1</a:t>
            </a:r>
          </a:p>
          <a:p>
            <a:pPr algn="l"/>
            <a:endParaRPr lang="en-US"/>
          </a:p>
        </p:txBody>
      </p:sp>
      <p:sp>
        <p:nvSpPr>
          <p:cNvPr id="8" name="有用的事实或证据"/>
          <p:cNvSpPr/>
          <p:nvPr/>
        </p:nvSpPr>
        <p:spPr>
          <a:xfrm>
            <a:off x="420886" y="2913757"/>
            <a:ext cx="3011239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9" name="资料 2"/>
          <p:cNvSpPr/>
          <p:nvPr/>
        </p:nvSpPr>
        <p:spPr>
          <a:xfrm>
            <a:off x="3523506" y="1133921"/>
            <a:ext cx="3011239" cy="1716286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2</a:t>
            </a:r>
          </a:p>
          <a:p>
            <a:pPr algn="l"/>
            <a:endParaRPr lang="en-US"/>
          </a:p>
        </p:txBody>
      </p:sp>
      <p:sp>
        <p:nvSpPr>
          <p:cNvPr id="10" name="有用的事实或证据"/>
          <p:cNvSpPr/>
          <p:nvPr/>
        </p:nvSpPr>
        <p:spPr>
          <a:xfrm>
            <a:off x="3523506" y="2923282"/>
            <a:ext cx="3011239" cy="169723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11" name="资料 3"/>
          <p:cNvSpPr/>
          <p:nvPr/>
        </p:nvSpPr>
        <p:spPr>
          <a:xfrm>
            <a:off x="6626126" y="1133921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资料 3</a:t>
            </a:r>
          </a:p>
          <a:p>
            <a:pPr algn="l"/>
            <a:endParaRPr lang="en-US"/>
          </a:p>
        </p:txBody>
      </p:sp>
      <p:sp>
        <p:nvSpPr>
          <p:cNvPr id="12" name="有用的事实或证据"/>
          <p:cNvSpPr/>
          <p:nvPr/>
        </p:nvSpPr>
        <p:spPr>
          <a:xfrm>
            <a:off x="6626126" y="2913757"/>
            <a:ext cx="3011388" cy="17067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有用的事实或证据</a:t>
            </a:r>
          </a:p>
          <a:p>
            <a:pPr algn="l"/>
            <a:endParaRPr lang="en-US"/>
          </a:p>
        </p:txBody>
      </p:sp>
      <p:sp>
        <p:nvSpPr>
          <p:cNvPr id="13" name="你能得出什么结论？"/>
          <p:cNvSpPr/>
          <p:nvPr/>
        </p:nvSpPr>
        <p:spPr>
          <a:xfrm>
            <a:off x="420886" y="4711898"/>
            <a:ext cx="9216628" cy="214580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你能得出什么结论？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为什么重要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事件"/>
          <p:cNvSpPr/>
          <p:nvPr/>
        </p:nvSpPr>
        <p:spPr>
          <a:xfrm>
            <a:off x="420886" y="1133921"/>
            <a:ext cx="2580977" cy="4969966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8" name="对人的影响"/>
          <p:cNvSpPr/>
          <p:nvPr/>
        </p:nvSpPr>
        <p:spPr>
          <a:xfrm>
            <a:off x="3093244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对人的影响</a:t>
            </a:r>
          </a:p>
          <a:p>
            <a:pPr algn="l"/>
            <a:endParaRPr lang="en-US"/>
          </a:p>
        </p:txBody>
      </p:sp>
      <p:sp>
        <p:nvSpPr>
          <p:cNvPr id="9" name="对政府的影响"/>
          <p:cNvSpPr/>
          <p:nvPr/>
        </p:nvSpPr>
        <p:spPr>
          <a:xfrm>
            <a:off x="6411069" y="1133921"/>
            <a:ext cx="3226445" cy="243929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对政府的影响</a:t>
            </a:r>
          </a:p>
          <a:p>
            <a:pPr algn="l"/>
            <a:endParaRPr lang="en-US"/>
          </a:p>
        </p:txBody>
      </p:sp>
      <p:sp>
        <p:nvSpPr>
          <p:cNvPr id="10" name="对经济的影响"/>
          <p:cNvSpPr/>
          <p:nvPr/>
        </p:nvSpPr>
        <p:spPr>
          <a:xfrm>
            <a:off x="3093244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对经济的影响</a:t>
            </a:r>
          </a:p>
          <a:p>
            <a:pPr algn="l"/>
            <a:endParaRPr lang="en-US"/>
          </a:p>
        </p:txBody>
      </p:sp>
      <p:sp>
        <p:nvSpPr>
          <p:cNvPr id="11" name="对社区 / 文化的影响"/>
          <p:cNvSpPr/>
          <p:nvPr/>
        </p:nvSpPr>
        <p:spPr>
          <a:xfrm>
            <a:off x="6411069" y="3664595"/>
            <a:ext cx="3226445" cy="2439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对社区 / 文化的影响</a:t>
            </a:r>
          </a:p>
          <a:p>
            <a:pPr algn="l"/>
            <a:endParaRPr lang="en-US"/>
          </a:p>
        </p:txBody>
      </p:sp>
      <p:sp>
        <p:nvSpPr>
          <p:cNvPr id="12" name="哪项变化最重要？"/>
          <p:cNvSpPr/>
          <p:nvPr/>
        </p:nvSpPr>
        <p:spPr>
          <a:xfrm>
            <a:off x="420886" y="6195268"/>
            <a:ext cx="2580977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哪项变化最重要？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事件调查图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是什么导致的？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8" name="为什么重要？"/>
          <p:cNvSpPr/>
          <p:nvPr/>
        </p:nvSpPr>
        <p:spPr>
          <a:xfrm>
            <a:off x="3373338" y="1133921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9" name="结果"/>
          <p:cNvSpPr/>
          <p:nvPr/>
        </p:nvSpPr>
        <p:spPr>
          <a:xfrm>
            <a:off x="6757839" y="1133921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0" name="如何发生？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如何发生？</a:t>
            </a:r>
          </a:p>
          <a:p>
            <a:pPr algn="l"/>
            <a:endParaRPr lang="en-US"/>
          </a:p>
        </p:txBody>
      </p:sp>
      <p:sp>
        <p:nvSpPr>
          <p:cNvPr id="11" name="事件"/>
          <p:cNvSpPr/>
          <p:nvPr/>
        </p:nvSpPr>
        <p:spPr>
          <a:xfrm>
            <a:off x="3373338" y="3066157"/>
            <a:ext cx="3311426" cy="1859161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12" name="什么时候发生？"/>
          <p:cNvSpPr/>
          <p:nvPr/>
        </p:nvSpPr>
        <p:spPr>
          <a:xfrm>
            <a:off x="6757839" y="3066157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3" name="参与群体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参与群体</a:t>
            </a:r>
          </a:p>
          <a:p>
            <a:pPr algn="l"/>
            <a:endParaRPr lang="en-US"/>
          </a:p>
        </p:txBody>
      </p:sp>
      <p:sp>
        <p:nvSpPr>
          <p:cNvPr id="14" name="在哪里发生？"/>
          <p:cNvSpPr/>
          <p:nvPr/>
        </p:nvSpPr>
        <p:spPr>
          <a:xfrm>
            <a:off x="3373338" y="4998393"/>
            <a:ext cx="3311426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15" name="重要领导者"/>
          <p:cNvSpPr/>
          <p:nvPr/>
        </p:nvSpPr>
        <p:spPr>
          <a:xfrm>
            <a:off x="6757839" y="4998393"/>
            <a:ext cx="2879527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压力下的原因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长期原因"/>
          <p:cNvSpPr/>
          <p:nvPr/>
        </p:nvSpPr>
        <p:spPr>
          <a:xfrm>
            <a:off x="420886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长期原因</a:t>
            </a:r>
          </a:p>
          <a:p>
            <a:pPr algn="l"/>
            <a:endParaRPr lang="en-US"/>
          </a:p>
        </p:txBody>
      </p:sp>
      <p:sp>
        <p:nvSpPr>
          <p:cNvPr id="8" name="短期原因"/>
          <p:cNvSpPr/>
          <p:nvPr/>
        </p:nvSpPr>
        <p:spPr>
          <a:xfrm>
            <a:off x="2816275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短期原因</a:t>
            </a:r>
          </a:p>
          <a:p>
            <a:pPr algn="l"/>
            <a:endParaRPr lang="en-US"/>
          </a:p>
        </p:txBody>
      </p:sp>
      <p:sp>
        <p:nvSpPr>
          <p:cNvPr id="9" name="导火索"/>
          <p:cNvSpPr/>
          <p:nvPr/>
        </p:nvSpPr>
        <p:spPr>
          <a:xfrm>
            <a:off x="5211663" y="1133921"/>
            <a:ext cx="2030462" cy="2964359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导火索</a:t>
            </a:r>
          </a:p>
          <a:p>
            <a:pPr algn="l"/>
            <a:endParaRPr lang="en-US"/>
          </a:p>
        </p:txBody>
      </p:sp>
      <p:sp>
        <p:nvSpPr>
          <p:cNvPr id="10" name="事件"/>
          <p:cNvSpPr/>
          <p:nvPr/>
        </p:nvSpPr>
        <p:spPr>
          <a:xfrm>
            <a:off x="7626102" y="1133921"/>
            <a:ext cx="2011412" cy="2964359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11" name="直接影响"/>
          <p:cNvSpPr/>
          <p:nvPr/>
        </p:nvSpPr>
        <p:spPr>
          <a:xfrm>
            <a:off x="420886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直接影响</a:t>
            </a:r>
          </a:p>
          <a:p>
            <a:pPr algn="l"/>
            <a:endParaRPr lang="en-US"/>
          </a:p>
        </p:txBody>
      </p:sp>
      <p:sp>
        <p:nvSpPr>
          <p:cNvPr id="12" name="后续 / 长期影响"/>
          <p:cNvSpPr/>
          <p:nvPr/>
        </p:nvSpPr>
        <p:spPr>
          <a:xfrm>
            <a:off x="5074890" y="4189661"/>
            <a:ext cx="4562624" cy="266804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后续 / 长期影响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372826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4768215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5" name="arrow"/>
          <p:cNvSpPr txBox="1"/>
          <p:nvPr/>
        </p:nvSpPr>
        <p:spPr>
          <a:xfrm>
            <a:off x="7182654" y="1133921"/>
            <a:ext cx="502920" cy="296435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转折点图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2411909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转折点"/>
          <p:cNvSpPr/>
          <p:nvPr/>
        </p:nvSpPr>
        <p:spPr>
          <a:xfrm>
            <a:off x="382309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转折点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7225457" y="1133921"/>
            <a:ext cx="2412057" cy="313923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累积压力"/>
          <p:cNvSpPr/>
          <p:nvPr/>
        </p:nvSpPr>
        <p:spPr>
          <a:xfrm>
            <a:off x="420886" y="4346228"/>
            <a:ext cx="332913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累积压力</a:t>
            </a:r>
          </a:p>
          <a:p>
            <a:pPr algn="l"/>
            <a:endParaRPr lang="en-US"/>
          </a:p>
        </p:txBody>
      </p:sp>
      <p:sp>
        <p:nvSpPr>
          <p:cNvPr id="11" name="长期变化"/>
          <p:cNvSpPr/>
          <p:nvPr/>
        </p:nvSpPr>
        <p:spPr>
          <a:xfrm>
            <a:off x="3823097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长期变化</a:t>
            </a:r>
          </a:p>
          <a:p>
            <a:pPr algn="l"/>
            <a:endParaRPr lang="en-US"/>
          </a:p>
        </p:txBody>
      </p:sp>
      <p:sp>
        <p:nvSpPr>
          <p:cNvPr id="12" name="为什么这是转折点？"/>
          <p:cNvSpPr/>
          <p:nvPr/>
        </p:nvSpPr>
        <p:spPr>
          <a:xfrm>
            <a:off x="6775996" y="4346228"/>
            <a:ext cx="2861518" cy="2511475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为什么这是转折点？</a:t>
            </a:r>
          </a:p>
          <a:p>
            <a:pPr algn="l"/>
            <a:endParaRPr lang="en-US"/>
          </a:p>
        </p:txBody>
      </p:sp>
      <p:sp>
        <p:nvSpPr>
          <p:cNvPr id="13" name="arrow"/>
          <p:cNvSpPr txBox="1"/>
          <p:nvPr/>
        </p:nvSpPr>
        <p:spPr>
          <a:xfrm>
            <a:off x="290586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4" name="arrow"/>
          <p:cNvSpPr txBox="1"/>
          <p:nvPr/>
        </p:nvSpPr>
        <p:spPr>
          <a:xfrm>
            <a:off x="6308229" y="1133921"/>
            <a:ext cx="844153" cy="313923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多重视角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群体 1"/>
          <p:cNvSpPr/>
          <p:nvPr/>
        </p:nvSpPr>
        <p:spPr>
          <a:xfrm>
            <a:off x="420886" y="1133921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1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792289" y="1133921"/>
            <a:ext cx="2473672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群体 2"/>
          <p:cNvSpPr/>
          <p:nvPr/>
        </p:nvSpPr>
        <p:spPr>
          <a:xfrm>
            <a:off x="6339036" y="1133921"/>
            <a:ext cx="3298478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2</a:t>
            </a:r>
          </a:p>
          <a:p>
            <a:pPr algn="l"/>
            <a:endParaRPr lang="en-US"/>
          </a:p>
        </p:txBody>
      </p:sp>
      <p:sp>
        <p:nvSpPr>
          <p:cNvPr id="10" name="群体 3"/>
          <p:cNvSpPr/>
          <p:nvPr/>
        </p:nvSpPr>
        <p:spPr>
          <a:xfrm>
            <a:off x="420886" y="3272730"/>
            <a:ext cx="3298329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3</a:t>
            </a:r>
          </a:p>
          <a:p>
            <a:pPr algn="l"/>
            <a:endParaRPr lang="en-US"/>
          </a:p>
        </p:txBody>
      </p:sp>
      <p:sp>
        <p:nvSpPr>
          <p:cNvPr id="11" name="群体 4"/>
          <p:cNvSpPr/>
          <p:nvPr/>
        </p:nvSpPr>
        <p:spPr>
          <a:xfrm>
            <a:off x="6339036" y="3272730"/>
            <a:ext cx="3298478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群体 4</a:t>
            </a:r>
          </a:p>
          <a:p>
            <a:pPr algn="l"/>
            <a:endParaRPr lang="en-US"/>
          </a:p>
        </p:txBody>
      </p:sp>
      <p:sp>
        <p:nvSpPr>
          <p:cNvPr id="12" name="他们在哪些方面一致？"/>
          <p:cNvSpPr/>
          <p:nvPr/>
        </p:nvSpPr>
        <p:spPr>
          <a:xfrm>
            <a:off x="42088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他们在哪些方面一致？</a:t>
            </a:r>
          </a:p>
          <a:p>
            <a:pPr algn="l"/>
            <a:endParaRPr lang="en-US"/>
          </a:p>
        </p:txBody>
      </p:sp>
      <p:sp>
        <p:nvSpPr>
          <p:cNvPr id="13" name="他们在哪些方面冲突？"/>
          <p:cNvSpPr/>
          <p:nvPr/>
        </p:nvSpPr>
        <p:spPr>
          <a:xfrm>
            <a:off x="3523506" y="5411539"/>
            <a:ext cx="3011239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他们在哪些方面冲突？</a:t>
            </a:r>
          </a:p>
          <a:p>
            <a:pPr algn="l"/>
            <a:endParaRPr lang="en-US"/>
          </a:p>
        </p:txBody>
      </p:sp>
      <p:sp>
        <p:nvSpPr>
          <p:cNvPr id="14" name="缺少谁的声音？"/>
          <p:cNvSpPr/>
          <p:nvPr/>
        </p:nvSpPr>
        <p:spPr>
          <a:xfrm>
            <a:off x="6626126" y="5411539"/>
            <a:ext cx="3011388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缺少谁的声音？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领导者与事件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重要领导者"/>
          <p:cNvSpPr/>
          <p:nvPr/>
        </p:nvSpPr>
        <p:spPr>
          <a:xfrm>
            <a:off x="420886" y="1133921"/>
            <a:ext cx="3415010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重要领导者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8" name="影响"/>
          <p:cNvSpPr/>
          <p:nvPr/>
        </p:nvSpPr>
        <p:spPr>
          <a:xfrm>
            <a:off x="420886" y="2983855"/>
            <a:ext cx="3415010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影响</a:t>
            </a:r>
          </a:p>
          <a:p>
            <a:pPr algn="l"/>
            <a:endParaRPr lang="en-US"/>
          </a:p>
        </p:txBody>
      </p:sp>
      <p:sp>
        <p:nvSpPr>
          <p:cNvPr id="9" name="证据"/>
          <p:cNvSpPr/>
          <p:nvPr/>
        </p:nvSpPr>
        <p:spPr>
          <a:xfrm>
            <a:off x="420886" y="4966692"/>
            <a:ext cx="3415010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0" name="事件"/>
          <p:cNvSpPr/>
          <p:nvPr/>
        </p:nvSpPr>
        <p:spPr>
          <a:xfrm>
            <a:off x="3945582" y="1133921"/>
            <a:ext cx="5691783" cy="177685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1" name="领导者目标"/>
          <p:cNvSpPr/>
          <p:nvPr/>
        </p:nvSpPr>
        <p:spPr>
          <a:xfrm>
            <a:off x="3945582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领导者目标</a:t>
            </a:r>
          </a:p>
          <a:p>
            <a:pPr algn="l"/>
            <a:endParaRPr lang="en-US"/>
          </a:p>
        </p:txBody>
      </p:sp>
      <p:sp>
        <p:nvSpPr>
          <p:cNvPr id="12" name="关键决策"/>
          <p:cNvSpPr/>
          <p:nvPr/>
        </p:nvSpPr>
        <p:spPr>
          <a:xfrm>
            <a:off x="6837164" y="2983855"/>
            <a:ext cx="2800201" cy="190976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关键决策</a:t>
            </a:r>
          </a:p>
          <a:p>
            <a:pPr algn="l"/>
            <a:endParaRPr lang="en-US"/>
          </a:p>
        </p:txBody>
      </p:sp>
      <p:sp>
        <p:nvSpPr>
          <p:cNvPr id="13" name="盟友 / 支持者"/>
          <p:cNvSpPr/>
          <p:nvPr/>
        </p:nvSpPr>
        <p:spPr>
          <a:xfrm>
            <a:off x="3945582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盟友 / 支持者</a:t>
            </a:r>
          </a:p>
          <a:p>
            <a:pPr algn="l"/>
            <a:endParaRPr lang="en-US"/>
          </a:p>
        </p:txBody>
      </p:sp>
      <p:sp>
        <p:nvSpPr>
          <p:cNvPr id="14" name="反对者"/>
          <p:cNvSpPr/>
          <p:nvPr/>
        </p:nvSpPr>
        <p:spPr>
          <a:xfrm>
            <a:off x="6837164" y="4966692"/>
            <a:ext cx="2800201" cy="18908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反对者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冲突图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 方 / 群体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 / 群体</a:t>
            </a:r>
          </a:p>
          <a:p>
            <a:pPr algn="l"/>
            <a:endParaRPr lang="en-US"/>
          </a:p>
        </p:txBody>
      </p:sp>
      <p:sp>
        <p:nvSpPr>
          <p:cNvPr id="8" name="A 方的目标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方的目标</a:t>
            </a:r>
          </a:p>
          <a:p>
            <a:pPr algn="l"/>
            <a:endParaRPr lang="en-US"/>
          </a:p>
        </p:txBody>
      </p:sp>
      <p:sp>
        <p:nvSpPr>
          <p:cNvPr id="9" name="A 方的行动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方的行动</a:t>
            </a:r>
          </a:p>
          <a:p>
            <a:pPr algn="l"/>
            <a:endParaRPr lang="en-US"/>
          </a:p>
        </p:txBody>
      </p:sp>
      <p:sp>
        <p:nvSpPr>
          <p:cNvPr id="10" name="冲突事件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冲突事件</a:t>
            </a:r>
          </a:p>
        </p:txBody>
      </p:sp>
      <p:sp>
        <p:nvSpPr>
          <p:cNvPr id="11" name="B 方 / 群体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 / 群体</a:t>
            </a:r>
          </a:p>
          <a:p>
            <a:pPr algn="l"/>
            <a:endParaRPr lang="en-US"/>
          </a:p>
        </p:txBody>
      </p:sp>
      <p:sp>
        <p:nvSpPr>
          <p:cNvPr id="12" name="B 方的目标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方的目标</a:t>
            </a:r>
          </a:p>
          <a:p>
            <a:pPr algn="l"/>
            <a:endParaRPr lang="en-US"/>
          </a:p>
        </p:txBody>
      </p:sp>
      <p:sp>
        <p:nvSpPr>
          <p:cNvPr id="13" name="B 方的行动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方的行动</a:t>
            </a:r>
          </a:p>
          <a:p>
            <a:pPr algn="l"/>
            <a:endParaRPr lang="en-US"/>
          </a:p>
        </p:txBody>
      </p:sp>
      <p:sp>
        <p:nvSpPr>
          <p:cNvPr id="14" name="解决方式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解决方式</a:t>
            </a:r>
          </a:p>
          <a:p>
            <a:pPr algn="l"/>
            <a:endParaRPr lang="en-US"/>
          </a:p>
        </p:txBody>
      </p:sp>
      <p:sp>
        <p:nvSpPr>
          <p:cNvPr id="15" name="结果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事件连锁反应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行动 1"/>
          <p:cNvSpPr/>
          <p:nvPr/>
        </p:nvSpPr>
        <p:spPr>
          <a:xfrm>
            <a:off x="420886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行动 1</a:t>
            </a:r>
          </a:p>
          <a:p>
            <a:pPr algn="l"/>
            <a:endParaRPr lang="en-US"/>
          </a:p>
        </p:txBody>
      </p:sp>
      <p:sp>
        <p:nvSpPr>
          <p:cNvPr id="8" name="反应 1"/>
          <p:cNvSpPr/>
          <p:nvPr/>
        </p:nvSpPr>
        <p:spPr>
          <a:xfrm>
            <a:off x="2017812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反应 1</a:t>
            </a:r>
          </a:p>
          <a:p>
            <a:pPr algn="l"/>
            <a:endParaRPr lang="en-US"/>
          </a:p>
        </p:txBody>
      </p:sp>
      <p:sp>
        <p:nvSpPr>
          <p:cNvPr id="9" name="行动 2"/>
          <p:cNvSpPr/>
          <p:nvPr/>
        </p:nvSpPr>
        <p:spPr>
          <a:xfrm>
            <a:off x="3614738" y="1133921"/>
            <a:ext cx="1231999" cy="32184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行动 2</a:t>
            </a:r>
          </a:p>
          <a:p>
            <a:pPr algn="l"/>
            <a:endParaRPr lang="en-US"/>
          </a:p>
        </p:txBody>
      </p:sp>
      <p:sp>
        <p:nvSpPr>
          <p:cNvPr id="10" name="反应 2"/>
          <p:cNvSpPr/>
          <p:nvPr/>
        </p:nvSpPr>
        <p:spPr>
          <a:xfrm>
            <a:off x="5230713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反应 2</a:t>
            </a:r>
          </a:p>
          <a:p>
            <a:pPr algn="l"/>
            <a:endParaRPr lang="en-US"/>
          </a:p>
        </p:txBody>
      </p:sp>
      <p:sp>
        <p:nvSpPr>
          <p:cNvPr id="11" name="危机 / 转折点"/>
          <p:cNvSpPr/>
          <p:nvPr/>
        </p:nvSpPr>
        <p:spPr>
          <a:xfrm>
            <a:off x="6827639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危机 / 转折点</a:t>
            </a:r>
          </a:p>
          <a:p>
            <a:pPr algn="l"/>
            <a:endParaRPr lang="en-US"/>
          </a:p>
        </p:txBody>
      </p:sp>
      <p:sp>
        <p:nvSpPr>
          <p:cNvPr id="12" name="结果"/>
          <p:cNvSpPr/>
          <p:nvPr/>
        </p:nvSpPr>
        <p:spPr>
          <a:xfrm>
            <a:off x="8424565" y="1133921"/>
            <a:ext cx="1212949" cy="321840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3" name="最重要的环节"/>
          <p:cNvSpPr/>
          <p:nvPr/>
        </p:nvSpPr>
        <p:spPr>
          <a:xfrm>
            <a:off x="420886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最重要的环节</a:t>
            </a:r>
          </a:p>
          <a:p>
            <a:pPr algn="l"/>
            <a:endParaRPr lang="en-US"/>
          </a:p>
        </p:txBody>
      </p:sp>
      <p:sp>
        <p:nvSpPr>
          <p:cNvPr id="14" name="证据"/>
          <p:cNvSpPr/>
          <p:nvPr/>
        </p:nvSpPr>
        <p:spPr>
          <a:xfrm>
            <a:off x="5074890" y="4443710"/>
            <a:ext cx="4562624" cy="241399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5" name="arrow"/>
          <p:cNvSpPr txBox="1"/>
          <p:nvPr/>
        </p:nvSpPr>
        <p:spPr>
          <a:xfrm>
            <a:off x="1574363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6" name="arrow"/>
          <p:cNvSpPr txBox="1"/>
          <p:nvPr/>
        </p:nvSpPr>
        <p:spPr>
          <a:xfrm>
            <a:off x="3171289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7" name="arrow"/>
          <p:cNvSpPr txBox="1"/>
          <p:nvPr/>
        </p:nvSpPr>
        <p:spPr>
          <a:xfrm>
            <a:off x="4787265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8" name="arrow"/>
          <p:cNvSpPr txBox="1"/>
          <p:nvPr/>
        </p:nvSpPr>
        <p:spPr>
          <a:xfrm>
            <a:off x="6384191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9" name="arrow"/>
          <p:cNvSpPr txBox="1"/>
          <p:nvPr/>
        </p:nvSpPr>
        <p:spPr>
          <a:xfrm>
            <a:off x="7981117" y="1133921"/>
            <a:ext cx="502920" cy="321840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ctr" wrap="none"/>
          <a:lstStyle/>
          <a:p>
            <a:pPr algn="ctr"/>
            <a:r>
              <a:rPr lang="en-US" sz="2200" b="1" dirty="0">
                <a:solidFill>
                  <a:srgbClr val="111111"/>
                </a:solidFill>
                <a:latin typeface="Arial"/>
                <a:cs typeface="Arial"/>
              </a:rPr>
              <a:t>→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事件地理图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自然地理"/>
          <p:cNvSpPr/>
          <p:nvPr/>
        </p:nvSpPr>
        <p:spPr>
          <a:xfrm>
            <a:off x="420886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自然地理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621584" y="1133921"/>
            <a:ext cx="2815084" cy="4204543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人文地理"/>
          <p:cNvSpPr/>
          <p:nvPr/>
        </p:nvSpPr>
        <p:spPr>
          <a:xfrm>
            <a:off x="6509742" y="1133921"/>
            <a:ext cx="3127623" cy="206573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人文地理</a:t>
            </a:r>
          </a:p>
          <a:p>
            <a:pPr algn="l"/>
            <a:endParaRPr lang="en-US"/>
          </a:p>
        </p:txBody>
      </p:sp>
      <p:sp>
        <p:nvSpPr>
          <p:cNvPr id="10" name="资源"/>
          <p:cNvSpPr/>
          <p:nvPr/>
        </p:nvSpPr>
        <p:spPr>
          <a:xfrm>
            <a:off x="420886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资源</a:t>
            </a:r>
          </a:p>
          <a:p>
            <a:pPr algn="l"/>
            <a:endParaRPr lang="en-US"/>
          </a:p>
        </p:txBody>
      </p:sp>
      <p:sp>
        <p:nvSpPr>
          <p:cNvPr id="11" name="移动 / 路线"/>
          <p:cNvSpPr/>
          <p:nvPr/>
        </p:nvSpPr>
        <p:spPr>
          <a:xfrm>
            <a:off x="6509742" y="3272730"/>
            <a:ext cx="3127623" cy="20657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移动 / 路线</a:t>
            </a:r>
          </a:p>
          <a:p>
            <a:pPr algn="l"/>
            <a:endParaRPr lang="en-US"/>
          </a:p>
        </p:txBody>
      </p:sp>
      <p:sp>
        <p:nvSpPr>
          <p:cNvPr id="12" name="为什么地点重要？"/>
          <p:cNvSpPr/>
          <p:nvPr/>
        </p:nvSpPr>
        <p:spPr>
          <a:xfrm>
            <a:off x="420886" y="5411539"/>
            <a:ext cx="4562475" cy="144601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为什么地点重要？</a:t>
            </a:r>
          </a:p>
          <a:p>
            <a:pPr algn="l"/>
            <a:endParaRPr lang="en-US"/>
          </a:p>
        </p:txBody>
      </p:sp>
      <p:sp>
        <p:nvSpPr>
          <p:cNvPr id="13" name="地理影响"/>
          <p:cNvSpPr/>
          <p:nvPr/>
        </p:nvSpPr>
        <p:spPr>
          <a:xfrm>
            <a:off x="5074741" y="5411539"/>
            <a:ext cx="4562624" cy="144601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地理影响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事件背景图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历史背景"/>
          <p:cNvSpPr/>
          <p:nvPr/>
        </p:nvSpPr>
        <p:spPr>
          <a:xfrm>
            <a:off x="420886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历史背景</a:t>
            </a:r>
          </a:p>
          <a:p>
            <a:pPr algn="l"/>
            <a:endParaRPr lang="en-US"/>
          </a:p>
        </p:txBody>
      </p:sp>
      <p:sp>
        <p:nvSpPr>
          <p:cNvPr id="8" name="长期原因"/>
          <p:cNvSpPr/>
          <p:nvPr/>
        </p:nvSpPr>
        <p:spPr>
          <a:xfrm>
            <a:off x="3373338" y="1133921"/>
            <a:ext cx="3311575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长期原因</a:t>
            </a:r>
          </a:p>
          <a:p>
            <a:pPr algn="l"/>
            <a:endParaRPr lang="en-US"/>
          </a:p>
        </p:txBody>
      </p:sp>
      <p:sp>
        <p:nvSpPr>
          <p:cNvPr id="9" name="直接原因"/>
          <p:cNvSpPr/>
          <p:nvPr/>
        </p:nvSpPr>
        <p:spPr>
          <a:xfrm>
            <a:off x="6757988" y="1133921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直接原因</a:t>
            </a:r>
          </a:p>
          <a:p>
            <a:pPr algn="l"/>
            <a:endParaRPr lang="en-US"/>
          </a:p>
        </p:txBody>
      </p:sp>
      <p:sp>
        <p:nvSpPr>
          <p:cNvPr id="10" name="关键人物 / 群体"/>
          <p:cNvSpPr/>
          <p:nvPr/>
        </p:nvSpPr>
        <p:spPr>
          <a:xfrm>
            <a:off x="420886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1" name="发生了什么？"/>
          <p:cNvSpPr/>
          <p:nvPr/>
        </p:nvSpPr>
        <p:spPr>
          <a:xfrm>
            <a:off x="6757988" y="3066157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发生了什么？</a:t>
            </a:r>
          </a:p>
          <a:p>
            <a:pPr algn="l"/>
            <a:endParaRPr lang="en-US"/>
          </a:p>
        </p:txBody>
      </p:sp>
      <p:sp>
        <p:nvSpPr>
          <p:cNvPr id="12" name="事件"/>
          <p:cNvSpPr/>
          <p:nvPr/>
        </p:nvSpPr>
        <p:spPr>
          <a:xfrm>
            <a:off x="3373338" y="3066157"/>
            <a:ext cx="3311575" cy="185916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3" name="直接结果"/>
          <p:cNvSpPr/>
          <p:nvPr/>
        </p:nvSpPr>
        <p:spPr>
          <a:xfrm>
            <a:off x="420886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直接结果</a:t>
            </a:r>
          </a:p>
          <a:p>
            <a:pPr algn="l"/>
            <a:endParaRPr lang="en-US"/>
          </a:p>
        </p:txBody>
      </p:sp>
      <p:sp>
        <p:nvSpPr>
          <p:cNvPr id="14" name="长期结果"/>
          <p:cNvSpPr/>
          <p:nvPr/>
        </p:nvSpPr>
        <p:spPr>
          <a:xfrm>
            <a:off x="3373338" y="4998393"/>
            <a:ext cx="3311575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长期结果</a:t>
            </a:r>
          </a:p>
          <a:p>
            <a:pPr algn="l"/>
            <a:endParaRPr lang="en-US"/>
          </a:p>
        </p:txBody>
      </p:sp>
      <p:sp>
        <p:nvSpPr>
          <p:cNvPr id="15" name="历史意义"/>
          <p:cNvSpPr/>
          <p:nvPr/>
        </p:nvSpPr>
        <p:spPr>
          <a:xfrm>
            <a:off x="6757988" y="4998393"/>
            <a:ext cx="2879378" cy="1859161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原因排序图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原因 1"/>
          <p:cNvSpPr/>
          <p:nvPr/>
        </p:nvSpPr>
        <p:spPr>
          <a:xfrm>
            <a:off x="420886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1</a:t>
            </a:r>
          </a:p>
          <a:p>
            <a:pPr algn="l"/>
            <a:endParaRPr lang="en-US"/>
          </a:p>
        </p:txBody>
      </p:sp>
      <p:sp>
        <p:nvSpPr>
          <p:cNvPr id="8" name="原因 2"/>
          <p:cNvSpPr/>
          <p:nvPr/>
        </p:nvSpPr>
        <p:spPr>
          <a:xfrm>
            <a:off x="5070277" y="1133921"/>
            <a:ext cx="4567238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2</a:t>
            </a:r>
          </a:p>
          <a:p>
            <a:pPr algn="l"/>
            <a:endParaRPr lang="en-US"/>
          </a:p>
        </p:txBody>
      </p:sp>
      <p:sp>
        <p:nvSpPr>
          <p:cNvPr id="9" name="原因 3"/>
          <p:cNvSpPr/>
          <p:nvPr/>
        </p:nvSpPr>
        <p:spPr>
          <a:xfrm>
            <a:off x="420886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3</a:t>
            </a:r>
          </a:p>
          <a:p>
            <a:pPr algn="l"/>
            <a:endParaRPr lang="en-US"/>
          </a:p>
        </p:txBody>
      </p:sp>
      <p:sp>
        <p:nvSpPr>
          <p:cNvPr id="10" name="原因 4"/>
          <p:cNvSpPr/>
          <p:nvPr/>
        </p:nvSpPr>
        <p:spPr>
          <a:xfrm>
            <a:off x="5070277" y="3275112"/>
            <a:ext cx="4567238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原因 4</a:t>
            </a:r>
          </a:p>
          <a:p>
            <a:pPr algn="l"/>
            <a:endParaRPr lang="en-US"/>
          </a:p>
        </p:txBody>
      </p:sp>
      <p:sp>
        <p:nvSpPr>
          <p:cNvPr id="11" name="将原因按 1-4 排序"/>
          <p:cNvSpPr/>
          <p:nvPr/>
        </p:nvSpPr>
        <p:spPr>
          <a:xfrm>
            <a:off x="420886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将原因按 1-4 排序</a:t>
            </a:r>
          </a:p>
          <a:p>
            <a:pPr algn="l"/>
            <a:endParaRPr lang="en-US"/>
          </a:p>
        </p:txBody>
      </p:sp>
      <p:sp>
        <p:nvSpPr>
          <p:cNvPr id="12" name="最重要的原因"/>
          <p:cNvSpPr/>
          <p:nvPr/>
        </p:nvSpPr>
        <p:spPr>
          <a:xfrm>
            <a:off x="5074890" y="5416302"/>
            <a:ext cx="4562624" cy="144125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最重要的原因</a:t>
            </a:r>
          </a:p>
          <a:p>
            <a:pPr algn="l"/>
            <a:endParaRPr lang="en-US"/>
          </a:p>
        </p:txBody>
      </p:sp>
      <p:cxnSp>
        <p:nvCxnSpPr>
          <p:cNvPr id="13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4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5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转折点分析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520380" y="1133921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l"/>
            <a:endParaRPr lang="en-US"/>
          </a:p>
        </p:txBody>
      </p:sp>
      <p:sp>
        <p:nvSpPr>
          <p:cNvPr id="9" name="直接变化"/>
          <p:cNvSpPr/>
          <p:nvPr/>
        </p:nvSpPr>
        <p:spPr>
          <a:xfrm>
            <a:off x="6620024" y="1133921"/>
            <a:ext cx="3017341" cy="205903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直接变化</a:t>
            </a:r>
          </a:p>
          <a:p>
            <a:pPr algn="l"/>
            <a:endParaRPr lang="en-US"/>
          </a:p>
        </p:txBody>
      </p:sp>
      <p:sp>
        <p:nvSpPr>
          <p:cNvPr id="10" name="长期变化"/>
          <p:cNvSpPr/>
          <p:nvPr/>
        </p:nvSpPr>
        <p:spPr>
          <a:xfrm>
            <a:off x="420886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长期变化</a:t>
            </a:r>
          </a:p>
          <a:p>
            <a:pPr algn="l"/>
            <a:endParaRPr lang="en-US"/>
          </a:p>
        </p:txBody>
      </p:sp>
      <p:sp>
        <p:nvSpPr>
          <p:cNvPr id="11" name="什么延续下来？"/>
          <p:cNvSpPr/>
          <p:nvPr/>
        </p:nvSpPr>
        <p:spPr>
          <a:xfrm>
            <a:off x="3520380" y="3275112"/>
            <a:ext cx="3017490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什么延续下来？</a:t>
            </a:r>
          </a:p>
          <a:p>
            <a:pPr algn="l"/>
            <a:endParaRPr lang="en-US"/>
          </a:p>
        </p:txBody>
      </p:sp>
      <p:sp>
        <p:nvSpPr>
          <p:cNvPr id="12" name="它真的是转折点吗？"/>
          <p:cNvSpPr/>
          <p:nvPr/>
        </p:nvSpPr>
        <p:spPr>
          <a:xfrm>
            <a:off x="6620024" y="3275112"/>
            <a:ext cx="3017341" cy="205903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它真的是转折点吗？</a:t>
            </a:r>
          </a:p>
          <a:p>
            <a:pPr algn="l"/>
            <a:endParaRPr lang="en-US"/>
          </a:p>
        </p:txBody>
      </p:sp>
      <p:sp>
        <p:nvSpPr>
          <p:cNvPr id="13" name="证据"/>
          <p:cNvSpPr/>
          <p:nvPr/>
        </p:nvSpPr>
        <p:spPr>
          <a:xfrm>
            <a:off x="420886" y="5416302"/>
            <a:ext cx="9216479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cxnSp>
        <p:nvCxnSpPr>
          <p:cNvPr id="14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5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视角与证据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观点 1"/>
          <p:cNvSpPr/>
          <p:nvPr/>
        </p:nvSpPr>
        <p:spPr>
          <a:xfrm>
            <a:off x="420886" y="1133921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1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733354" y="1133921"/>
            <a:ext cx="2591544" cy="4129534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观点 2"/>
          <p:cNvSpPr/>
          <p:nvPr/>
        </p:nvSpPr>
        <p:spPr>
          <a:xfrm>
            <a:off x="6397972" y="1133921"/>
            <a:ext cx="3239542" cy="20282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2</a:t>
            </a:r>
          </a:p>
          <a:p>
            <a:pPr algn="l"/>
            <a:endParaRPr lang="en-US"/>
          </a:p>
        </p:txBody>
      </p:sp>
      <p:sp>
        <p:nvSpPr>
          <p:cNvPr id="10" name="观点 3"/>
          <p:cNvSpPr/>
          <p:nvPr/>
        </p:nvSpPr>
        <p:spPr>
          <a:xfrm>
            <a:off x="420886" y="3235226"/>
            <a:ext cx="3239393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3</a:t>
            </a:r>
          </a:p>
          <a:p>
            <a:pPr algn="l"/>
            <a:endParaRPr lang="en-US"/>
          </a:p>
        </p:txBody>
      </p:sp>
      <p:sp>
        <p:nvSpPr>
          <p:cNvPr id="11" name="观点 4"/>
          <p:cNvSpPr/>
          <p:nvPr/>
        </p:nvSpPr>
        <p:spPr>
          <a:xfrm>
            <a:off x="6397972" y="3235226"/>
            <a:ext cx="3239542" cy="20282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观点 4</a:t>
            </a:r>
          </a:p>
          <a:p>
            <a:pPr algn="l"/>
            <a:endParaRPr lang="en-US"/>
          </a:p>
        </p:txBody>
      </p:sp>
      <p:sp>
        <p:nvSpPr>
          <p:cNvPr id="12" name="证据"/>
          <p:cNvSpPr/>
          <p:nvPr/>
        </p:nvSpPr>
        <p:spPr>
          <a:xfrm>
            <a:off x="420886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sp>
        <p:nvSpPr>
          <p:cNvPr id="13" name="他们在哪些方面一致？"/>
          <p:cNvSpPr/>
          <p:nvPr/>
        </p:nvSpPr>
        <p:spPr>
          <a:xfrm>
            <a:off x="2745581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他们在哪些方面一致？</a:t>
            </a:r>
          </a:p>
          <a:p>
            <a:pPr algn="l"/>
            <a:endParaRPr lang="en-US"/>
          </a:p>
        </p:txBody>
      </p:sp>
      <p:sp>
        <p:nvSpPr>
          <p:cNvPr id="14" name="他们在哪些方面冲突？"/>
          <p:cNvSpPr/>
          <p:nvPr/>
        </p:nvSpPr>
        <p:spPr>
          <a:xfrm>
            <a:off x="5070277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他们在哪些方面冲突？</a:t>
            </a:r>
          </a:p>
          <a:p>
            <a:pPr algn="l"/>
            <a:endParaRPr lang="en-US"/>
          </a:p>
        </p:txBody>
      </p:sp>
      <p:sp>
        <p:nvSpPr>
          <p:cNvPr id="15" name="缺少谁的声音？"/>
          <p:cNvSpPr/>
          <p:nvPr/>
        </p:nvSpPr>
        <p:spPr>
          <a:xfrm>
            <a:off x="7394972" y="5336530"/>
            <a:ext cx="2242542" cy="152117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缺少谁的声音？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事件影响四象限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政治"/>
          <p:cNvSpPr/>
          <p:nvPr/>
        </p:nvSpPr>
        <p:spPr>
          <a:xfrm>
            <a:off x="420886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政治</a:t>
            </a:r>
          </a:p>
          <a:p>
            <a:pPr algn="l"/>
            <a:endParaRPr lang="en-US"/>
          </a:p>
        </p:txBody>
      </p:sp>
      <p:sp>
        <p:nvSpPr>
          <p:cNvPr id="8" name="事件"/>
          <p:cNvSpPr/>
          <p:nvPr/>
        </p:nvSpPr>
        <p:spPr>
          <a:xfrm>
            <a:off x="3853309" y="1133921"/>
            <a:ext cx="2351633" cy="4174182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</p:txBody>
      </p:sp>
      <p:sp>
        <p:nvSpPr>
          <p:cNvPr id="9" name="经济"/>
          <p:cNvSpPr/>
          <p:nvPr/>
        </p:nvSpPr>
        <p:spPr>
          <a:xfrm>
            <a:off x="6278017" y="1133921"/>
            <a:ext cx="3359348" cy="205055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经济</a:t>
            </a:r>
          </a:p>
          <a:p>
            <a:pPr algn="l"/>
            <a:endParaRPr lang="en-US"/>
          </a:p>
        </p:txBody>
      </p:sp>
      <p:sp>
        <p:nvSpPr>
          <p:cNvPr id="10" name="社会 / 文化"/>
          <p:cNvSpPr/>
          <p:nvPr/>
        </p:nvSpPr>
        <p:spPr>
          <a:xfrm>
            <a:off x="420886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社会 / 文化</a:t>
            </a:r>
          </a:p>
          <a:p>
            <a:pPr algn="l"/>
            <a:endParaRPr lang="en-US"/>
          </a:p>
        </p:txBody>
      </p:sp>
      <p:sp>
        <p:nvSpPr>
          <p:cNvPr id="11" name="地理 / 环境"/>
          <p:cNvSpPr/>
          <p:nvPr/>
        </p:nvSpPr>
        <p:spPr>
          <a:xfrm>
            <a:off x="6278017" y="3257550"/>
            <a:ext cx="3359348" cy="205055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地理 / 环境</a:t>
            </a:r>
          </a:p>
          <a:p>
            <a:pPr algn="l"/>
            <a:endParaRPr lang="en-US"/>
          </a:p>
        </p:txBody>
      </p:sp>
      <p:sp>
        <p:nvSpPr>
          <p:cNvPr id="12" name="直接"/>
          <p:cNvSpPr/>
          <p:nvPr/>
        </p:nvSpPr>
        <p:spPr>
          <a:xfrm>
            <a:off x="42088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直接</a:t>
            </a:r>
          </a:p>
          <a:p>
            <a:pPr algn="l"/>
            <a:endParaRPr lang="en-US"/>
          </a:p>
        </p:txBody>
      </p:sp>
      <p:sp>
        <p:nvSpPr>
          <p:cNvPr id="13" name="长期"/>
          <p:cNvSpPr/>
          <p:nvPr/>
        </p:nvSpPr>
        <p:spPr>
          <a:xfrm>
            <a:off x="352350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长期</a:t>
            </a:r>
          </a:p>
          <a:p>
            <a:pPr algn="l"/>
            <a:endParaRPr lang="en-US"/>
          </a:p>
        </p:txBody>
      </p:sp>
      <p:sp>
        <p:nvSpPr>
          <p:cNvPr id="14" name="哪项影响最重要？"/>
          <p:cNvSpPr/>
          <p:nvPr/>
        </p:nvSpPr>
        <p:spPr>
          <a:xfrm>
            <a:off x="6626126" y="5381179"/>
            <a:ext cx="3011239" cy="147652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哪项影响最重要？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延续与变化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之前"/>
          <p:cNvSpPr/>
          <p:nvPr/>
        </p:nvSpPr>
        <p:spPr>
          <a:xfrm>
            <a:off x="420886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之前</a:t>
            </a:r>
          </a:p>
          <a:p>
            <a:pPr algn="l"/>
            <a:endParaRPr lang="en-US"/>
          </a:p>
        </p:txBody>
      </p:sp>
      <p:sp>
        <p:nvSpPr>
          <p:cNvPr id="8" name="期间"/>
          <p:cNvSpPr/>
          <p:nvPr/>
        </p:nvSpPr>
        <p:spPr>
          <a:xfrm>
            <a:off x="3520380" y="1133921"/>
            <a:ext cx="3017490" cy="218018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期间</a:t>
            </a:r>
          </a:p>
          <a:p>
            <a:pPr algn="l"/>
            <a:endParaRPr lang="en-US"/>
          </a:p>
        </p:txBody>
      </p:sp>
      <p:sp>
        <p:nvSpPr>
          <p:cNvPr id="9" name="之后"/>
          <p:cNvSpPr/>
          <p:nvPr/>
        </p:nvSpPr>
        <p:spPr>
          <a:xfrm>
            <a:off x="6620024" y="1133921"/>
            <a:ext cx="3017341" cy="218018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之后</a:t>
            </a:r>
          </a:p>
          <a:p>
            <a:pPr algn="l"/>
            <a:endParaRPr lang="en-US"/>
          </a:p>
        </p:txBody>
      </p:sp>
      <p:sp>
        <p:nvSpPr>
          <p:cNvPr id="10" name="重大变化"/>
          <p:cNvSpPr/>
          <p:nvPr/>
        </p:nvSpPr>
        <p:spPr>
          <a:xfrm>
            <a:off x="420886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重大变化</a:t>
            </a:r>
          </a:p>
          <a:p>
            <a:pPr algn="l"/>
            <a:endParaRPr lang="en-US"/>
          </a:p>
        </p:txBody>
      </p:sp>
      <p:sp>
        <p:nvSpPr>
          <p:cNvPr id="11" name="逐渐变化"/>
          <p:cNvSpPr/>
          <p:nvPr/>
        </p:nvSpPr>
        <p:spPr>
          <a:xfrm>
            <a:off x="3520380" y="3396258"/>
            <a:ext cx="3017490" cy="196215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逐渐变化</a:t>
            </a:r>
          </a:p>
          <a:p>
            <a:pPr algn="l"/>
            <a:endParaRPr lang="en-US"/>
          </a:p>
        </p:txBody>
      </p:sp>
      <p:sp>
        <p:nvSpPr>
          <p:cNvPr id="12" name="什么保持不变？"/>
          <p:cNvSpPr/>
          <p:nvPr/>
        </p:nvSpPr>
        <p:spPr>
          <a:xfrm>
            <a:off x="6620024" y="3396258"/>
            <a:ext cx="3017341" cy="196215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什么保持不变？</a:t>
            </a:r>
          </a:p>
          <a:p>
            <a:pPr algn="l"/>
            <a:endParaRPr lang="en-US"/>
          </a:p>
        </p:txBody>
      </p:sp>
      <p:sp>
        <p:nvSpPr>
          <p:cNvPr id="13" name="为什么？"/>
          <p:cNvSpPr/>
          <p:nvPr/>
        </p:nvSpPr>
        <p:spPr>
          <a:xfrm>
            <a:off x="420886" y="5440561"/>
            <a:ext cx="4562475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为什么？</a:t>
            </a:r>
          </a:p>
          <a:p>
            <a:pPr algn="l"/>
            <a:endParaRPr lang="en-US"/>
          </a:p>
        </p:txBody>
      </p:sp>
      <p:sp>
        <p:nvSpPr>
          <p:cNvPr id="14" name="你的判断"/>
          <p:cNvSpPr/>
          <p:nvPr/>
        </p:nvSpPr>
        <p:spPr>
          <a:xfrm>
            <a:off x="5074741" y="5440561"/>
            <a:ext cx="4562624" cy="14169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你的判断</a:t>
            </a:r>
          </a:p>
          <a:p>
            <a:pPr algn="l"/>
            <a:endParaRPr lang="en-US"/>
          </a:p>
        </p:txBody>
      </p:sp>
      <p:cxnSp>
        <p:nvCxnSpPr>
          <p:cNvPr id="15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6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历史证据档案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历史问题"/>
          <p:cNvSpPr/>
          <p:nvPr/>
        </p:nvSpPr>
        <p:spPr>
          <a:xfrm>
            <a:off x="420886" y="1133921"/>
            <a:ext cx="9216628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历史问题</a:t>
            </a:r>
          </a:p>
          <a:p>
            <a:pPr algn="l"/>
            <a:endParaRPr lang="en-US"/>
          </a:p>
        </p:txBody>
      </p:sp>
      <p:sp>
        <p:nvSpPr>
          <p:cNvPr id="8" name="资料 1"/>
          <p:cNvSpPr/>
          <p:nvPr/>
        </p:nvSpPr>
        <p:spPr>
          <a:xfrm>
            <a:off x="420886" y="2343150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1</a:t>
            </a:r>
          </a:p>
          <a:p>
            <a:pPr algn="l"/>
            <a:endParaRPr lang="en-US"/>
          </a:p>
        </p:txBody>
      </p:sp>
      <p:sp>
        <p:nvSpPr>
          <p:cNvPr id="9" name="来源 1 的证据"/>
          <p:cNvSpPr/>
          <p:nvPr/>
        </p:nvSpPr>
        <p:spPr>
          <a:xfrm>
            <a:off x="420886" y="3331518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1 的证据</a:t>
            </a:r>
          </a:p>
          <a:p>
            <a:pPr algn="l"/>
            <a:endParaRPr lang="en-US"/>
          </a:p>
        </p:txBody>
      </p:sp>
      <p:sp>
        <p:nvSpPr>
          <p:cNvPr id="10" name="可靠性 / 局限"/>
          <p:cNvSpPr/>
          <p:nvPr/>
        </p:nvSpPr>
        <p:spPr>
          <a:xfrm>
            <a:off x="420886" y="4319885"/>
            <a:ext cx="3023443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1" name="资料 2"/>
          <p:cNvSpPr/>
          <p:nvPr/>
        </p:nvSpPr>
        <p:spPr>
          <a:xfrm>
            <a:off x="3517404" y="2343150"/>
            <a:ext cx="3023443" cy="927943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2</a:t>
            </a:r>
          </a:p>
          <a:p>
            <a:pPr algn="l"/>
            <a:endParaRPr lang="en-US"/>
          </a:p>
        </p:txBody>
      </p:sp>
      <p:sp>
        <p:nvSpPr>
          <p:cNvPr id="12" name="来源 2 的证据"/>
          <p:cNvSpPr/>
          <p:nvPr/>
        </p:nvSpPr>
        <p:spPr>
          <a:xfrm>
            <a:off x="3517404" y="3344168"/>
            <a:ext cx="3023443" cy="9088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2 的证据</a:t>
            </a:r>
          </a:p>
          <a:p>
            <a:pPr algn="l"/>
            <a:endParaRPr lang="en-US"/>
          </a:p>
        </p:txBody>
      </p:sp>
      <p:sp>
        <p:nvSpPr>
          <p:cNvPr id="13" name="可靠性 / 局限"/>
          <p:cNvSpPr/>
          <p:nvPr/>
        </p:nvSpPr>
        <p:spPr>
          <a:xfrm>
            <a:off x="3517404" y="4326136"/>
            <a:ext cx="3023443" cy="90904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4" name="资料 3"/>
          <p:cNvSpPr/>
          <p:nvPr/>
        </p:nvSpPr>
        <p:spPr>
          <a:xfrm>
            <a:off x="6613922" y="2343150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资料 3</a:t>
            </a:r>
          </a:p>
          <a:p>
            <a:pPr algn="l"/>
            <a:endParaRPr lang="en-US"/>
          </a:p>
        </p:txBody>
      </p:sp>
      <p:sp>
        <p:nvSpPr>
          <p:cNvPr id="15" name="来源 3 的证据"/>
          <p:cNvSpPr/>
          <p:nvPr/>
        </p:nvSpPr>
        <p:spPr>
          <a:xfrm>
            <a:off x="6613922" y="3331518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来源 3 的证据</a:t>
            </a:r>
          </a:p>
          <a:p>
            <a:pPr algn="l"/>
            <a:endParaRPr lang="en-US"/>
          </a:p>
        </p:txBody>
      </p:sp>
      <p:sp>
        <p:nvSpPr>
          <p:cNvPr id="16" name="可靠性 / 局限"/>
          <p:cNvSpPr/>
          <p:nvPr/>
        </p:nvSpPr>
        <p:spPr>
          <a:xfrm>
            <a:off x="6613922" y="4319885"/>
            <a:ext cx="3023592" cy="915293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可靠性 / 局限</a:t>
            </a:r>
          </a:p>
          <a:p>
            <a:pPr algn="l"/>
            <a:endParaRPr lang="en-US"/>
          </a:p>
        </p:txBody>
      </p:sp>
      <p:sp>
        <p:nvSpPr>
          <p:cNvPr id="17" name="冲突 / 缺失的证据"/>
          <p:cNvSpPr/>
          <p:nvPr/>
        </p:nvSpPr>
        <p:spPr>
          <a:xfrm>
            <a:off x="420886" y="5308253"/>
            <a:ext cx="3023443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冲突 / 缺失的证据</a:t>
            </a:r>
          </a:p>
          <a:p>
            <a:pPr algn="l"/>
            <a:endParaRPr lang="en-US"/>
          </a:p>
        </p:txBody>
      </p:sp>
      <p:sp>
        <p:nvSpPr>
          <p:cNvPr id="18" name="初步结论"/>
          <p:cNvSpPr/>
          <p:nvPr/>
        </p:nvSpPr>
        <p:spPr>
          <a:xfrm>
            <a:off x="3517404" y="5308253"/>
            <a:ext cx="6120110" cy="608558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初步结论</a:t>
            </a:r>
          </a:p>
          <a:p>
            <a:pPr algn="l"/>
            <a:endParaRPr lang="en-US"/>
          </a:p>
        </p:txBody>
      </p:sp>
      <p:cxnSp>
        <p:nvCxnSpPr>
          <p:cNvPr id="19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0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1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比较两个事件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9-12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事件 A"/>
          <p:cNvSpPr/>
          <p:nvPr/>
        </p:nvSpPr>
        <p:spPr>
          <a:xfrm>
            <a:off x="420886" y="1133921"/>
            <a:ext cx="3239393" cy="95503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事件 A</a:t>
            </a:r>
          </a:p>
          <a:p>
            <a:pPr algn="l"/>
            <a:endParaRPr lang="en-US"/>
          </a:p>
        </p:txBody>
      </p:sp>
      <p:sp>
        <p:nvSpPr>
          <p:cNvPr id="8" name="事件 B"/>
          <p:cNvSpPr/>
          <p:nvPr/>
        </p:nvSpPr>
        <p:spPr>
          <a:xfrm>
            <a:off x="6397972" y="1133921"/>
            <a:ext cx="3239542" cy="955030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事件 B</a:t>
            </a:r>
          </a:p>
          <a:p>
            <a:pPr algn="l"/>
            <a:endParaRPr lang="en-US"/>
          </a:p>
        </p:txBody>
      </p:sp>
      <p:sp>
        <p:nvSpPr>
          <p:cNvPr id="9" name="是什么导致的？"/>
          <p:cNvSpPr/>
          <p:nvPr/>
        </p:nvSpPr>
        <p:spPr>
          <a:xfrm>
            <a:off x="420886" y="2162026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10" name="关键人物 / 群体"/>
          <p:cNvSpPr/>
          <p:nvPr/>
        </p:nvSpPr>
        <p:spPr>
          <a:xfrm>
            <a:off x="420886" y="3066752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1" name="相似点"/>
          <p:cNvSpPr/>
          <p:nvPr/>
        </p:nvSpPr>
        <p:spPr>
          <a:xfrm>
            <a:off x="3733354" y="2162026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相似点</a:t>
            </a:r>
          </a:p>
          <a:p>
            <a:pPr algn="l"/>
            <a:endParaRPr lang="en-US"/>
          </a:p>
        </p:txBody>
      </p:sp>
      <p:sp>
        <p:nvSpPr>
          <p:cNvPr id="12" name="不同点"/>
          <p:cNvSpPr/>
          <p:nvPr/>
        </p:nvSpPr>
        <p:spPr>
          <a:xfrm>
            <a:off x="3733354" y="3066752"/>
            <a:ext cx="2591544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不同点</a:t>
            </a:r>
          </a:p>
          <a:p>
            <a:pPr algn="l"/>
            <a:endParaRPr lang="en-US"/>
          </a:p>
        </p:txBody>
      </p:sp>
      <p:sp>
        <p:nvSpPr>
          <p:cNvPr id="13" name="是什么导致的？"/>
          <p:cNvSpPr/>
          <p:nvPr/>
        </p:nvSpPr>
        <p:spPr>
          <a:xfrm>
            <a:off x="6397972" y="2162026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是什么导致的？</a:t>
            </a:r>
          </a:p>
          <a:p>
            <a:pPr algn="l"/>
            <a:endParaRPr lang="en-US"/>
          </a:p>
        </p:txBody>
      </p:sp>
      <p:sp>
        <p:nvSpPr>
          <p:cNvPr id="14" name="关键人物 / 群体"/>
          <p:cNvSpPr/>
          <p:nvPr/>
        </p:nvSpPr>
        <p:spPr>
          <a:xfrm>
            <a:off x="6397972" y="3066752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关键人物 / 群体</a:t>
            </a:r>
          </a:p>
          <a:p>
            <a:pPr algn="l"/>
            <a:endParaRPr lang="en-US"/>
          </a:p>
        </p:txBody>
      </p:sp>
      <p:sp>
        <p:nvSpPr>
          <p:cNvPr id="15" name="结果"/>
          <p:cNvSpPr/>
          <p:nvPr/>
        </p:nvSpPr>
        <p:spPr>
          <a:xfrm>
            <a:off x="420886" y="3971479"/>
            <a:ext cx="3239393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6" name="历史意义"/>
          <p:cNvSpPr/>
          <p:nvPr/>
        </p:nvSpPr>
        <p:spPr>
          <a:xfrm>
            <a:off x="420886" y="4876205"/>
            <a:ext cx="3239393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sp>
        <p:nvSpPr>
          <p:cNvPr id="17" name="哪项比较最重要？"/>
          <p:cNvSpPr/>
          <p:nvPr/>
        </p:nvSpPr>
        <p:spPr>
          <a:xfrm>
            <a:off x="3733354" y="3971479"/>
            <a:ext cx="2591544" cy="173652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哪项比较最重要？</a:t>
            </a:r>
          </a:p>
          <a:p>
            <a:pPr algn="l"/>
            <a:endParaRPr lang="en-US"/>
          </a:p>
        </p:txBody>
      </p:sp>
      <p:sp>
        <p:nvSpPr>
          <p:cNvPr id="18" name="结果"/>
          <p:cNvSpPr/>
          <p:nvPr/>
        </p:nvSpPr>
        <p:spPr>
          <a:xfrm>
            <a:off x="6397972" y="3971479"/>
            <a:ext cx="3239542" cy="83165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sp>
        <p:nvSpPr>
          <p:cNvPr id="19" name="历史意义"/>
          <p:cNvSpPr/>
          <p:nvPr/>
        </p:nvSpPr>
        <p:spPr>
          <a:xfrm>
            <a:off x="6397972" y="4876205"/>
            <a:ext cx="3239542" cy="831800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历史意义</a:t>
            </a:r>
          </a:p>
          <a:p>
            <a:pPr algn="l"/>
            <a:endParaRPr lang="en-US"/>
          </a:p>
        </p:txBody>
      </p:sp>
      <p:sp>
        <p:nvSpPr>
          <p:cNvPr id="20" name="证据"/>
          <p:cNvSpPr/>
          <p:nvPr/>
        </p:nvSpPr>
        <p:spPr>
          <a:xfrm>
            <a:off x="420886" y="5781080"/>
            <a:ext cx="9216628" cy="627608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920" b="1" dirty="0">
                <a:solidFill>
                  <a:srgbClr val="111111"/>
                </a:solidFill>
                <a:latin typeface="Arial"/>
                <a:cs typeface="Arial"/>
              </a:rPr>
              <a:t>证据</a:t>
            </a:r>
          </a:p>
          <a:p>
            <a:pPr algn="l"/>
            <a:endParaRPr lang="en-US"/>
          </a:p>
        </p:txBody>
      </p:sp>
      <p:cxnSp>
        <p:nvCxnSpPr>
          <p:cNvPr id="21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2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9–12年级：历史探究、时间顺序、因果关系、观点、资料来源评估、主张与证据、地理解读、视觉表达。</a:t>
            </a:r>
          </a:p>
        </p:txBody>
      </p:sp>
      <p:sp>
        <p:nvSpPr>
          <p:cNvPr id="24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历史事件图</dc:title>
  <dc:creator>Miguel Guhlin / Miguel Guhlin</dc:creator>
  <cp:lastModifiedBy>Miguel Guhlin</cp:lastModifiedBy>
</cp:coreProperties>
</file>