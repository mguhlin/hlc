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0058400" cy="7772400"/>
  <p:notesSz cx="7772400" cy="100584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घटना संक्षेप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यह क्यों हुआ?"/>
          <p:cNvSpPr/>
          <p:nvPr/>
        </p:nvSpPr>
        <p:spPr>
          <a:xfrm>
            <a:off x="420886" y="1133921"/>
            <a:ext cx="287937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यह क्यों हुआ?</a:t>
            </a:r>
          </a:p>
          <a:p>
            <a:pPr algn="l"/>
            <a:endParaRPr lang="en-US"/>
          </a:p>
        </p:txBody>
      </p:sp>
      <p:sp>
        <p:nvSpPr>
          <p:cNvPr id="8" name="यह महत्वपूर्ण क्यों था?"/>
          <p:cNvSpPr/>
          <p:nvPr/>
        </p:nvSpPr>
        <p:spPr>
          <a:xfrm>
            <a:off x="3373338" y="1133921"/>
            <a:ext cx="3311575" cy="205055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यह महत्वपूर्ण क्यों था?</a:t>
            </a:r>
          </a:p>
          <a:p>
            <a:pPr algn="l"/>
            <a:endParaRPr lang="en-US"/>
          </a:p>
        </p:txBody>
      </p:sp>
      <p:sp>
        <p:nvSpPr>
          <p:cNvPr id="9" name="अंत में क्या हुआ?"/>
          <p:cNvSpPr/>
          <p:nvPr/>
        </p:nvSpPr>
        <p:spPr>
          <a:xfrm>
            <a:off x="6757988" y="1133921"/>
            <a:ext cx="287937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अंत में क्या हुआ?</a:t>
            </a:r>
          </a:p>
          <a:p>
            <a:pPr algn="l"/>
            <a:endParaRPr lang="en-US"/>
          </a:p>
        </p:txBody>
      </p:sp>
      <p:sp>
        <p:nvSpPr>
          <p:cNvPr id="10" name="यह कैसे हुआ?"/>
          <p:cNvSpPr/>
          <p:nvPr/>
        </p:nvSpPr>
        <p:spPr>
          <a:xfrm>
            <a:off x="420886" y="3257550"/>
            <a:ext cx="2879378" cy="14763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यह कैसे हुआ?</a:t>
            </a:r>
          </a:p>
          <a:p>
            <a:pPr algn="l"/>
            <a:endParaRPr lang="en-US"/>
          </a:p>
        </p:txBody>
      </p:sp>
      <p:sp>
        <p:nvSpPr>
          <p:cNvPr id="11" name="घटना"/>
          <p:cNvSpPr/>
          <p:nvPr/>
        </p:nvSpPr>
        <p:spPr>
          <a:xfrm>
            <a:off x="3373338" y="3257550"/>
            <a:ext cx="3311575" cy="1476375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घटना</a:t>
            </a:r>
          </a:p>
        </p:txBody>
      </p:sp>
      <p:sp>
        <p:nvSpPr>
          <p:cNvPr id="12" name="यह कब हुआ?"/>
          <p:cNvSpPr/>
          <p:nvPr/>
        </p:nvSpPr>
        <p:spPr>
          <a:xfrm>
            <a:off x="6757988" y="3257550"/>
            <a:ext cx="2879378" cy="14763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यह कब हुआ?</a:t>
            </a:r>
          </a:p>
          <a:p>
            <a:pPr algn="l"/>
            <a:endParaRPr lang="en-US"/>
          </a:p>
        </p:txBody>
      </p:sp>
      <p:sp>
        <p:nvSpPr>
          <p:cNvPr id="13" name="कौन शामिल था?"/>
          <p:cNvSpPr/>
          <p:nvPr/>
        </p:nvSpPr>
        <p:spPr>
          <a:xfrm>
            <a:off x="420886" y="4807000"/>
            <a:ext cx="2879378" cy="205070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कौन शामिल था?</a:t>
            </a:r>
          </a:p>
          <a:p>
            <a:pPr algn="l"/>
            <a:endParaRPr lang="en-US"/>
          </a:p>
        </p:txBody>
      </p:sp>
      <p:sp>
        <p:nvSpPr>
          <p:cNvPr id="14" name="यह कहाँ हुआ?"/>
          <p:cNvSpPr/>
          <p:nvPr/>
        </p:nvSpPr>
        <p:spPr>
          <a:xfrm>
            <a:off x="3373338" y="4807000"/>
            <a:ext cx="3311575" cy="205070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यह कहाँ हुआ?</a:t>
            </a:r>
          </a:p>
          <a:p>
            <a:pPr algn="l"/>
            <a:endParaRPr lang="en-US"/>
          </a:p>
        </p:txBody>
      </p:sp>
      <p:sp>
        <p:nvSpPr>
          <p:cNvPr id="15" name="आप क्या निष्कर्ष निकाल सकते हैं?"/>
          <p:cNvSpPr/>
          <p:nvPr/>
        </p:nvSpPr>
        <p:spPr>
          <a:xfrm>
            <a:off x="6757988" y="4807000"/>
            <a:ext cx="2879378" cy="205070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आप क्या निष्कर्ष निकाल सकते हैं?</a:t>
            </a:r>
          </a:p>
          <a:p>
            <a:pPr algn="l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3–5: कालक्रम, कारण/प्रभाव, स्रोत, दृष्टिकोण, मानचित्र, ग्राफिक आयोजक, दावे और प्रमाण।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कारण → घटना → प्रभाव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यह महत्वपूर्ण क्यों था?"/>
          <p:cNvSpPr/>
          <p:nvPr/>
        </p:nvSpPr>
        <p:spPr>
          <a:xfrm>
            <a:off x="3379887" y="1133921"/>
            <a:ext cx="3298478" cy="68148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यह महत्वपूर्ण क्यों था?</a:t>
            </a:r>
          </a:p>
          <a:p>
            <a:pPr algn="l"/>
            <a:endParaRPr lang="en-US"/>
          </a:p>
        </p:txBody>
      </p:sp>
      <p:sp>
        <p:nvSpPr>
          <p:cNvPr id="8" name="यह क्यों हुआ?"/>
          <p:cNvSpPr/>
          <p:nvPr/>
        </p:nvSpPr>
        <p:spPr>
          <a:xfrm>
            <a:off x="420886" y="2849761"/>
            <a:ext cx="2885926" cy="1469975"/>
          </a:xfrm>
          <a:prstGeom prst="ellipse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यह क्यों हुआ?</a:t>
            </a:r>
          </a:p>
        </p:txBody>
      </p:sp>
      <p:sp>
        <p:nvSpPr>
          <p:cNvPr id="9" name="घटना"/>
          <p:cNvSpPr/>
          <p:nvPr/>
        </p:nvSpPr>
        <p:spPr>
          <a:xfrm>
            <a:off x="3379887" y="2849761"/>
            <a:ext cx="3298478" cy="1469975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घटना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0" name="तुरंत प्रभाव"/>
          <p:cNvSpPr/>
          <p:nvPr/>
        </p:nvSpPr>
        <p:spPr>
          <a:xfrm>
            <a:off x="6751439" y="2849761"/>
            <a:ext cx="2885926" cy="1469975"/>
          </a:xfrm>
          <a:prstGeom prst="ellipse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तुरंत प्रभाव</a:t>
            </a:r>
          </a:p>
        </p:txBody>
      </p:sp>
      <p:sp>
        <p:nvSpPr>
          <p:cNvPr id="11" name="कौन शामिल था?"/>
          <p:cNvSpPr/>
          <p:nvPr/>
        </p:nvSpPr>
        <p:spPr>
          <a:xfrm>
            <a:off x="420886" y="439281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कौन शामिल था?</a:t>
            </a:r>
          </a:p>
          <a:p>
            <a:pPr algn="l"/>
            <a:endParaRPr lang="en-US"/>
          </a:p>
        </p:txBody>
      </p:sp>
      <p:sp>
        <p:nvSpPr>
          <p:cNvPr id="12" name="बाद के / दीर्घकालिक प्रभाव"/>
          <p:cNvSpPr/>
          <p:nvPr/>
        </p:nvSpPr>
        <p:spPr>
          <a:xfrm>
            <a:off x="6751439" y="439281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बाद के / दीर्घकालिक प्रभाव</a:t>
            </a:r>
          </a:p>
          <a:p>
            <a:pPr algn="l"/>
            <a:endParaRPr lang="en-US"/>
          </a:p>
        </p:txBody>
      </p:sp>
      <p:sp>
        <p:nvSpPr>
          <p:cNvPr id="13" name="आप क्या निष्कर्ष निकाल सकते हैं?"/>
          <p:cNvSpPr/>
          <p:nvPr/>
        </p:nvSpPr>
        <p:spPr>
          <a:xfrm>
            <a:off x="3379887" y="6195120"/>
            <a:ext cx="3298478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आप क्या निष्कर्ष निकाल सकते हैं?</a:t>
            </a:r>
          </a:p>
          <a:p>
            <a:pPr algn="l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3–5: कालक्रम, कारण/प्रभाव, स्रोत, दृष्टिकोण, मानचित्र, ग्राफिक आयोजक, दावे और प्रमाण।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घटना क्रम पथ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क्रम (घटनाओं का क्रम)"/>
          <p:cNvSpPr/>
          <p:nvPr/>
        </p:nvSpPr>
        <p:spPr>
          <a:xfrm>
            <a:off x="420886" y="4455468"/>
            <a:ext cx="9216628" cy="2402235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क्रम (घटनाओं का क्रम)</a:t>
            </a:r>
          </a:p>
          <a:p>
            <a:pPr algn="ctr"/>
            <a:endParaRPr lang="en-US"/>
          </a:p>
        </p:txBody>
      </p:sp>
      <p:sp>
        <p:nvSpPr>
          <p:cNvPr id="8" name="यह कहाँ हुआ?"/>
          <p:cNvSpPr/>
          <p:nvPr/>
        </p:nvSpPr>
        <p:spPr>
          <a:xfrm>
            <a:off x="420886" y="1133921"/>
            <a:ext cx="2885926" cy="68148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यह कहाँ हुआ?</a:t>
            </a:r>
          </a:p>
          <a:p>
            <a:pPr algn="l"/>
            <a:endParaRPr lang="en-US"/>
          </a:p>
        </p:txBody>
      </p:sp>
      <p:sp>
        <p:nvSpPr>
          <p:cNvPr id="9" name="घटना"/>
          <p:cNvSpPr/>
          <p:nvPr/>
        </p:nvSpPr>
        <p:spPr>
          <a:xfrm>
            <a:off x="3379887" y="1133921"/>
            <a:ext cx="3298478" cy="2067371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घटना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0" name="यह कब हुआ?"/>
          <p:cNvSpPr/>
          <p:nvPr/>
        </p:nvSpPr>
        <p:spPr>
          <a:xfrm>
            <a:off x="6751439" y="113392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यह कब हुआ?</a:t>
            </a:r>
          </a:p>
          <a:p>
            <a:pPr algn="l"/>
            <a:endParaRPr lang="en-US"/>
          </a:p>
        </p:txBody>
      </p:sp>
      <p:sp>
        <p:nvSpPr>
          <p:cNvPr id="11" name="शुरुआत"/>
          <p:cNvSpPr/>
          <p:nvPr/>
        </p:nvSpPr>
        <p:spPr>
          <a:xfrm>
            <a:off x="420886" y="2259509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शुरुआत</a:t>
            </a:r>
          </a:p>
          <a:p>
            <a:pPr algn="l"/>
            <a:endParaRPr lang="en-US"/>
          </a:p>
        </p:txBody>
      </p:sp>
      <p:sp>
        <p:nvSpPr>
          <p:cNvPr id="12" name="कौन शामिल था?"/>
          <p:cNvSpPr/>
          <p:nvPr/>
        </p:nvSpPr>
        <p:spPr>
          <a:xfrm>
            <a:off x="6751439" y="2259509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कौन शामिल था?</a:t>
            </a:r>
          </a:p>
          <a:p>
            <a:pPr algn="l"/>
            <a:endParaRPr lang="en-US"/>
          </a:p>
        </p:txBody>
      </p:sp>
      <p:sp>
        <p:nvSpPr>
          <p:cNvPr id="13" name="अंत"/>
          <p:cNvSpPr/>
          <p:nvPr/>
        </p:nvSpPr>
        <p:spPr>
          <a:xfrm>
            <a:off x="420886" y="3274368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अंत</a:t>
            </a:r>
          </a:p>
          <a:p>
            <a:pPr algn="l"/>
            <a:endParaRPr lang="en-US"/>
          </a:p>
        </p:txBody>
      </p:sp>
      <p:sp>
        <p:nvSpPr>
          <p:cNvPr id="14" name="यह महत्वपूर्ण क्यों था?"/>
          <p:cNvSpPr/>
          <p:nvPr/>
        </p:nvSpPr>
        <p:spPr>
          <a:xfrm>
            <a:off x="3379887" y="3274368"/>
            <a:ext cx="3298478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यह महत्वपूर्ण क्यों था?</a:t>
            </a:r>
          </a:p>
          <a:p>
            <a:pPr algn="l"/>
            <a:endParaRPr lang="en-US"/>
          </a:p>
        </p:txBody>
      </p:sp>
      <p:sp>
        <p:nvSpPr>
          <p:cNvPr id="15" name="label"/>
          <p:cNvSpPr txBox="1"/>
          <p:nvPr/>
        </p:nvSpPr>
        <p:spPr>
          <a:xfrm>
            <a:off x="549473" y="4737497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1.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549473" y="4911328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2.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549473" y="5085011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3.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549473" y="5258693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4.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549473" y="5432524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5.</a:t>
            </a:r>
          </a:p>
        </p:txBody>
      </p:sp>
      <p:cxnSp>
        <p:nvCxnSpPr>
          <p:cNvPr id="20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1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22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3–5: कालक्रम, कारण/प्रभाव, स्रोत, दृष्टिकोण, मानचित्र, ग्राफिक आयोजक, दावे और प्रमाण।</a:t>
            </a:r>
          </a:p>
        </p:txBody>
      </p:sp>
      <p:sp>
        <p:nvSpPr>
          <p:cNvPr id="23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लोग और समूह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महत्वपूर्ण नेता"/>
          <p:cNvSpPr/>
          <p:nvPr/>
        </p:nvSpPr>
        <p:spPr>
          <a:xfrm>
            <a:off x="420886" y="1133921"/>
            <a:ext cx="3415010" cy="2768352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महत्वपूर्ण नेता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8" name="यह व्यक्ति महत्वपूर्ण क्यों था?"/>
          <p:cNvSpPr/>
          <p:nvPr/>
        </p:nvSpPr>
        <p:spPr>
          <a:xfrm>
            <a:off x="420886" y="3975348"/>
            <a:ext cx="3415010" cy="28823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यह व्यक्ति महत्वपूर्ण क्यों था?</a:t>
            </a:r>
          </a:p>
          <a:p>
            <a:pPr algn="l"/>
            <a:endParaRPr lang="en-US"/>
          </a:p>
        </p:txBody>
      </p:sp>
      <p:sp>
        <p:nvSpPr>
          <p:cNvPr id="9" name="समूह 1"/>
          <p:cNvSpPr/>
          <p:nvPr/>
        </p:nvSpPr>
        <p:spPr>
          <a:xfrm>
            <a:off x="3945582" y="1133921"/>
            <a:ext cx="1848594" cy="291405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समूह 1</a:t>
            </a:r>
          </a:p>
          <a:p>
            <a:pPr algn="ctr"/>
            <a:endParaRPr lang="en-US"/>
          </a:p>
        </p:txBody>
      </p:sp>
      <p:sp>
        <p:nvSpPr>
          <p:cNvPr id="10" name="समूह 1 क्या चाहता था?"/>
          <p:cNvSpPr/>
          <p:nvPr/>
        </p:nvSpPr>
        <p:spPr>
          <a:xfrm>
            <a:off x="3945582" y="1489323"/>
            <a:ext cx="1848594" cy="265211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समूह 1 क्या चाहता था?</a:t>
            </a:r>
          </a:p>
          <a:p>
            <a:pPr algn="l"/>
            <a:endParaRPr lang="en-US"/>
          </a:p>
        </p:txBody>
      </p:sp>
      <p:sp>
        <p:nvSpPr>
          <p:cNvPr id="11" name="आप क्या निष्कर्ष निकाल सकते हैं?"/>
          <p:cNvSpPr/>
          <p:nvPr/>
        </p:nvSpPr>
        <p:spPr>
          <a:xfrm>
            <a:off x="3945582" y="4205436"/>
            <a:ext cx="1848594" cy="2652266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आप क्या निष्कर्ष निकाल सकते हैं?</a:t>
            </a:r>
          </a:p>
          <a:p>
            <a:pPr algn="l"/>
            <a:endParaRPr lang="en-US"/>
          </a:p>
        </p:txBody>
      </p:sp>
      <p:sp>
        <p:nvSpPr>
          <p:cNvPr id="12" name="समूह 2"/>
          <p:cNvSpPr/>
          <p:nvPr/>
        </p:nvSpPr>
        <p:spPr>
          <a:xfrm>
            <a:off x="5867251" y="1133921"/>
            <a:ext cx="1848594" cy="291405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समूह 2</a:t>
            </a:r>
          </a:p>
          <a:p>
            <a:pPr algn="ctr"/>
            <a:endParaRPr lang="en-US"/>
          </a:p>
        </p:txBody>
      </p:sp>
      <p:sp>
        <p:nvSpPr>
          <p:cNvPr id="13" name="समूह 2 क्या चाहता था?"/>
          <p:cNvSpPr/>
          <p:nvPr/>
        </p:nvSpPr>
        <p:spPr>
          <a:xfrm>
            <a:off x="5867251" y="1489323"/>
            <a:ext cx="1848594" cy="2652117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समूह 2 क्या चाहता था?</a:t>
            </a:r>
          </a:p>
          <a:p>
            <a:pPr algn="l"/>
            <a:endParaRPr lang="en-US"/>
          </a:p>
        </p:txBody>
      </p:sp>
      <p:sp>
        <p:nvSpPr>
          <p:cNvPr id="14" name="परिणाम"/>
          <p:cNvSpPr/>
          <p:nvPr/>
        </p:nvSpPr>
        <p:spPr>
          <a:xfrm>
            <a:off x="5867251" y="4205436"/>
            <a:ext cx="1848594" cy="2652266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परिणाम</a:t>
            </a:r>
          </a:p>
          <a:p>
            <a:pPr algn="l"/>
            <a:endParaRPr lang="en-US"/>
          </a:p>
        </p:txBody>
      </p:sp>
      <p:sp>
        <p:nvSpPr>
          <p:cNvPr id="15" name="समूह 3"/>
          <p:cNvSpPr/>
          <p:nvPr/>
        </p:nvSpPr>
        <p:spPr>
          <a:xfrm>
            <a:off x="7788920" y="1133921"/>
            <a:ext cx="1848594" cy="291405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समूह 3</a:t>
            </a:r>
          </a:p>
          <a:p>
            <a:pPr algn="ctr"/>
            <a:endParaRPr lang="en-US"/>
          </a:p>
        </p:txBody>
      </p:sp>
      <p:sp>
        <p:nvSpPr>
          <p:cNvPr id="16" name="समूह 3 क्या चाहता था?"/>
          <p:cNvSpPr/>
          <p:nvPr/>
        </p:nvSpPr>
        <p:spPr>
          <a:xfrm>
            <a:off x="7788920" y="1489323"/>
            <a:ext cx="1848594" cy="265211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समूह 3 क्या चाहता था?</a:t>
            </a:r>
          </a:p>
          <a:p>
            <a:pPr algn="l"/>
            <a:endParaRPr lang="en-US"/>
          </a:p>
        </p:txBody>
      </p:sp>
      <p:sp>
        <p:nvSpPr>
          <p:cNvPr id="17" name="परिणाम"/>
          <p:cNvSpPr/>
          <p:nvPr/>
        </p:nvSpPr>
        <p:spPr>
          <a:xfrm>
            <a:off x="7788920" y="4205436"/>
            <a:ext cx="1848594" cy="2652266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परिणाम</a:t>
            </a:r>
          </a:p>
          <a:p>
            <a:pPr algn="l"/>
            <a:endParaRPr lang="en-US"/>
          </a:p>
        </p:txBody>
      </p:sp>
      <p:cxnSp>
        <p:nvCxnSpPr>
          <p:cNvPr id="18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9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20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3–5: कालक्रम, कारण/प्रभाव, स्रोत, दृष्टिकोण, मानचित्र, ग्राफिक आयोजक, दावे और प्रमाण।</a:t>
            </a:r>
          </a:p>
        </p:txBody>
      </p:sp>
      <p:sp>
        <p:nvSpPr>
          <p:cNvPr id="21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स्थान क्यों महत्वपूर्ण है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भौतिक विशेषताएँ"/>
          <p:cNvSpPr/>
          <p:nvPr/>
        </p:nvSpPr>
        <p:spPr>
          <a:xfrm>
            <a:off x="420886" y="1133921"/>
            <a:ext cx="3169741" cy="2816126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भौतिक विशेषताएँ</a:t>
            </a:r>
          </a:p>
          <a:p>
            <a:pPr algn="l"/>
            <a:endParaRPr lang="en-US"/>
          </a:p>
        </p:txBody>
      </p:sp>
      <p:sp>
        <p:nvSpPr>
          <p:cNvPr id="8" name="घटना"/>
          <p:cNvSpPr/>
          <p:nvPr/>
        </p:nvSpPr>
        <p:spPr>
          <a:xfrm>
            <a:off x="3682008" y="1133921"/>
            <a:ext cx="2694236" cy="2816126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घटना</a:t>
            </a:r>
          </a:p>
        </p:txBody>
      </p:sp>
      <p:sp>
        <p:nvSpPr>
          <p:cNvPr id="9" name="मानवीय विशेषताएँ"/>
          <p:cNvSpPr/>
          <p:nvPr/>
        </p:nvSpPr>
        <p:spPr>
          <a:xfrm>
            <a:off x="6467624" y="1133921"/>
            <a:ext cx="3169890" cy="2816126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मानवीय विशेषताएँ</a:t>
            </a:r>
          </a:p>
          <a:p>
            <a:pPr algn="l"/>
            <a:endParaRPr lang="en-US"/>
          </a:p>
        </p:txBody>
      </p:sp>
      <p:sp>
        <p:nvSpPr>
          <p:cNvPr id="10" name="यह यहाँ क्यों हुआ?"/>
          <p:cNvSpPr/>
          <p:nvPr/>
        </p:nvSpPr>
        <p:spPr>
          <a:xfrm>
            <a:off x="420886" y="4041428"/>
            <a:ext cx="3169741" cy="28162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यह यहाँ क्यों हुआ?</a:t>
            </a:r>
          </a:p>
          <a:p>
            <a:pPr algn="l"/>
            <a:endParaRPr lang="en-US"/>
          </a:p>
        </p:txBody>
      </p:sp>
      <p:sp>
        <p:nvSpPr>
          <p:cNvPr id="11" name="आवागमन / मार्ग"/>
          <p:cNvSpPr/>
          <p:nvPr/>
        </p:nvSpPr>
        <p:spPr>
          <a:xfrm>
            <a:off x="3682008" y="4041428"/>
            <a:ext cx="2694236" cy="28162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आवागमन / मार्ग</a:t>
            </a:r>
          </a:p>
          <a:p>
            <a:pPr algn="l"/>
            <a:endParaRPr lang="en-US"/>
          </a:p>
        </p:txBody>
      </p:sp>
      <p:sp>
        <p:nvSpPr>
          <p:cNvPr id="12" name="स्थान ने घटना को कैसे प्रभावित किया?"/>
          <p:cNvSpPr/>
          <p:nvPr/>
        </p:nvSpPr>
        <p:spPr>
          <a:xfrm>
            <a:off x="6467624" y="4041428"/>
            <a:ext cx="3169890" cy="28162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स्थान ने घटना को कैसे प्रभावित किया?</a:t>
            </a:r>
          </a:p>
          <a:p>
            <a:pPr algn="l"/>
            <a:endParaRPr lang="en-US"/>
          </a:p>
        </p:txBody>
      </p:sp>
      <p:cxnSp>
        <p:nvCxnSpPr>
          <p:cNvPr id="13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4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15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3–5: कालक्रम, कारण/प्रभाव, स्रोत, दृष्टिकोण, मानचित्र, ग्राफिक आयोजक, दावे और प्रमाण।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पहले और बाद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पहले"/>
          <p:cNvSpPr/>
          <p:nvPr/>
        </p:nvSpPr>
        <p:spPr>
          <a:xfrm>
            <a:off x="420886" y="1133921"/>
            <a:ext cx="2809875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पहले</a:t>
            </a:r>
          </a:p>
          <a:p>
            <a:pPr algn="l"/>
            <a:endParaRPr lang="en-US"/>
          </a:p>
        </p:txBody>
      </p:sp>
      <p:sp>
        <p:nvSpPr>
          <p:cNvPr id="8" name="घटना"/>
          <p:cNvSpPr/>
          <p:nvPr/>
        </p:nvSpPr>
        <p:spPr>
          <a:xfrm>
            <a:off x="3614738" y="1133921"/>
            <a:ext cx="2809875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घटना</a:t>
            </a:r>
          </a:p>
          <a:p>
            <a:pPr algn="l"/>
            <a:endParaRPr lang="en-US"/>
          </a:p>
        </p:txBody>
      </p:sp>
      <p:sp>
        <p:nvSpPr>
          <p:cNvPr id="9" name="बाद में"/>
          <p:cNvSpPr/>
          <p:nvPr/>
        </p:nvSpPr>
        <p:spPr>
          <a:xfrm>
            <a:off x="6808589" y="1133921"/>
            <a:ext cx="2828925" cy="28116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बाद में</a:t>
            </a:r>
          </a:p>
          <a:p>
            <a:pPr algn="l"/>
            <a:endParaRPr lang="en-US"/>
          </a:p>
        </p:txBody>
      </p:sp>
      <p:sp>
        <p:nvSpPr>
          <p:cNvPr id="10" name="क्या बदला?"/>
          <p:cNvSpPr/>
          <p:nvPr/>
        </p:nvSpPr>
        <p:spPr>
          <a:xfrm>
            <a:off x="420886" y="4046041"/>
            <a:ext cx="4562624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क्या बदला?</a:t>
            </a:r>
          </a:p>
          <a:p>
            <a:pPr algn="l"/>
            <a:endParaRPr lang="en-US"/>
          </a:p>
        </p:txBody>
      </p:sp>
      <p:sp>
        <p:nvSpPr>
          <p:cNvPr id="11" name="क्या समान रहा?"/>
          <p:cNvSpPr/>
          <p:nvPr/>
        </p:nvSpPr>
        <p:spPr>
          <a:xfrm>
            <a:off x="5074890" y="4046041"/>
            <a:ext cx="4562624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क्या समान रहा?</a:t>
            </a:r>
          </a:p>
          <a:p>
            <a:pPr algn="l"/>
            <a:endParaRPr lang="en-US"/>
          </a:p>
        </p:txBody>
      </p:sp>
      <p:sp>
        <p:nvSpPr>
          <p:cNvPr id="12" name="arrow"/>
          <p:cNvSpPr txBox="1"/>
          <p:nvPr/>
        </p:nvSpPr>
        <p:spPr>
          <a:xfrm>
            <a:off x="3171289" y="1133921"/>
            <a:ext cx="502920" cy="2811661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3" name="arrow"/>
          <p:cNvSpPr txBox="1"/>
          <p:nvPr/>
        </p:nvSpPr>
        <p:spPr>
          <a:xfrm>
            <a:off x="6365141" y="1133921"/>
            <a:ext cx="502920" cy="2811661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3–5: कालक्रम, कारण/प्रभाव, स्रोत, दृष्टिकोण, मानचित्र, ग्राफिक आयोजक, दावे और प्रमाण।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घटना प्रमाण मानचित्र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स्रोत 1"/>
          <p:cNvSpPr/>
          <p:nvPr/>
        </p:nvSpPr>
        <p:spPr>
          <a:xfrm>
            <a:off x="420886" y="1133921"/>
            <a:ext cx="3011239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स्रोत 1</a:t>
            </a:r>
          </a:p>
          <a:p>
            <a:pPr algn="l"/>
            <a:endParaRPr lang="en-US"/>
          </a:p>
        </p:txBody>
      </p:sp>
      <p:sp>
        <p:nvSpPr>
          <p:cNvPr id="8" name="उपयोगी तथ्य या प्रमाण"/>
          <p:cNvSpPr/>
          <p:nvPr/>
        </p:nvSpPr>
        <p:spPr>
          <a:xfrm>
            <a:off x="420886" y="2913757"/>
            <a:ext cx="3011239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उपयोगी तथ्य या प्रमाण</a:t>
            </a:r>
          </a:p>
          <a:p>
            <a:pPr algn="l"/>
            <a:endParaRPr lang="en-US"/>
          </a:p>
        </p:txBody>
      </p:sp>
      <p:sp>
        <p:nvSpPr>
          <p:cNvPr id="9" name="स्रोत 2"/>
          <p:cNvSpPr/>
          <p:nvPr/>
        </p:nvSpPr>
        <p:spPr>
          <a:xfrm>
            <a:off x="3523506" y="1133921"/>
            <a:ext cx="3011239" cy="1716286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स्रोत 2</a:t>
            </a:r>
          </a:p>
          <a:p>
            <a:pPr algn="l"/>
            <a:endParaRPr lang="en-US"/>
          </a:p>
        </p:txBody>
      </p:sp>
      <p:sp>
        <p:nvSpPr>
          <p:cNvPr id="10" name="उपयोगी तथ्य या प्रमाण"/>
          <p:cNvSpPr/>
          <p:nvPr/>
        </p:nvSpPr>
        <p:spPr>
          <a:xfrm>
            <a:off x="3523506" y="2923282"/>
            <a:ext cx="3011239" cy="1697236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उपयोगी तथ्य या प्रमाण</a:t>
            </a:r>
          </a:p>
          <a:p>
            <a:pPr algn="l"/>
            <a:endParaRPr lang="en-US"/>
          </a:p>
        </p:txBody>
      </p:sp>
      <p:sp>
        <p:nvSpPr>
          <p:cNvPr id="11" name="स्रोत 3"/>
          <p:cNvSpPr/>
          <p:nvPr/>
        </p:nvSpPr>
        <p:spPr>
          <a:xfrm>
            <a:off x="6626126" y="1133921"/>
            <a:ext cx="3011388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स्रोत 3</a:t>
            </a:r>
          </a:p>
          <a:p>
            <a:pPr algn="l"/>
            <a:endParaRPr lang="en-US"/>
          </a:p>
        </p:txBody>
      </p:sp>
      <p:sp>
        <p:nvSpPr>
          <p:cNvPr id="12" name="उपयोगी तथ्य या प्रमाण"/>
          <p:cNvSpPr/>
          <p:nvPr/>
        </p:nvSpPr>
        <p:spPr>
          <a:xfrm>
            <a:off x="6626126" y="2913757"/>
            <a:ext cx="3011388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उपयोगी तथ्य या प्रमाण</a:t>
            </a:r>
          </a:p>
          <a:p>
            <a:pPr algn="l"/>
            <a:endParaRPr lang="en-US"/>
          </a:p>
        </p:txBody>
      </p:sp>
      <p:sp>
        <p:nvSpPr>
          <p:cNvPr id="13" name="आप क्या निष्कर्ष निकाल सकते हैं?"/>
          <p:cNvSpPr/>
          <p:nvPr/>
        </p:nvSpPr>
        <p:spPr>
          <a:xfrm>
            <a:off x="420886" y="4711898"/>
            <a:ext cx="9216628" cy="214580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आप क्या निष्कर्ष निकाल सकते हैं?</a:t>
            </a:r>
          </a:p>
          <a:p>
            <a:pPr algn="l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3–5: कालक्रम, कारण/प्रभाव, स्रोत, दृष्टिकोण, मानचित्र, ग्राफिक आयोजक, दावे और प्रमाण।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यह क्यों महत्वपूर्ण था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घटना"/>
          <p:cNvSpPr/>
          <p:nvPr/>
        </p:nvSpPr>
        <p:spPr>
          <a:xfrm>
            <a:off x="420886" y="1133921"/>
            <a:ext cx="2580977" cy="4969966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घटना</a:t>
            </a:r>
          </a:p>
        </p:txBody>
      </p:sp>
      <p:sp>
        <p:nvSpPr>
          <p:cNvPr id="8" name="लोगों पर प्रभाव"/>
          <p:cNvSpPr/>
          <p:nvPr/>
        </p:nvSpPr>
        <p:spPr>
          <a:xfrm>
            <a:off x="3093244" y="1133921"/>
            <a:ext cx="3226445" cy="2439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लोगों पर प्रभाव</a:t>
            </a:r>
          </a:p>
          <a:p>
            <a:pPr algn="l"/>
            <a:endParaRPr lang="en-US"/>
          </a:p>
        </p:txBody>
      </p:sp>
      <p:sp>
        <p:nvSpPr>
          <p:cNvPr id="9" name="सरकार पर प्रभाव"/>
          <p:cNvSpPr/>
          <p:nvPr/>
        </p:nvSpPr>
        <p:spPr>
          <a:xfrm>
            <a:off x="6411069" y="1133921"/>
            <a:ext cx="3226445" cy="243929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सरकार पर प्रभाव</a:t>
            </a:r>
          </a:p>
          <a:p>
            <a:pPr algn="l"/>
            <a:endParaRPr lang="en-US"/>
          </a:p>
        </p:txBody>
      </p:sp>
      <p:sp>
        <p:nvSpPr>
          <p:cNvPr id="10" name="अर्थव्यवस्था पर प्रभाव"/>
          <p:cNvSpPr/>
          <p:nvPr/>
        </p:nvSpPr>
        <p:spPr>
          <a:xfrm>
            <a:off x="3093244" y="3664595"/>
            <a:ext cx="3226445" cy="2439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अर्थव्यवस्था पर प्रभाव</a:t>
            </a:r>
          </a:p>
          <a:p>
            <a:pPr algn="l"/>
            <a:endParaRPr lang="en-US"/>
          </a:p>
        </p:txBody>
      </p:sp>
      <p:sp>
        <p:nvSpPr>
          <p:cNvPr id="11" name="समुदाय / संस्कृति पर प्रभाव"/>
          <p:cNvSpPr/>
          <p:nvPr/>
        </p:nvSpPr>
        <p:spPr>
          <a:xfrm>
            <a:off x="6411069" y="3664595"/>
            <a:ext cx="3226445" cy="2439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समुदाय / संस्कृति पर प्रभाव</a:t>
            </a:r>
          </a:p>
          <a:p>
            <a:pPr algn="l"/>
            <a:endParaRPr lang="en-US"/>
          </a:p>
        </p:txBody>
      </p:sp>
      <p:sp>
        <p:nvSpPr>
          <p:cNvPr id="12" name="कौन-सा बदलाव सबसे महत्वपूर्ण था?"/>
          <p:cNvSpPr/>
          <p:nvPr/>
        </p:nvSpPr>
        <p:spPr>
          <a:xfrm>
            <a:off x="420886" y="6195268"/>
            <a:ext cx="2580977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कौन-सा बदलाव सबसे महत्वपूर्ण था?</a:t>
            </a:r>
          </a:p>
          <a:p>
            <a:pPr algn="l"/>
            <a:endParaRPr lang="en-US"/>
          </a:p>
        </p:txBody>
      </p:sp>
      <p:cxnSp>
        <p:nvCxnSpPr>
          <p:cNvPr id="13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4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15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3–5: कालक्रम, कारण/प्रभाव, स्रोत, दृष्टिकोण, मानचित्र, ग्राफिक आयोजक, दावे और प्रमाण।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घटना जाँचकर्ता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यह क्यों हुआ?"/>
          <p:cNvSpPr/>
          <p:nvPr/>
        </p:nvSpPr>
        <p:spPr>
          <a:xfrm>
            <a:off x="420886" y="1133921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यह क्यों हुआ?</a:t>
            </a:r>
          </a:p>
          <a:p>
            <a:pPr algn="l"/>
            <a:endParaRPr lang="en-US"/>
          </a:p>
        </p:txBody>
      </p:sp>
      <p:sp>
        <p:nvSpPr>
          <p:cNvPr id="8" name="यह महत्वपूर्ण क्यों था?"/>
          <p:cNvSpPr/>
          <p:nvPr/>
        </p:nvSpPr>
        <p:spPr>
          <a:xfrm>
            <a:off x="3373338" y="1133921"/>
            <a:ext cx="3311426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यह महत्वपूर्ण क्यों था?</a:t>
            </a:r>
          </a:p>
          <a:p>
            <a:pPr algn="l"/>
            <a:endParaRPr lang="en-US"/>
          </a:p>
        </p:txBody>
      </p:sp>
      <p:sp>
        <p:nvSpPr>
          <p:cNvPr id="9" name="परिणाम"/>
          <p:cNvSpPr/>
          <p:nvPr/>
        </p:nvSpPr>
        <p:spPr>
          <a:xfrm>
            <a:off x="6757839" y="1133921"/>
            <a:ext cx="2879527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परिणाम</a:t>
            </a:r>
          </a:p>
          <a:p>
            <a:pPr algn="l"/>
            <a:endParaRPr lang="en-US"/>
          </a:p>
        </p:txBody>
      </p:sp>
      <p:sp>
        <p:nvSpPr>
          <p:cNvPr id="10" name="यह कैसे हुआ?"/>
          <p:cNvSpPr/>
          <p:nvPr/>
        </p:nvSpPr>
        <p:spPr>
          <a:xfrm>
            <a:off x="420886" y="3066157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यह कैसे हुआ?</a:t>
            </a:r>
          </a:p>
          <a:p>
            <a:pPr algn="l"/>
            <a:endParaRPr lang="en-US"/>
          </a:p>
        </p:txBody>
      </p:sp>
      <p:sp>
        <p:nvSpPr>
          <p:cNvPr id="11" name="घटना"/>
          <p:cNvSpPr/>
          <p:nvPr/>
        </p:nvSpPr>
        <p:spPr>
          <a:xfrm>
            <a:off x="3373338" y="3066157"/>
            <a:ext cx="3311426" cy="1859161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घटना</a:t>
            </a:r>
          </a:p>
        </p:txBody>
      </p:sp>
      <p:sp>
        <p:nvSpPr>
          <p:cNvPr id="12" name="यह कब हुआ?"/>
          <p:cNvSpPr/>
          <p:nvPr/>
        </p:nvSpPr>
        <p:spPr>
          <a:xfrm>
            <a:off x="6757839" y="3066157"/>
            <a:ext cx="2879527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यह कब हुआ?</a:t>
            </a:r>
          </a:p>
          <a:p>
            <a:pPr algn="l"/>
            <a:endParaRPr lang="en-US"/>
          </a:p>
        </p:txBody>
      </p:sp>
      <p:sp>
        <p:nvSpPr>
          <p:cNvPr id="13" name="शामिल समूह"/>
          <p:cNvSpPr/>
          <p:nvPr/>
        </p:nvSpPr>
        <p:spPr>
          <a:xfrm>
            <a:off x="420886" y="4998393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शामिल समूह</a:t>
            </a:r>
          </a:p>
          <a:p>
            <a:pPr algn="l"/>
            <a:endParaRPr lang="en-US"/>
          </a:p>
        </p:txBody>
      </p:sp>
      <p:sp>
        <p:nvSpPr>
          <p:cNvPr id="14" name="यह कहाँ हुआ?"/>
          <p:cNvSpPr/>
          <p:nvPr/>
        </p:nvSpPr>
        <p:spPr>
          <a:xfrm>
            <a:off x="3373338" y="4998393"/>
            <a:ext cx="3311426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यह कहाँ हुआ?</a:t>
            </a:r>
          </a:p>
          <a:p>
            <a:pPr algn="l"/>
            <a:endParaRPr lang="en-US"/>
          </a:p>
        </p:txBody>
      </p:sp>
      <p:sp>
        <p:nvSpPr>
          <p:cNvPr id="15" name="महत्वपूर्ण नेता"/>
          <p:cNvSpPr/>
          <p:nvPr/>
        </p:nvSpPr>
        <p:spPr>
          <a:xfrm>
            <a:off x="6757839" y="4998393"/>
            <a:ext cx="2879527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महत्वपूर्ण नेता</a:t>
            </a:r>
          </a:p>
          <a:p>
            <a:pPr algn="l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6–8: शोध, कालक्रम, कारण/प्रभाव, तुलना, ऐतिहासिक संदर्भ, दृष्टिकोण, स्रोत मूल्यांकन और दृश्य संचार।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दबाव के कारण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दीर्घकालिक कारण"/>
          <p:cNvSpPr/>
          <p:nvPr/>
        </p:nvSpPr>
        <p:spPr>
          <a:xfrm>
            <a:off x="420886" y="1133921"/>
            <a:ext cx="2011412" cy="296435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दीर्घकालिक कारण</a:t>
            </a:r>
          </a:p>
          <a:p>
            <a:pPr algn="l"/>
            <a:endParaRPr lang="en-US"/>
          </a:p>
        </p:txBody>
      </p:sp>
      <p:sp>
        <p:nvSpPr>
          <p:cNvPr id="8" name="अल्पकालिक कारण"/>
          <p:cNvSpPr/>
          <p:nvPr/>
        </p:nvSpPr>
        <p:spPr>
          <a:xfrm>
            <a:off x="2816275" y="1133921"/>
            <a:ext cx="2011412" cy="296435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अल्पकालिक कारण</a:t>
            </a:r>
          </a:p>
          <a:p>
            <a:pPr algn="l"/>
            <a:endParaRPr lang="en-US"/>
          </a:p>
        </p:txBody>
      </p:sp>
      <p:sp>
        <p:nvSpPr>
          <p:cNvPr id="9" name="तुरंत कारण / चिंगारी"/>
          <p:cNvSpPr/>
          <p:nvPr/>
        </p:nvSpPr>
        <p:spPr>
          <a:xfrm>
            <a:off x="5211663" y="1133921"/>
            <a:ext cx="2030462" cy="2964359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तुरंत कारण / चिंगारी</a:t>
            </a:r>
          </a:p>
          <a:p>
            <a:pPr algn="l"/>
            <a:endParaRPr lang="en-US"/>
          </a:p>
        </p:txBody>
      </p:sp>
      <p:sp>
        <p:nvSpPr>
          <p:cNvPr id="10" name="घटना"/>
          <p:cNvSpPr/>
          <p:nvPr/>
        </p:nvSpPr>
        <p:spPr>
          <a:xfrm>
            <a:off x="7626102" y="1133921"/>
            <a:ext cx="2011412" cy="296435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घटना</a:t>
            </a:r>
          </a:p>
          <a:p>
            <a:pPr algn="l"/>
            <a:endParaRPr lang="en-US"/>
          </a:p>
        </p:txBody>
      </p:sp>
      <p:sp>
        <p:nvSpPr>
          <p:cNvPr id="11" name="तुरंत प्रभाव"/>
          <p:cNvSpPr/>
          <p:nvPr/>
        </p:nvSpPr>
        <p:spPr>
          <a:xfrm>
            <a:off x="420886" y="4189661"/>
            <a:ext cx="4562624" cy="266804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तुरंत प्रभाव</a:t>
            </a:r>
          </a:p>
          <a:p>
            <a:pPr algn="l"/>
            <a:endParaRPr lang="en-US"/>
          </a:p>
        </p:txBody>
      </p:sp>
      <p:sp>
        <p:nvSpPr>
          <p:cNvPr id="12" name="बाद के / दीर्घकालिक प्रभाव"/>
          <p:cNvSpPr/>
          <p:nvPr/>
        </p:nvSpPr>
        <p:spPr>
          <a:xfrm>
            <a:off x="5074890" y="4189661"/>
            <a:ext cx="4562624" cy="266804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बाद के / दीर्घकालिक प्रभाव</a:t>
            </a:r>
          </a:p>
          <a:p>
            <a:pPr algn="l"/>
            <a:endParaRPr lang="en-US"/>
          </a:p>
        </p:txBody>
      </p:sp>
      <p:sp>
        <p:nvSpPr>
          <p:cNvPr id="13" name="arrow"/>
          <p:cNvSpPr txBox="1"/>
          <p:nvPr/>
        </p:nvSpPr>
        <p:spPr>
          <a:xfrm>
            <a:off x="2372826" y="1133921"/>
            <a:ext cx="502920" cy="296435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4" name="arrow"/>
          <p:cNvSpPr txBox="1"/>
          <p:nvPr/>
        </p:nvSpPr>
        <p:spPr>
          <a:xfrm>
            <a:off x="4768215" y="1133921"/>
            <a:ext cx="502920" cy="296435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5" name="arrow"/>
          <p:cNvSpPr txBox="1"/>
          <p:nvPr/>
        </p:nvSpPr>
        <p:spPr>
          <a:xfrm>
            <a:off x="7182654" y="1133921"/>
            <a:ext cx="502920" cy="296435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6–8: शोध, कालक्रम, कारण/प्रभाव, तुलना, ऐतिहासिक संदर्भ, दृष्टिकोण, स्रोत मूल्यांकन और दृश्य संचार।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मोड़ बिंदु मानचित्र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पहले"/>
          <p:cNvSpPr/>
          <p:nvPr/>
        </p:nvSpPr>
        <p:spPr>
          <a:xfrm>
            <a:off x="420886" y="1133921"/>
            <a:ext cx="2411909" cy="313923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पहले</a:t>
            </a:r>
          </a:p>
          <a:p>
            <a:pPr algn="l"/>
            <a:endParaRPr lang="en-US"/>
          </a:p>
        </p:txBody>
      </p:sp>
      <p:sp>
        <p:nvSpPr>
          <p:cNvPr id="8" name="मोड़ बिंदु"/>
          <p:cNvSpPr/>
          <p:nvPr/>
        </p:nvSpPr>
        <p:spPr>
          <a:xfrm>
            <a:off x="3823097" y="1133921"/>
            <a:ext cx="2412057" cy="313923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मोड़ बिंदु</a:t>
            </a:r>
          </a:p>
          <a:p>
            <a:pPr algn="l"/>
            <a:endParaRPr lang="en-US"/>
          </a:p>
        </p:txBody>
      </p:sp>
      <p:sp>
        <p:nvSpPr>
          <p:cNvPr id="9" name="बाद में"/>
          <p:cNvSpPr/>
          <p:nvPr/>
        </p:nvSpPr>
        <p:spPr>
          <a:xfrm>
            <a:off x="7225457" y="1133921"/>
            <a:ext cx="2412057" cy="313923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बाद में</a:t>
            </a:r>
          </a:p>
          <a:p>
            <a:pPr algn="l"/>
            <a:endParaRPr lang="en-US"/>
          </a:p>
        </p:txBody>
      </p:sp>
      <p:sp>
        <p:nvSpPr>
          <p:cNvPr id="10" name="बढ़ता दबाव"/>
          <p:cNvSpPr/>
          <p:nvPr/>
        </p:nvSpPr>
        <p:spPr>
          <a:xfrm>
            <a:off x="420886" y="4346228"/>
            <a:ext cx="332913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बढ़ता दबाव</a:t>
            </a:r>
          </a:p>
          <a:p>
            <a:pPr algn="l"/>
            <a:endParaRPr lang="en-US"/>
          </a:p>
        </p:txBody>
      </p:sp>
      <p:sp>
        <p:nvSpPr>
          <p:cNvPr id="11" name="दीर्घकालिक बदलाव"/>
          <p:cNvSpPr/>
          <p:nvPr/>
        </p:nvSpPr>
        <p:spPr>
          <a:xfrm>
            <a:off x="3823097" y="4346228"/>
            <a:ext cx="2861518" cy="25114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दीर्घकालिक बदलाव</a:t>
            </a:r>
          </a:p>
          <a:p>
            <a:pPr algn="l"/>
            <a:endParaRPr lang="en-US"/>
          </a:p>
        </p:txBody>
      </p:sp>
      <p:sp>
        <p:nvSpPr>
          <p:cNvPr id="12" name="यह मोड़ बिंदु क्यों था?"/>
          <p:cNvSpPr/>
          <p:nvPr/>
        </p:nvSpPr>
        <p:spPr>
          <a:xfrm>
            <a:off x="6775996" y="4346228"/>
            <a:ext cx="2861518" cy="2511475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यह मोड़ बिंदु क्यों था?</a:t>
            </a:r>
          </a:p>
          <a:p>
            <a:pPr algn="l"/>
            <a:endParaRPr lang="en-US"/>
          </a:p>
        </p:txBody>
      </p:sp>
      <p:sp>
        <p:nvSpPr>
          <p:cNvPr id="13" name="arrow"/>
          <p:cNvSpPr txBox="1"/>
          <p:nvPr/>
        </p:nvSpPr>
        <p:spPr>
          <a:xfrm>
            <a:off x="2905869" y="1133921"/>
            <a:ext cx="844153" cy="313923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4" name="arrow"/>
          <p:cNvSpPr txBox="1"/>
          <p:nvPr/>
        </p:nvSpPr>
        <p:spPr>
          <a:xfrm>
            <a:off x="6308229" y="1133921"/>
            <a:ext cx="844153" cy="313923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6–8: शोध, कालक्रम, कारण/प्रभाव, तुलना, ऐतिहासिक संदर्भ, दृष्टिकोण, स्रोत मूल्यांकन और दृश्य संचार।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अनेक दृष्टिकोण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समूह 1"/>
          <p:cNvSpPr/>
          <p:nvPr/>
        </p:nvSpPr>
        <p:spPr>
          <a:xfrm>
            <a:off x="420886" y="1133921"/>
            <a:ext cx="3298329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समूह 1</a:t>
            </a:r>
          </a:p>
          <a:p>
            <a:pPr algn="l"/>
            <a:endParaRPr lang="en-US"/>
          </a:p>
        </p:txBody>
      </p:sp>
      <p:sp>
        <p:nvSpPr>
          <p:cNvPr id="8" name="घटना"/>
          <p:cNvSpPr/>
          <p:nvPr/>
        </p:nvSpPr>
        <p:spPr>
          <a:xfrm>
            <a:off x="3792289" y="1133921"/>
            <a:ext cx="2473672" cy="4204543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घटना</a:t>
            </a:r>
          </a:p>
        </p:txBody>
      </p:sp>
      <p:sp>
        <p:nvSpPr>
          <p:cNvPr id="9" name="समूह 2"/>
          <p:cNvSpPr/>
          <p:nvPr/>
        </p:nvSpPr>
        <p:spPr>
          <a:xfrm>
            <a:off x="6339036" y="1133921"/>
            <a:ext cx="3298478" cy="206573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समूह 2</a:t>
            </a:r>
          </a:p>
          <a:p>
            <a:pPr algn="l"/>
            <a:endParaRPr lang="en-US"/>
          </a:p>
        </p:txBody>
      </p:sp>
      <p:sp>
        <p:nvSpPr>
          <p:cNvPr id="10" name="समूह 3"/>
          <p:cNvSpPr/>
          <p:nvPr/>
        </p:nvSpPr>
        <p:spPr>
          <a:xfrm>
            <a:off x="420886" y="3272730"/>
            <a:ext cx="3298329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समूह 3</a:t>
            </a:r>
          </a:p>
          <a:p>
            <a:pPr algn="l"/>
            <a:endParaRPr lang="en-US"/>
          </a:p>
        </p:txBody>
      </p:sp>
      <p:sp>
        <p:nvSpPr>
          <p:cNvPr id="11" name="समूह 4"/>
          <p:cNvSpPr/>
          <p:nvPr/>
        </p:nvSpPr>
        <p:spPr>
          <a:xfrm>
            <a:off x="6339036" y="3272730"/>
            <a:ext cx="3298478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समूह 4</a:t>
            </a:r>
          </a:p>
          <a:p>
            <a:pPr algn="l"/>
            <a:endParaRPr lang="en-US"/>
          </a:p>
        </p:txBody>
      </p:sp>
      <p:sp>
        <p:nvSpPr>
          <p:cNvPr id="12" name="वे कहाँ सहमत थे?"/>
          <p:cNvSpPr/>
          <p:nvPr/>
        </p:nvSpPr>
        <p:spPr>
          <a:xfrm>
            <a:off x="420886" y="5411539"/>
            <a:ext cx="3011239" cy="144601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वे कहाँ सहमत थे?</a:t>
            </a:r>
          </a:p>
          <a:p>
            <a:pPr algn="l"/>
            <a:endParaRPr lang="en-US"/>
          </a:p>
        </p:txBody>
      </p:sp>
      <p:sp>
        <p:nvSpPr>
          <p:cNvPr id="13" name="वे कहाँ असहमत थे?"/>
          <p:cNvSpPr/>
          <p:nvPr/>
        </p:nvSpPr>
        <p:spPr>
          <a:xfrm>
            <a:off x="3523506" y="5411539"/>
            <a:ext cx="3011239" cy="144601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वे कहाँ असहमत थे?</a:t>
            </a:r>
          </a:p>
          <a:p>
            <a:pPr algn="l"/>
            <a:endParaRPr lang="en-US"/>
          </a:p>
        </p:txBody>
      </p:sp>
      <p:sp>
        <p:nvSpPr>
          <p:cNvPr id="14" name="किसकी आवाज़ गायब है?"/>
          <p:cNvSpPr/>
          <p:nvPr/>
        </p:nvSpPr>
        <p:spPr>
          <a:xfrm>
            <a:off x="6626126" y="5411539"/>
            <a:ext cx="3011388" cy="144601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किसकी आवाज़ गायब है?</a:t>
            </a:r>
          </a:p>
          <a:p>
            <a:pPr algn="l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6–8: शोध, कालक्रम, कारण/प्रभाव, तुलना, ऐतिहासिक संदर्भ, दृष्टिकोण, स्रोत मूल्यांकन और दृश्य संचार।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नेता और घटना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महत्वपूर्ण नेता"/>
          <p:cNvSpPr/>
          <p:nvPr/>
        </p:nvSpPr>
        <p:spPr>
          <a:xfrm>
            <a:off x="420886" y="1133921"/>
            <a:ext cx="3415010" cy="1776859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महत्वपूर्ण नेता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8" name="प्रभाव"/>
          <p:cNvSpPr/>
          <p:nvPr/>
        </p:nvSpPr>
        <p:spPr>
          <a:xfrm>
            <a:off x="420886" y="2983855"/>
            <a:ext cx="3415010" cy="190976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प्रभाव</a:t>
            </a:r>
          </a:p>
          <a:p>
            <a:pPr algn="l"/>
            <a:endParaRPr lang="en-US"/>
          </a:p>
        </p:txBody>
      </p:sp>
      <p:sp>
        <p:nvSpPr>
          <p:cNvPr id="9" name="प्रमाण"/>
          <p:cNvSpPr/>
          <p:nvPr/>
        </p:nvSpPr>
        <p:spPr>
          <a:xfrm>
            <a:off x="420886" y="4966692"/>
            <a:ext cx="3415010" cy="18908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प्रमाण</a:t>
            </a:r>
          </a:p>
          <a:p>
            <a:pPr algn="l"/>
            <a:endParaRPr lang="en-US"/>
          </a:p>
        </p:txBody>
      </p:sp>
      <p:sp>
        <p:nvSpPr>
          <p:cNvPr id="10" name="घटना"/>
          <p:cNvSpPr/>
          <p:nvPr/>
        </p:nvSpPr>
        <p:spPr>
          <a:xfrm>
            <a:off x="3945582" y="1133921"/>
            <a:ext cx="5691783" cy="1776859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घटना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1" name="नेता के लक्ष्य"/>
          <p:cNvSpPr/>
          <p:nvPr/>
        </p:nvSpPr>
        <p:spPr>
          <a:xfrm>
            <a:off x="3945582" y="2983855"/>
            <a:ext cx="2800201" cy="190976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नेता के लक्ष्य</a:t>
            </a:r>
          </a:p>
          <a:p>
            <a:pPr algn="l"/>
            <a:endParaRPr lang="en-US"/>
          </a:p>
        </p:txBody>
      </p:sp>
      <p:sp>
        <p:nvSpPr>
          <p:cNvPr id="12" name="मुख्य निर्णय"/>
          <p:cNvSpPr/>
          <p:nvPr/>
        </p:nvSpPr>
        <p:spPr>
          <a:xfrm>
            <a:off x="6837164" y="2983855"/>
            <a:ext cx="2800201" cy="190976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मुख्य निर्णय</a:t>
            </a:r>
          </a:p>
          <a:p>
            <a:pPr algn="l"/>
            <a:endParaRPr lang="en-US"/>
          </a:p>
        </p:txBody>
      </p:sp>
      <p:sp>
        <p:nvSpPr>
          <p:cNvPr id="13" name="सहयोगी / समर्थक"/>
          <p:cNvSpPr/>
          <p:nvPr/>
        </p:nvSpPr>
        <p:spPr>
          <a:xfrm>
            <a:off x="3945582" y="4966692"/>
            <a:ext cx="2800201" cy="18908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सहयोगी / समर्थक</a:t>
            </a:r>
          </a:p>
          <a:p>
            <a:pPr algn="l"/>
            <a:endParaRPr lang="en-US"/>
          </a:p>
        </p:txBody>
      </p:sp>
      <p:sp>
        <p:nvSpPr>
          <p:cNvPr id="14" name="विरोधी"/>
          <p:cNvSpPr/>
          <p:nvPr/>
        </p:nvSpPr>
        <p:spPr>
          <a:xfrm>
            <a:off x="6837164" y="4966692"/>
            <a:ext cx="2800201" cy="18908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विरोधी</a:t>
            </a:r>
          </a:p>
          <a:p>
            <a:pPr algn="l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6–8: शोध, कालक्रम, कारण/प्रभाव, तुलना, ऐतिहासिक संदर्भ, दृष्टिकोण, स्रोत मूल्यांकन और दृश्य संचार।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संघर्ष मानचित्र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पक्ष / समूह A"/>
          <p:cNvSpPr/>
          <p:nvPr/>
        </p:nvSpPr>
        <p:spPr>
          <a:xfrm>
            <a:off x="420886" y="1133921"/>
            <a:ext cx="3284934" cy="11370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पक्ष / समूह A</a:t>
            </a:r>
          </a:p>
          <a:p>
            <a:pPr algn="l"/>
            <a:endParaRPr lang="en-US"/>
          </a:p>
        </p:txBody>
      </p:sp>
      <p:sp>
        <p:nvSpPr>
          <p:cNvPr id="8" name="पक्ष A का लक्ष्य"/>
          <p:cNvSpPr/>
          <p:nvPr/>
        </p:nvSpPr>
        <p:spPr>
          <a:xfrm>
            <a:off x="420886" y="2344043"/>
            <a:ext cx="3284934" cy="11370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पक्ष A का लक्ष्य</a:t>
            </a:r>
          </a:p>
          <a:p>
            <a:pPr algn="l"/>
            <a:endParaRPr lang="en-US"/>
          </a:p>
        </p:txBody>
      </p:sp>
      <p:sp>
        <p:nvSpPr>
          <p:cNvPr id="9" name="पक्ष A की कार्रवाई"/>
          <p:cNvSpPr/>
          <p:nvPr/>
        </p:nvSpPr>
        <p:spPr>
          <a:xfrm>
            <a:off x="420886" y="3554164"/>
            <a:ext cx="3284934" cy="11370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पक्ष A की कार्रवाई</a:t>
            </a:r>
          </a:p>
          <a:p>
            <a:pPr algn="l"/>
            <a:endParaRPr lang="en-US"/>
          </a:p>
        </p:txBody>
      </p:sp>
      <p:sp>
        <p:nvSpPr>
          <p:cNvPr id="10" name="संघर्ष की घटना"/>
          <p:cNvSpPr/>
          <p:nvPr/>
        </p:nvSpPr>
        <p:spPr>
          <a:xfrm>
            <a:off x="3797201" y="1133921"/>
            <a:ext cx="2463850" cy="3557290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संघर्ष की घटना</a:t>
            </a:r>
          </a:p>
        </p:txBody>
      </p:sp>
      <p:sp>
        <p:nvSpPr>
          <p:cNvPr id="11" name="पक्ष / समूह B"/>
          <p:cNvSpPr/>
          <p:nvPr/>
        </p:nvSpPr>
        <p:spPr>
          <a:xfrm>
            <a:off x="6352431" y="1133921"/>
            <a:ext cx="3284934" cy="1149697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पक्ष / समूह B</a:t>
            </a:r>
          </a:p>
          <a:p>
            <a:pPr algn="l"/>
            <a:endParaRPr lang="en-US"/>
          </a:p>
        </p:txBody>
      </p:sp>
      <p:sp>
        <p:nvSpPr>
          <p:cNvPr id="12" name="पक्ष B का लक्ष्य"/>
          <p:cNvSpPr/>
          <p:nvPr/>
        </p:nvSpPr>
        <p:spPr>
          <a:xfrm>
            <a:off x="6352431" y="2356693"/>
            <a:ext cx="3284934" cy="11306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पक्ष B का लक्ष्य</a:t>
            </a:r>
          </a:p>
          <a:p>
            <a:pPr algn="l"/>
            <a:endParaRPr lang="en-US"/>
          </a:p>
        </p:txBody>
      </p:sp>
      <p:sp>
        <p:nvSpPr>
          <p:cNvPr id="13" name="पक्ष B की कार्रवाई"/>
          <p:cNvSpPr/>
          <p:nvPr/>
        </p:nvSpPr>
        <p:spPr>
          <a:xfrm>
            <a:off x="6352431" y="3560415"/>
            <a:ext cx="3284934" cy="1130796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पक्ष B की कार्रवाई</a:t>
            </a:r>
          </a:p>
          <a:p>
            <a:pPr algn="l"/>
            <a:endParaRPr lang="en-US"/>
          </a:p>
        </p:txBody>
      </p:sp>
      <p:sp>
        <p:nvSpPr>
          <p:cNvPr id="14" name="समाधान"/>
          <p:cNvSpPr/>
          <p:nvPr/>
        </p:nvSpPr>
        <p:spPr>
          <a:xfrm>
            <a:off x="420886" y="4782592"/>
            <a:ext cx="4562475" cy="207496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समाधान</a:t>
            </a:r>
          </a:p>
          <a:p>
            <a:pPr algn="l"/>
            <a:endParaRPr lang="en-US"/>
          </a:p>
        </p:txBody>
      </p:sp>
      <p:sp>
        <p:nvSpPr>
          <p:cNvPr id="15" name="परिणाम"/>
          <p:cNvSpPr/>
          <p:nvPr/>
        </p:nvSpPr>
        <p:spPr>
          <a:xfrm>
            <a:off x="5074741" y="4782592"/>
            <a:ext cx="4562624" cy="207496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परिणाम</a:t>
            </a:r>
          </a:p>
          <a:p>
            <a:pPr algn="l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6–8: शोध, कालक्रम, कारण/प्रभाव, तुलना, ऐतिहासिक संदर्भ, दृष्टिकोण, स्रोत मूल्यांकन और दृश्य संचार।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घटना श्रृंखला प्रतिक्रिया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कार्रवाई 1"/>
          <p:cNvSpPr/>
          <p:nvPr/>
        </p:nvSpPr>
        <p:spPr>
          <a:xfrm>
            <a:off x="420886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कार्रवाई 1</a:t>
            </a:r>
          </a:p>
          <a:p>
            <a:pPr algn="l"/>
            <a:endParaRPr lang="en-US"/>
          </a:p>
        </p:txBody>
      </p:sp>
      <p:sp>
        <p:nvSpPr>
          <p:cNvPr id="8" name="प्रतिक्रिया 1"/>
          <p:cNvSpPr/>
          <p:nvPr/>
        </p:nvSpPr>
        <p:spPr>
          <a:xfrm>
            <a:off x="2017812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प्रतिक्रिया 1</a:t>
            </a:r>
          </a:p>
          <a:p>
            <a:pPr algn="l"/>
            <a:endParaRPr lang="en-US"/>
          </a:p>
        </p:txBody>
      </p:sp>
      <p:sp>
        <p:nvSpPr>
          <p:cNvPr id="9" name="कार्रवाई 2"/>
          <p:cNvSpPr/>
          <p:nvPr/>
        </p:nvSpPr>
        <p:spPr>
          <a:xfrm>
            <a:off x="3614738" y="1133921"/>
            <a:ext cx="1231999" cy="3218408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कार्रवाई 2</a:t>
            </a:r>
          </a:p>
          <a:p>
            <a:pPr algn="l"/>
            <a:endParaRPr lang="en-US"/>
          </a:p>
        </p:txBody>
      </p:sp>
      <p:sp>
        <p:nvSpPr>
          <p:cNvPr id="10" name="प्रतिक्रिया 2"/>
          <p:cNvSpPr/>
          <p:nvPr/>
        </p:nvSpPr>
        <p:spPr>
          <a:xfrm>
            <a:off x="5230713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प्रतिक्रिया 2</a:t>
            </a:r>
          </a:p>
          <a:p>
            <a:pPr algn="l"/>
            <a:endParaRPr lang="en-US"/>
          </a:p>
        </p:txBody>
      </p:sp>
      <p:sp>
        <p:nvSpPr>
          <p:cNvPr id="11" name="संकट / मोड़ बिंदु"/>
          <p:cNvSpPr/>
          <p:nvPr/>
        </p:nvSpPr>
        <p:spPr>
          <a:xfrm>
            <a:off x="6827639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संकट / मोड़ बिंदु</a:t>
            </a:r>
          </a:p>
          <a:p>
            <a:pPr algn="l"/>
            <a:endParaRPr lang="en-US"/>
          </a:p>
        </p:txBody>
      </p:sp>
      <p:sp>
        <p:nvSpPr>
          <p:cNvPr id="12" name="परिणाम"/>
          <p:cNvSpPr/>
          <p:nvPr/>
        </p:nvSpPr>
        <p:spPr>
          <a:xfrm>
            <a:off x="8424565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परिणाम</a:t>
            </a:r>
          </a:p>
          <a:p>
            <a:pPr algn="l"/>
            <a:endParaRPr lang="en-US"/>
          </a:p>
        </p:txBody>
      </p:sp>
      <p:sp>
        <p:nvSpPr>
          <p:cNvPr id="13" name="सबसे महत्वपूर्ण कड़ी"/>
          <p:cNvSpPr/>
          <p:nvPr/>
        </p:nvSpPr>
        <p:spPr>
          <a:xfrm>
            <a:off x="420886" y="4443710"/>
            <a:ext cx="4562624" cy="241399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सबसे महत्वपूर्ण कड़ी</a:t>
            </a:r>
          </a:p>
          <a:p>
            <a:pPr algn="l"/>
            <a:endParaRPr lang="en-US"/>
          </a:p>
        </p:txBody>
      </p:sp>
      <p:sp>
        <p:nvSpPr>
          <p:cNvPr id="14" name="प्रमाण"/>
          <p:cNvSpPr/>
          <p:nvPr/>
        </p:nvSpPr>
        <p:spPr>
          <a:xfrm>
            <a:off x="5074890" y="4443710"/>
            <a:ext cx="4562624" cy="241399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प्रमाण</a:t>
            </a:r>
          </a:p>
          <a:p>
            <a:pPr algn="l"/>
            <a:endParaRPr lang="en-US"/>
          </a:p>
        </p:txBody>
      </p:sp>
      <p:sp>
        <p:nvSpPr>
          <p:cNvPr id="15" name="arrow"/>
          <p:cNvSpPr txBox="1"/>
          <p:nvPr/>
        </p:nvSpPr>
        <p:spPr>
          <a:xfrm>
            <a:off x="1574363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6" name="arrow"/>
          <p:cNvSpPr txBox="1"/>
          <p:nvPr/>
        </p:nvSpPr>
        <p:spPr>
          <a:xfrm>
            <a:off x="3171289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7" name="arrow"/>
          <p:cNvSpPr txBox="1"/>
          <p:nvPr/>
        </p:nvSpPr>
        <p:spPr>
          <a:xfrm>
            <a:off x="4787265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8" name="arrow"/>
          <p:cNvSpPr txBox="1"/>
          <p:nvPr/>
        </p:nvSpPr>
        <p:spPr>
          <a:xfrm>
            <a:off x="6384191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9" name="arrow"/>
          <p:cNvSpPr txBox="1"/>
          <p:nvPr/>
        </p:nvSpPr>
        <p:spPr>
          <a:xfrm>
            <a:off x="7981117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20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1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22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6–8: शोध, कालक्रम, कारण/प्रभाव, तुलना, ऐतिहासिक संदर्भ, दृष्टिकोण, स्रोत मूल्यांकन और दृश्य संचार।</a:t>
            </a:r>
          </a:p>
        </p:txBody>
      </p:sp>
      <p:sp>
        <p:nvSpPr>
          <p:cNvPr id="23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घटना का भूगोल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भौतिक भूगोल"/>
          <p:cNvSpPr/>
          <p:nvPr/>
        </p:nvSpPr>
        <p:spPr>
          <a:xfrm>
            <a:off x="420886" y="1133921"/>
            <a:ext cx="3127623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भौतिक भूगोल</a:t>
            </a:r>
          </a:p>
          <a:p>
            <a:pPr algn="l"/>
            <a:endParaRPr lang="en-US"/>
          </a:p>
        </p:txBody>
      </p:sp>
      <p:sp>
        <p:nvSpPr>
          <p:cNvPr id="8" name="घटना"/>
          <p:cNvSpPr/>
          <p:nvPr/>
        </p:nvSpPr>
        <p:spPr>
          <a:xfrm>
            <a:off x="3621584" y="1133921"/>
            <a:ext cx="2815084" cy="4204543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घटना</a:t>
            </a:r>
          </a:p>
        </p:txBody>
      </p:sp>
      <p:sp>
        <p:nvSpPr>
          <p:cNvPr id="9" name="मानव भूगोल"/>
          <p:cNvSpPr/>
          <p:nvPr/>
        </p:nvSpPr>
        <p:spPr>
          <a:xfrm>
            <a:off x="6509742" y="1133921"/>
            <a:ext cx="3127623" cy="206573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मानव भूगोल</a:t>
            </a:r>
          </a:p>
          <a:p>
            <a:pPr algn="l"/>
            <a:endParaRPr lang="en-US"/>
          </a:p>
        </p:txBody>
      </p:sp>
      <p:sp>
        <p:nvSpPr>
          <p:cNvPr id="10" name="संसाधन"/>
          <p:cNvSpPr/>
          <p:nvPr/>
        </p:nvSpPr>
        <p:spPr>
          <a:xfrm>
            <a:off x="420886" y="3272730"/>
            <a:ext cx="3127623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संसाधन</a:t>
            </a:r>
          </a:p>
          <a:p>
            <a:pPr algn="l"/>
            <a:endParaRPr lang="en-US"/>
          </a:p>
        </p:txBody>
      </p:sp>
      <p:sp>
        <p:nvSpPr>
          <p:cNvPr id="11" name="आवागमन / मार्ग"/>
          <p:cNvSpPr/>
          <p:nvPr/>
        </p:nvSpPr>
        <p:spPr>
          <a:xfrm>
            <a:off x="6509742" y="3272730"/>
            <a:ext cx="3127623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आवागमन / मार्ग</a:t>
            </a:r>
          </a:p>
          <a:p>
            <a:pPr algn="l"/>
            <a:endParaRPr lang="en-US"/>
          </a:p>
        </p:txBody>
      </p:sp>
      <p:sp>
        <p:nvSpPr>
          <p:cNvPr id="12" name="स्थान क्यों महत्वपूर्ण था?"/>
          <p:cNvSpPr/>
          <p:nvPr/>
        </p:nvSpPr>
        <p:spPr>
          <a:xfrm>
            <a:off x="420886" y="5411539"/>
            <a:ext cx="4562475" cy="144601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स्थान क्यों महत्वपूर्ण था?</a:t>
            </a:r>
          </a:p>
          <a:p>
            <a:pPr algn="l"/>
            <a:endParaRPr lang="en-US"/>
          </a:p>
        </p:txBody>
      </p:sp>
      <p:sp>
        <p:nvSpPr>
          <p:cNvPr id="13" name="भौगोलिक प्रभाव"/>
          <p:cNvSpPr/>
          <p:nvPr/>
        </p:nvSpPr>
        <p:spPr>
          <a:xfrm>
            <a:off x="5074741" y="5411539"/>
            <a:ext cx="4562624" cy="144601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भौगोलिक प्रभाव</a:t>
            </a:r>
          </a:p>
          <a:p>
            <a:pPr algn="l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6–8: शोध, कालक्रम, कारण/प्रभाव, तुलना, ऐतिहासिक संदर्भ, दृष्टिकोण, स्रोत मूल्यांकन और दृश्य संचार।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घटना संदर्भ मानचित्र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ऐतिहासिक संदर्भ"/>
          <p:cNvSpPr/>
          <p:nvPr/>
        </p:nvSpPr>
        <p:spPr>
          <a:xfrm>
            <a:off x="420886" y="1133921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ऐतिहासिक संदर्भ</a:t>
            </a:r>
          </a:p>
          <a:p>
            <a:pPr algn="l"/>
            <a:endParaRPr lang="en-US"/>
          </a:p>
        </p:txBody>
      </p:sp>
      <p:sp>
        <p:nvSpPr>
          <p:cNvPr id="8" name="दीर्घकालिक कारण"/>
          <p:cNvSpPr/>
          <p:nvPr/>
        </p:nvSpPr>
        <p:spPr>
          <a:xfrm>
            <a:off x="3373338" y="1133921"/>
            <a:ext cx="3311575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दीर्घकालिक कारण</a:t>
            </a:r>
          </a:p>
          <a:p>
            <a:pPr algn="l"/>
            <a:endParaRPr lang="en-US"/>
          </a:p>
        </p:txBody>
      </p:sp>
      <p:sp>
        <p:nvSpPr>
          <p:cNvPr id="9" name="तत्काल कारण"/>
          <p:cNvSpPr/>
          <p:nvPr/>
        </p:nvSpPr>
        <p:spPr>
          <a:xfrm>
            <a:off x="6757988" y="1133921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तत्काल कारण</a:t>
            </a:r>
          </a:p>
          <a:p>
            <a:pPr algn="l"/>
            <a:endParaRPr lang="en-US"/>
          </a:p>
        </p:txBody>
      </p:sp>
      <p:sp>
        <p:nvSpPr>
          <p:cNvPr id="10" name="मुख्य लोग / समूह"/>
          <p:cNvSpPr/>
          <p:nvPr/>
        </p:nvSpPr>
        <p:spPr>
          <a:xfrm>
            <a:off x="420886" y="3066157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मुख्य लोग / समूह</a:t>
            </a:r>
          </a:p>
          <a:p>
            <a:pPr algn="l"/>
            <a:endParaRPr lang="en-US"/>
          </a:p>
        </p:txBody>
      </p:sp>
      <p:sp>
        <p:nvSpPr>
          <p:cNvPr id="11" name="क्या हुआ?"/>
          <p:cNvSpPr/>
          <p:nvPr/>
        </p:nvSpPr>
        <p:spPr>
          <a:xfrm>
            <a:off x="6757988" y="3066157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क्या हुआ?</a:t>
            </a:r>
          </a:p>
          <a:p>
            <a:pPr algn="l"/>
            <a:endParaRPr lang="en-US"/>
          </a:p>
        </p:txBody>
      </p:sp>
      <p:sp>
        <p:nvSpPr>
          <p:cNvPr id="12" name="घटना"/>
          <p:cNvSpPr/>
          <p:nvPr/>
        </p:nvSpPr>
        <p:spPr>
          <a:xfrm>
            <a:off x="3373338" y="3066157"/>
            <a:ext cx="3311575" cy="1859161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घटना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3" name="तत्काल परिणाम"/>
          <p:cNvSpPr/>
          <p:nvPr/>
        </p:nvSpPr>
        <p:spPr>
          <a:xfrm>
            <a:off x="420886" y="4998393"/>
            <a:ext cx="2879378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तत्काल परिणाम</a:t>
            </a:r>
          </a:p>
          <a:p>
            <a:pPr algn="l"/>
            <a:endParaRPr lang="en-US"/>
          </a:p>
        </p:txBody>
      </p:sp>
      <p:sp>
        <p:nvSpPr>
          <p:cNvPr id="14" name="दीर्घकालिक परिणाम"/>
          <p:cNvSpPr/>
          <p:nvPr/>
        </p:nvSpPr>
        <p:spPr>
          <a:xfrm>
            <a:off x="3373338" y="4998393"/>
            <a:ext cx="3311575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दीर्घकालिक परिणाम</a:t>
            </a:r>
          </a:p>
          <a:p>
            <a:pPr algn="l"/>
            <a:endParaRPr lang="en-US"/>
          </a:p>
        </p:txBody>
      </p:sp>
      <p:sp>
        <p:nvSpPr>
          <p:cNvPr id="15" name="ऐतिहासिक महत्व"/>
          <p:cNvSpPr/>
          <p:nvPr/>
        </p:nvSpPr>
        <p:spPr>
          <a:xfrm>
            <a:off x="6757988" y="4998393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ऐतिहासिक महत्व</a:t>
            </a:r>
          </a:p>
          <a:p>
            <a:pPr algn="l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9–12: ऐतिहासिक अन्वेषण, कालक्रम, कारण-कार्य संबंध, दृष्टिकोण, स्रोत मूल्यांकन, दावे/प्रमाण, भौगोलिक व्याख्या और दृश्य संचार।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कारण रैंकिंग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कारण 1"/>
          <p:cNvSpPr/>
          <p:nvPr/>
        </p:nvSpPr>
        <p:spPr>
          <a:xfrm>
            <a:off x="420886" y="1133921"/>
            <a:ext cx="4567238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कारण 1</a:t>
            </a:r>
          </a:p>
          <a:p>
            <a:pPr algn="l"/>
            <a:endParaRPr lang="en-US"/>
          </a:p>
        </p:txBody>
      </p:sp>
      <p:sp>
        <p:nvSpPr>
          <p:cNvPr id="8" name="कारण 2"/>
          <p:cNvSpPr/>
          <p:nvPr/>
        </p:nvSpPr>
        <p:spPr>
          <a:xfrm>
            <a:off x="5070277" y="1133921"/>
            <a:ext cx="4567238" cy="2059037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कारण 2</a:t>
            </a:r>
          </a:p>
          <a:p>
            <a:pPr algn="l"/>
            <a:endParaRPr lang="en-US"/>
          </a:p>
        </p:txBody>
      </p:sp>
      <p:sp>
        <p:nvSpPr>
          <p:cNvPr id="9" name="कारण 3"/>
          <p:cNvSpPr/>
          <p:nvPr/>
        </p:nvSpPr>
        <p:spPr>
          <a:xfrm>
            <a:off x="420886" y="3275112"/>
            <a:ext cx="4567238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कारण 3</a:t>
            </a:r>
          </a:p>
          <a:p>
            <a:pPr algn="l"/>
            <a:endParaRPr lang="en-US"/>
          </a:p>
        </p:txBody>
      </p:sp>
      <p:sp>
        <p:nvSpPr>
          <p:cNvPr id="10" name="कारण 4"/>
          <p:cNvSpPr/>
          <p:nvPr/>
        </p:nvSpPr>
        <p:spPr>
          <a:xfrm>
            <a:off x="5070277" y="3275112"/>
            <a:ext cx="4567238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कारण 4</a:t>
            </a:r>
          </a:p>
          <a:p>
            <a:pPr algn="l"/>
            <a:endParaRPr lang="en-US"/>
          </a:p>
        </p:txBody>
      </p:sp>
      <p:sp>
        <p:nvSpPr>
          <p:cNvPr id="11" name="कारणों को 1-4 क्रम दें"/>
          <p:cNvSpPr/>
          <p:nvPr/>
        </p:nvSpPr>
        <p:spPr>
          <a:xfrm>
            <a:off x="420886" y="5416302"/>
            <a:ext cx="4562624" cy="14412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कारणों को 1-4 क्रम दें</a:t>
            </a:r>
          </a:p>
          <a:p>
            <a:pPr algn="l"/>
            <a:endParaRPr lang="en-US"/>
          </a:p>
        </p:txBody>
      </p:sp>
      <p:sp>
        <p:nvSpPr>
          <p:cNvPr id="12" name="सबसे महत्वपूर्ण कारण"/>
          <p:cNvSpPr/>
          <p:nvPr/>
        </p:nvSpPr>
        <p:spPr>
          <a:xfrm>
            <a:off x="5074890" y="5416302"/>
            <a:ext cx="4562624" cy="144125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सबसे महत्वपूर्ण कारण</a:t>
            </a:r>
          </a:p>
          <a:p>
            <a:pPr algn="l"/>
            <a:endParaRPr lang="en-US"/>
          </a:p>
        </p:txBody>
      </p:sp>
      <p:cxnSp>
        <p:nvCxnSpPr>
          <p:cNvPr id="13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4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15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9–12: ऐतिहासिक अन्वेषण, कालक्रम, कारण-कार्य संबंध, दृष्टिकोण, स्रोत मूल्यांकन, दावे/प्रमाण, भौगोलिक व्याख्या और दृश्य संचार।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मोड़ बिंदु विश्लेषण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पहले"/>
          <p:cNvSpPr/>
          <p:nvPr/>
        </p:nvSpPr>
        <p:spPr>
          <a:xfrm>
            <a:off x="420886" y="1133921"/>
            <a:ext cx="3017341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पहले</a:t>
            </a:r>
          </a:p>
          <a:p>
            <a:pPr algn="l"/>
            <a:endParaRPr lang="en-US"/>
          </a:p>
        </p:txBody>
      </p:sp>
      <p:sp>
        <p:nvSpPr>
          <p:cNvPr id="8" name="घटना"/>
          <p:cNvSpPr/>
          <p:nvPr/>
        </p:nvSpPr>
        <p:spPr>
          <a:xfrm>
            <a:off x="3520380" y="1133921"/>
            <a:ext cx="3017490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घटना</a:t>
            </a:r>
          </a:p>
          <a:p>
            <a:pPr algn="l"/>
            <a:endParaRPr lang="en-US"/>
          </a:p>
        </p:txBody>
      </p:sp>
      <p:sp>
        <p:nvSpPr>
          <p:cNvPr id="9" name="तत्काल बदलाव"/>
          <p:cNvSpPr/>
          <p:nvPr/>
        </p:nvSpPr>
        <p:spPr>
          <a:xfrm>
            <a:off x="6620024" y="1133921"/>
            <a:ext cx="3017341" cy="2059037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तत्काल बदलाव</a:t>
            </a:r>
          </a:p>
          <a:p>
            <a:pPr algn="l"/>
            <a:endParaRPr lang="en-US"/>
          </a:p>
        </p:txBody>
      </p:sp>
      <p:sp>
        <p:nvSpPr>
          <p:cNvPr id="10" name="दीर्घकालिक बदलाव"/>
          <p:cNvSpPr/>
          <p:nvPr/>
        </p:nvSpPr>
        <p:spPr>
          <a:xfrm>
            <a:off x="420886" y="3275112"/>
            <a:ext cx="3017341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दीर्घकालिक बदलाव</a:t>
            </a:r>
          </a:p>
          <a:p>
            <a:pPr algn="l"/>
            <a:endParaRPr lang="en-US"/>
          </a:p>
        </p:txBody>
      </p:sp>
      <p:sp>
        <p:nvSpPr>
          <p:cNvPr id="11" name="क्या जारी रहा?"/>
          <p:cNvSpPr/>
          <p:nvPr/>
        </p:nvSpPr>
        <p:spPr>
          <a:xfrm>
            <a:off x="3520380" y="3275112"/>
            <a:ext cx="3017490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क्या जारी रहा?</a:t>
            </a:r>
          </a:p>
          <a:p>
            <a:pPr algn="l"/>
            <a:endParaRPr lang="en-US"/>
          </a:p>
        </p:txBody>
      </p:sp>
      <p:sp>
        <p:nvSpPr>
          <p:cNvPr id="12" name="क्या यह वास्तव में मोड़ बिंदु था?"/>
          <p:cNvSpPr/>
          <p:nvPr/>
        </p:nvSpPr>
        <p:spPr>
          <a:xfrm>
            <a:off x="6620024" y="3275112"/>
            <a:ext cx="3017341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क्या यह वास्तव में मोड़ बिंदु था?</a:t>
            </a:r>
          </a:p>
          <a:p>
            <a:pPr algn="l"/>
            <a:endParaRPr lang="en-US"/>
          </a:p>
        </p:txBody>
      </p:sp>
      <p:sp>
        <p:nvSpPr>
          <p:cNvPr id="13" name="प्रमाण"/>
          <p:cNvSpPr/>
          <p:nvPr/>
        </p:nvSpPr>
        <p:spPr>
          <a:xfrm>
            <a:off x="420886" y="5416302"/>
            <a:ext cx="9216479" cy="68148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प्रमाण</a:t>
            </a:r>
          </a:p>
          <a:p>
            <a:pPr algn="l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9–12: ऐतिहासिक अन्वेषण, कालक्रम, कारण-कार्य संबंध, दृष्टिकोण, स्रोत मूल्यांकन, दावे/प्रमाण, भौगोलिक व्याख्या और दृश्य संचार।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दृष्टिकोण और प्रमाण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दृष्टिकोण 1"/>
          <p:cNvSpPr/>
          <p:nvPr/>
        </p:nvSpPr>
        <p:spPr>
          <a:xfrm>
            <a:off x="420886" y="1133921"/>
            <a:ext cx="3239393" cy="20282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दृष्टिकोण 1</a:t>
            </a:r>
          </a:p>
          <a:p>
            <a:pPr algn="l"/>
            <a:endParaRPr lang="en-US"/>
          </a:p>
        </p:txBody>
      </p:sp>
      <p:sp>
        <p:nvSpPr>
          <p:cNvPr id="8" name="घटना"/>
          <p:cNvSpPr/>
          <p:nvPr/>
        </p:nvSpPr>
        <p:spPr>
          <a:xfrm>
            <a:off x="3733354" y="1133921"/>
            <a:ext cx="2591544" cy="4129534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घटना</a:t>
            </a:r>
          </a:p>
        </p:txBody>
      </p:sp>
      <p:sp>
        <p:nvSpPr>
          <p:cNvPr id="9" name="दृष्टिकोण 2"/>
          <p:cNvSpPr/>
          <p:nvPr/>
        </p:nvSpPr>
        <p:spPr>
          <a:xfrm>
            <a:off x="6397972" y="1133921"/>
            <a:ext cx="3239542" cy="2028230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दृष्टिकोण 2</a:t>
            </a:r>
          </a:p>
          <a:p>
            <a:pPr algn="l"/>
            <a:endParaRPr lang="en-US"/>
          </a:p>
        </p:txBody>
      </p:sp>
      <p:sp>
        <p:nvSpPr>
          <p:cNvPr id="10" name="दृष्टिकोण 3"/>
          <p:cNvSpPr/>
          <p:nvPr/>
        </p:nvSpPr>
        <p:spPr>
          <a:xfrm>
            <a:off x="420886" y="3235226"/>
            <a:ext cx="3239393" cy="20282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दृष्टिकोण 3</a:t>
            </a:r>
          </a:p>
          <a:p>
            <a:pPr algn="l"/>
            <a:endParaRPr lang="en-US"/>
          </a:p>
        </p:txBody>
      </p:sp>
      <p:sp>
        <p:nvSpPr>
          <p:cNvPr id="11" name="दृष्टिकोण 4"/>
          <p:cNvSpPr/>
          <p:nvPr/>
        </p:nvSpPr>
        <p:spPr>
          <a:xfrm>
            <a:off x="6397972" y="3235226"/>
            <a:ext cx="3239542" cy="20282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दृष्टिकोण 4</a:t>
            </a:r>
          </a:p>
          <a:p>
            <a:pPr algn="l"/>
            <a:endParaRPr lang="en-US"/>
          </a:p>
        </p:txBody>
      </p:sp>
      <p:sp>
        <p:nvSpPr>
          <p:cNvPr id="12" name="प्रमाण"/>
          <p:cNvSpPr/>
          <p:nvPr/>
        </p:nvSpPr>
        <p:spPr>
          <a:xfrm>
            <a:off x="420886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प्रमाण</a:t>
            </a:r>
          </a:p>
          <a:p>
            <a:pPr algn="l"/>
            <a:endParaRPr lang="en-US"/>
          </a:p>
        </p:txBody>
      </p:sp>
      <p:sp>
        <p:nvSpPr>
          <p:cNvPr id="13" name="वे कहाँ सहमत थे?"/>
          <p:cNvSpPr/>
          <p:nvPr/>
        </p:nvSpPr>
        <p:spPr>
          <a:xfrm>
            <a:off x="2745581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वे कहाँ सहमत थे?</a:t>
            </a:r>
          </a:p>
          <a:p>
            <a:pPr algn="l"/>
            <a:endParaRPr lang="en-US"/>
          </a:p>
        </p:txBody>
      </p:sp>
      <p:sp>
        <p:nvSpPr>
          <p:cNvPr id="14" name="वे कहाँ असहमत थे?"/>
          <p:cNvSpPr/>
          <p:nvPr/>
        </p:nvSpPr>
        <p:spPr>
          <a:xfrm>
            <a:off x="5070277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वे कहाँ असहमत थे?</a:t>
            </a:r>
          </a:p>
          <a:p>
            <a:pPr algn="l"/>
            <a:endParaRPr lang="en-US"/>
          </a:p>
        </p:txBody>
      </p:sp>
      <p:sp>
        <p:nvSpPr>
          <p:cNvPr id="15" name="किसकी आवाज़ गायब है?"/>
          <p:cNvSpPr/>
          <p:nvPr/>
        </p:nvSpPr>
        <p:spPr>
          <a:xfrm>
            <a:off x="7394972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किसकी आवाज़ गायब है?</a:t>
            </a:r>
          </a:p>
          <a:p>
            <a:pPr algn="l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9–12: ऐतिहासिक अन्वेषण, कालक्रम, कारण-कार्य संबंध, दृष्टिकोण, स्रोत मूल्यांकन, दावे/प्रमाण, भौगोलिक व्याख्या और दृश्य संचार।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घटना प्रभाव चतुर्थांश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राजनीतिक"/>
          <p:cNvSpPr/>
          <p:nvPr/>
        </p:nvSpPr>
        <p:spPr>
          <a:xfrm>
            <a:off x="420886" y="1133921"/>
            <a:ext cx="335934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राजनीतिक</a:t>
            </a:r>
          </a:p>
          <a:p>
            <a:pPr algn="l"/>
            <a:endParaRPr lang="en-US"/>
          </a:p>
        </p:txBody>
      </p:sp>
      <p:sp>
        <p:nvSpPr>
          <p:cNvPr id="8" name="घटना"/>
          <p:cNvSpPr/>
          <p:nvPr/>
        </p:nvSpPr>
        <p:spPr>
          <a:xfrm>
            <a:off x="3853309" y="1133921"/>
            <a:ext cx="2351633" cy="4174182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घटना</a:t>
            </a:r>
          </a:p>
        </p:txBody>
      </p:sp>
      <p:sp>
        <p:nvSpPr>
          <p:cNvPr id="9" name="आर्थिक"/>
          <p:cNvSpPr/>
          <p:nvPr/>
        </p:nvSpPr>
        <p:spPr>
          <a:xfrm>
            <a:off x="6278017" y="1133921"/>
            <a:ext cx="3359348" cy="205055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आर्थिक</a:t>
            </a:r>
          </a:p>
          <a:p>
            <a:pPr algn="l"/>
            <a:endParaRPr lang="en-US"/>
          </a:p>
        </p:txBody>
      </p:sp>
      <p:sp>
        <p:nvSpPr>
          <p:cNvPr id="10" name="सामाजिक / सांस्कृतिक"/>
          <p:cNvSpPr/>
          <p:nvPr/>
        </p:nvSpPr>
        <p:spPr>
          <a:xfrm>
            <a:off x="420886" y="3257550"/>
            <a:ext cx="335934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सामाजिक / सांस्कृतिक</a:t>
            </a:r>
          </a:p>
          <a:p>
            <a:pPr algn="l"/>
            <a:endParaRPr lang="en-US"/>
          </a:p>
        </p:txBody>
      </p:sp>
      <p:sp>
        <p:nvSpPr>
          <p:cNvPr id="11" name="भौगोलिक / पर्यावरणीय"/>
          <p:cNvSpPr/>
          <p:nvPr/>
        </p:nvSpPr>
        <p:spPr>
          <a:xfrm>
            <a:off x="6278017" y="3257550"/>
            <a:ext cx="335934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भौगोलिक / पर्यावरणीय</a:t>
            </a:r>
          </a:p>
          <a:p>
            <a:pPr algn="l"/>
            <a:endParaRPr lang="en-US"/>
          </a:p>
        </p:txBody>
      </p:sp>
      <p:sp>
        <p:nvSpPr>
          <p:cNvPr id="12" name="तत्काल"/>
          <p:cNvSpPr/>
          <p:nvPr/>
        </p:nvSpPr>
        <p:spPr>
          <a:xfrm>
            <a:off x="420886" y="5381179"/>
            <a:ext cx="3011239" cy="147652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तत्काल</a:t>
            </a:r>
          </a:p>
          <a:p>
            <a:pPr algn="l"/>
            <a:endParaRPr lang="en-US"/>
          </a:p>
        </p:txBody>
      </p:sp>
      <p:sp>
        <p:nvSpPr>
          <p:cNvPr id="13" name="दीर्घकालिक"/>
          <p:cNvSpPr/>
          <p:nvPr/>
        </p:nvSpPr>
        <p:spPr>
          <a:xfrm>
            <a:off x="3523506" y="5381179"/>
            <a:ext cx="3011239" cy="147652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दीर्घकालिक</a:t>
            </a:r>
          </a:p>
          <a:p>
            <a:pPr algn="l"/>
            <a:endParaRPr lang="en-US"/>
          </a:p>
        </p:txBody>
      </p:sp>
      <p:sp>
        <p:nvSpPr>
          <p:cNvPr id="14" name="कौन-सा प्रभाव सबसे महत्वपूर्ण था?"/>
          <p:cNvSpPr/>
          <p:nvPr/>
        </p:nvSpPr>
        <p:spPr>
          <a:xfrm>
            <a:off x="6626126" y="5381179"/>
            <a:ext cx="3011239" cy="147652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कौन-सा प्रभाव सबसे महत्वपूर्ण था?</a:t>
            </a:r>
          </a:p>
          <a:p>
            <a:pPr algn="l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9–12: ऐतिहासिक अन्वेषण, कालक्रम, कारण-कार्य संबंध, दृष्टिकोण, स्रोत मूल्यांकन, दावे/प्रमाण, भौगोलिक व्याख्या और दृश्य संचार।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निरंतरता और परिवर्तन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पहले"/>
          <p:cNvSpPr/>
          <p:nvPr/>
        </p:nvSpPr>
        <p:spPr>
          <a:xfrm>
            <a:off x="420886" y="1133921"/>
            <a:ext cx="3017341" cy="218018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पहले</a:t>
            </a:r>
          </a:p>
          <a:p>
            <a:pPr algn="l"/>
            <a:endParaRPr lang="en-US"/>
          </a:p>
        </p:txBody>
      </p:sp>
      <p:sp>
        <p:nvSpPr>
          <p:cNvPr id="8" name="दौरान"/>
          <p:cNvSpPr/>
          <p:nvPr/>
        </p:nvSpPr>
        <p:spPr>
          <a:xfrm>
            <a:off x="3520380" y="1133921"/>
            <a:ext cx="3017490" cy="218018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दौरान</a:t>
            </a:r>
          </a:p>
          <a:p>
            <a:pPr algn="l"/>
            <a:endParaRPr lang="en-US"/>
          </a:p>
        </p:txBody>
      </p:sp>
      <p:sp>
        <p:nvSpPr>
          <p:cNvPr id="9" name="बाद में"/>
          <p:cNvSpPr/>
          <p:nvPr/>
        </p:nvSpPr>
        <p:spPr>
          <a:xfrm>
            <a:off x="6620024" y="1133921"/>
            <a:ext cx="3017341" cy="218018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बाद में</a:t>
            </a:r>
          </a:p>
          <a:p>
            <a:pPr algn="l"/>
            <a:endParaRPr lang="en-US"/>
          </a:p>
        </p:txBody>
      </p:sp>
      <p:sp>
        <p:nvSpPr>
          <p:cNvPr id="10" name="बहुत बदला"/>
          <p:cNvSpPr/>
          <p:nvPr/>
        </p:nvSpPr>
        <p:spPr>
          <a:xfrm>
            <a:off x="420886" y="3396258"/>
            <a:ext cx="3017341" cy="196215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बहुत बदला</a:t>
            </a:r>
          </a:p>
          <a:p>
            <a:pPr algn="l"/>
            <a:endParaRPr lang="en-US"/>
          </a:p>
        </p:txBody>
      </p:sp>
      <p:sp>
        <p:nvSpPr>
          <p:cNvPr id="11" name="धीरे-धीरे बदला"/>
          <p:cNvSpPr/>
          <p:nvPr/>
        </p:nvSpPr>
        <p:spPr>
          <a:xfrm>
            <a:off x="3520380" y="3396258"/>
            <a:ext cx="3017490" cy="196215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धीरे-धीरे बदला</a:t>
            </a:r>
          </a:p>
          <a:p>
            <a:pPr algn="l"/>
            <a:endParaRPr lang="en-US"/>
          </a:p>
        </p:txBody>
      </p:sp>
      <p:sp>
        <p:nvSpPr>
          <p:cNvPr id="12" name="क्या समान रहा?"/>
          <p:cNvSpPr/>
          <p:nvPr/>
        </p:nvSpPr>
        <p:spPr>
          <a:xfrm>
            <a:off x="6620024" y="3396258"/>
            <a:ext cx="3017341" cy="1962150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क्या समान रहा?</a:t>
            </a:r>
          </a:p>
          <a:p>
            <a:pPr algn="l"/>
            <a:endParaRPr lang="en-US"/>
          </a:p>
        </p:txBody>
      </p:sp>
      <p:sp>
        <p:nvSpPr>
          <p:cNvPr id="13" name="क्यों?"/>
          <p:cNvSpPr/>
          <p:nvPr/>
        </p:nvSpPr>
        <p:spPr>
          <a:xfrm>
            <a:off x="420886" y="5440561"/>
            <a:ext cx="4562475" cy="14169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क्यों?</a:t>
            </a:r>
          </a:p>
          <a:p>
            <a:pPr algn="l"/>
            <a:endParaRPr lang="en-US"/>
          </a:p>
        </p:txBody>
      </p:sp>
      <p:sp>
        <p:nvSpPr>
          <p:cNvPr id="14" name="आपका निर्णय"/>
          <p:cNvSpPr/>
          <p:nvPr/>
        </p:nvSpPr>
        <p:spPr>
          <a:xfrm>
            <a:off x="5074741" y="5440561"/>
            <a:ext cx="4562624" cy="14169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आपका निर्णय</a:t>
            </a:r>
          </a:p>
          <a:p>
            <a:pPr algn="l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9–12: ऐतिहासिक अन्वेषण, कालक्रम, कारण-कार्य संबंध, दृष्टिकोण, स्रोत मूल्यांकन, दावे/प्रमाण, भौगोलिक व्याख्या और दृश्य संचार।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ऐतिहासिक प्रमाण डोजियर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ऐतिहासिक प्रश्न"/>
          <p:cNvSpPr/>
          <p:nvPr/>
        </p:nvSpPr>
        <p:spPr>
          <a:xfrm>
            <a:off x="420886" y="1133921"/>
            <a:ext cx="9216628" cy="60855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ऐतिहासिक प्रश्न</a:t>
            </a:r>
          </a:p>
          <a:p>
            <a:pPr algn="l"/>
            <a:endParaRPr lang="en-US"/>
          </a:p>
        </p:txBody>
      </p:sp>
      <p:sp>
        <p:nvSpPr>
          <p:cNvPr id="8" name="स्रोत 1"/>
          <p:cNvSpPr/>
          <p:nvPr/>
        </p:nvSpPr>
        <p:spPr>
          <a:xfrm>
            <a:off x="420886" y="2343150"/>
            <a:ext cx="3023443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स्रोत 1</a:t>
            </a:r>
          </a:p>
          <a:p>
            <a:pPr algn="l"/>
            <a:endParaRPr lang="en-US"/>
          </a:p>
        </p:txBody>
      </p:sp>
      <p:sp>
        <p:nvSpPr>
          <p:cNvPr id="9" name="स्रोत 1 से प्रमाण"/>
          <p:cNvSpPr/>
          <p:nvPr/>
        </p:nvSpPr>
        <p:spPr>
          <a:xfrm>
            <a:off x="420886" y="3331518"/>
            <a:ext cx="3023443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स्रोत 1 से प्रमाण</a:t>
            </a:r>
          </a:p>
          <a:p>
            <a:pPr algn="l"/>
            <a:endParaRPr lang="en-US"/>
          </a:p>
        </p:txBody>
      </p:sp>
      <p:sp>
        <p:nvSpPr>
          <p:cNvPr id="10" name="विश्वसनीयता / सीमा"/>
          <p:cNvSpPr/>
          <p:nvPr/>
        </p:nvSpPr>
        <p:spPr>
          <a:xfrm>
            <a:off x="420886" y="4319885"/>
            <a:ext cx="3023443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विश्वसनीयता / सीमा</a:t>
            </a:r>
          </a:p>
          <a:p>
            <a:pPr algn="l"/>
            <a:endParaRPr lang="en-US"/>
          </a:p>
        </p:txBody>
      </p:sp>
      <p:sp>
        <p:nvSpPr>
          <p:cNvPr id="11" name="स्रोत 2"/>
          <p:cNvSpPr/>
          <p:nvPr/>
        </p:nvSpPr>
        <p:spPr>
          <a:xfrm>
            <a:off x="3517404" y="2343150"/>
            <a:ext cx="3023443" cy="92794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स्रोत 2</a:t>
            </a:r>
          </a:p>
          <a:p>
            <a:pPr algn="l"/>
            <a:endParaRPr lang="en-US"/>
          </a:p>
        </p:txBody>
      </p:sp>
      <p:sp>
        <p:nvSpPr>
          <p:cNvPr id="12" name="स्रोत 2 से प्रमाण"/>
          <p:cNvSpPr/>
          <p:nvPr/>
        </p:nvSpPr>
        <p:spPr>
          <a:xfrm>
            <a:off x="3517404" y="3344168"/>
            <a:ext cx="3023443" cy="9088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स्रोत 2 से प्रमाण</a:t>
            </a:r>
          </a:p>
          <a:p>
            <a:pPr algn="l"/>
            <a:endParaRPr lang="en-US"/>
          </a:p>
        </p:txBody>
      </p:sp>
      <p:sp>
        <p:nvSpPr>
          <p:cNvPr id="13" name="विश्वसनीयता / सीमा"/>
          <p:cNvSpPr/>
          <p:nvPr/>
        </p:nvSpPr>
        <p:spPr>
          <a:xfrm>
            <a:off x="3517404" y="4326136"/>
            <a:ext cx="3023443" cy="90904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विश्वसनीयता / सीमा</a:t>
            </a:r>
          </a:p>
          <a:p>
            <a:pPr algn="l"/>
            <a:endParaRPr lang="en-US"/>
          </a:p>
        </p:txBody>
      </p:sp>
      <p:sp>
        <p:nvSpPr>
          <p:cNvPr id="14" name="स्रोत 3"/>
          <p:cNvSpPr/>
          <p:nvPr/>
        </p:nvSpPr>
        <p:spPr>
          <a:xfrm>
            <a:off x="6613922" y="2343150"/>
            <a:ext cx="3023592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स्रोत 3</a:t>
            </a:r>
          </a:p>
          <a:p>
            <a:pPr algn="l"/>
            <a:endParaRPr lang="en-US"/>
          </a:p>
        </p:txBody>
      </p:sp>
      <p:sp>
        <p:nvSpPr>
          <p:cNvPr id="15" name="स्रोत 3 से प्रमाण"/>
          <p:cNvSpPr/>
          <p:nvPr/>
        </p:nvSpPr>
        <p:spPr>
          <a:xfrm>
            <a:off x="6613922" y="3331518"/>
            <a:ext cx="3023592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स्रोत 3 से प्रमाण</a:t>
            </a:r>
          </a:p>
          <a:p>
            <a:pPr algn="l"/>
            <a:endParaRPr lang="en-US"/>
          </a:p>
        </p:txBody>
      </p:sp>
      <p:sp>
        <p:nvSpPr>
          <p:cNvPr id="16" name="विश्वसनीयता / सीमा"/>
          <p:cNvSpPr/>
          <p:nvPr/>
        </p:nvSpPr>
        <p:spPr>
          <a:xfrm>
            <a:off x="6613922" y="4319885"/>
            <a:ext cx="3023592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विश्वसनीयता / सीमा</a:t>
            </a:r>
          </a:p>
          <a:p>
            <a:pPr algn="l"/>
            <a:endParaRPr lang="en-US"/>
          </a:p>
        </p:txBody>
      </p:sp>
      <p:sp>
        <p:nvSpPr>
          <p:cNvPr id="17" name="विरोधी / गायब प्रमाण"/>
          <p:cNvSpPr/>
          <p:nvPr/>
        </p:nvSpPr>
        <p:spPr>
          <a:xfrm>
            <a:off x="420886" y="5308253"/>
            <a:ext cx="3023443" cy="60855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विरोधी / गायब प्रमाण</a:t>
            </a:r>
          </a:p>
          <a:p>
            <a:pPr algn="l"/>
            <a:endParaRPr lang="en-US"/>
          </a:p>
        </p:txBody>
      </p:sp>
      <p:sp>
        <p:nvSpPr>
          <p:cNvPr id="18" name="कार्यकारी निष्कर्ष"/>
          <p:cNvSpPr/>
          <p:nvPr/>
        </p:nvSpPr>
        <p:spPr>
          <a:xfrm>
            <a:off x="3517404" y="5308253"/>
            <a:ext cx="6120110" cy="60855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कार्यकारी निष्कर्ष</a:t>
            </a:r>
          </a:p>
          <a:p>
            <a:pPr algn="l"/>
            <a:endParaRPr lang="en-US"/>
          </a:p>
        </p:txBody>
      </p:sp>
      <p:cxnSp>
        <p:nvCxnSpPr>
          <p:cNvPr id="19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0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21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9–12: ऐतिहासिक अन्वेषण, कालक्रम, कारण-कार्य संबंध, दृष्टिकोण, स्रोत मूल्यांकन, दावे/प्रमाण, भौगोलिक व्याख्या और दृश्य संचार।</a:t>
            </a:r>
          </a:p>
        </p:txBody>
      </p:sp>
      <p:sp>
        <p:nvSpPr>
          <p:cNvPr id="22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दो घटनाओं की तुलना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घटना A"/>
          <p:cNvSpPr/>
          <p:nvPr/>
        </p:nvSpPr>
        <p:spPr>
          <a:xfrm>
            <a:off x="420886" y="1133921"/>
            <a:ext cx="3239393" cy="9550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घटना A</a:t>
            </a:r>
          </a:p>
          <a:p>
            <a:pPr algn="l"/>
            <a:endParaRPr lang="en-US"/>
          </a:p>
        </p:txBody>
      </p:sp>
      <p:sp>
        <p:nvSpPr>
          <p:cNvPr id="8" name="घटना B"/>
          <p:cNvSpPr/>
          <p:nvPr/>
        </p:nvSpPr>
        <p:spPr>
          <a:xfrm>
            <a:off x="6397972" y="1133921"/>
            <a:ext cx="3239542" cy="955030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घटना B</a:t>
            </a:r>
          </a:p>
          <a:p>
            <a:pPr algn="l"/>
            <a:endParaRPr lang="en-US"/>
          </a:p>
        </p:txBody>
      </p:sp>
      <p:sp>
        <p:nvSpPr>
          <p:cNvPr id="9" name="यह क्यों हुआ?"/>
          <p:cNvSpPr/>
          <p:nvPr/>
        </p:nvSpPr>
        <p:spPr>
          <a:xfrm>
            <a:off x="420886" y="2162026"/>
            <a:ext cx="3239393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यह क्यों हुआ?</a:t>
            </a:r>
          </a:p>
          <a:p>
            <a:pPr algn="l"/>
            <a:endParaRPr lang="en-US"/>
          </a:p>
        </p:txBody>
      </p:sp>
      <p:sp>
        <p:nvSpPr>
          <p:cNvPr id="10" name="मुख्य लोग / समूह"/>
          <p:cNvSpPr/>
          <p:nvPr/>
        </p:nvSpPr>
        <p:spPr>
          <a:xfrm>
            <a:off x="420886" y="3066752"/>
            <a:ext cx="3239393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मुख्य लोग / समूह</a:t>
            </a:r>
          </a:p>
          <a:p>
            <a:pPr algn="l"/>
            <a:endParaRPr lang="en-US"/>
          </a:p>
        </p:txBody>
      </p:sp>
      <p:sp>
        <p:nvSpPr>
          <p:cNvPr id="11" name="समानताएँ"/>
          <p:cNvSpPr/>
          <p:nvPr/>
        </p:nvSpPr>
        <p:spPr>
          <a:xfrm>
            <a:off x="3733354" y="2162026"/>
            <a:ext cx="2591544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समानताएँ</a:t>
            </a:r>
          </a:p>
          <a:p>
            <a:pPr algn="l"/>
            <a:endParaRPr lang="en-US"/>
          </a:p>
        </p:txBody>
      </p:sp>
      <p:sp>
        <p:nvSpPr>
          <p:cNvPr id="12" name="अंतर"/>
          <p:cNvSpPr/>
          <p:nvPr/>
        </p:nvSpPr>
        <p:spPr>
          <a:xfrm>
            <a:off x="3733354" y="3066752"/>
            <a:ext cx="2591544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अंतर</a:t>
            </a:r>
          </a:p>
          <a:p>
            <a:pPr algn="l"/>
            <a:endParaRPr lang="en-US"/>
          </a:p>
        </p:txBody>
      </p:sp>
      <p:sp>
        <p:nvSpPr>
          <p:cNvPr id="13" name="यह क्यों हुआ?"/>
          <p:cNvSpPr/>
          <p:nvPr/>
        </p:nvSpPr>
        <p:spPr>
          <a:xfrm>
            <a:off x="6397972" y="2162026"/>
            <a:ext cx="3239542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यह क्यों हुआ?</a:t>
            </a:r>
          </a:p>
          <a:p>
            <a:pPr algn="l"/>
            <a:endParaRPr lang="en-US"/>
          </a:p>
        </p:txBody>
      </p:sp>
      <p:sp>
        <p:nvSpPr>
          <p:cNvPr id="14" name="मुख्य लोग / समूह"/>
          <p:cNvSpPr/>
          <p:nvPr/>
        </p:nvSpPr>
        <p:spPr>
          <a:xfrm>
            <a:off x="6397972" y="3066752"/>
            <a:ext cx="3239542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मुख्य लोग / समूह</a:t>
            </a:r>
          </a:p>
          <a:p>
            <a:pPr algn="l"/>
            <a:endParaRPr lang="en-US"/>
          </a:p>
        </p:txBody>
      </p:sp>
      <p:sp>
        <p:nvSpPr>
          <p:cNvPr id="15" name="परिणाम"/>
          <p:cNvSpPr/>
          <p:nvPr/>
        </p:nvSpPr>
        <p:spPr>
          <a:xfrm>
            <a:off x="420886" y="3971479"/>
            <a:ext cx="3239393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परिणाम</a:t>
            </a:r>
          </a:p>
          <a:p>
            <a:pPr algn="l"/>
            <a:endParaRPr lang="en-US"/>
          </a:p>
        </p:txBody>
      </p:sp>
      <p:sp>
        <p:nvSpPr>
          <p:cNvPr id="16" name="ऐतिहासिक महत्व"/>
          <p:cNvSpPr/>
          <p:nvPr/>
        </p:nvSpPr>
        <p:spPr>
          <a:xfrm>
            <a:off x="420886" y="4876205"/>
            <a:ext cx="3239393" cy="83180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ऐतिहासिक महत्व</a:t>
            </a:r>
          </a:p>
          <a:p>
            <a:pPr algn="l"/>
            <a:endParaRPr lang="en-US"/>
          </a:p>
        </p:txBody>
      </p:sp>
      <p:sp>
        <p:nvSpPr>
          <p:cNvPr id="17" name="कौन-सी तुलना सबसे महत्वपूर्ण है?"/>
          <p:cNvSpPr/>
          <p:nvPr/>
        </p:nvSpPr>
        <p:spPr>
          <a:xfrm>
            <a:off x="3733354" y="3971479"/>
            <a:ext cx="2591544" cy="173652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कौन-सी तुलना सबसे महत्वपूर्ण है?</a:t>
            </a:r>
          </a:p>
          <a:p>
            <a:pPr algn="l"/>
            <a:endParaRPr lang="en-US"/>
          </a:p>
        </p:txBody>
      </p:sp>
      <p:sp>
        <p:nvSpPr>
          <p:cNvPr id="18" name="परिणाम"/>
          <p:cNvSpPr/>
          <p:nvPr/>
        </p:nvSpPr>
        <p:spPr>
          <a:xfrm>
            <a:off x="6397972" y="3971479"/>
            <a:ext cx="3239542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परिणाम</a:t>
            </a:r>
          </a:p>
          <a:p>
            <a:pPr algn="l"/>
            <a:endParaRPr lang="en-US"/>
          </a:p>
        </p:txBody>
      </p:sp>
      <p:sp>
        <p:nvSpPr>
          <p:cNvPr id="19" name="ऐतिहासिक महत्व"/>
          <p:cNvSpPr/>
          <p:nvPr/>
        </p:nvSpPr>
        <p:spPr>
          <a:xfrm>
            <a:off x="6397972" y="4876205"/>
            <a:ext cx="3239542" cy="83180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ऐतिहासिक महत्व</a:t>
            </a:r>
          </a:p>
          <a:p>
            <a:pPr algn="l"/>
            <a:endParaRPr lang="en-US"/>
          </a:p>
        </p:txBody>
      </p:sp>
      <p:sp>
        <p:nvSpPr>
          <p:cNvPr id="20" name="प्रमाण"/>
          <p:cNvSpPr/>
          <p:nvPr/>
        </p:nvSpPr>
        <p:spPr>
          <a:xfrm>
            <a:off x="420886" y="5781080"/>
            <a:ext cx="9216628" cy="627608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प्रमाण</a:t>
            </a:r>
          </a:p>
          <a:p>
            <a:pPr algn="l"/>
            <a:endParaRPr lang="en-US"/>
          </a:p>
        </p:txBody>
      </p:sp>
      <p:cxnSp>
        <p:nvCxnSpPr>
          <p:cNvPr id="21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2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23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9–12: ऐतिहासिक अन्वेषण, कालक्रम, कारण-कार्य संबंध, दृष्टिकोण, स्रोत मूल्यांकन, दावे/प्रमाण, भौगोलिक व्याख्या और दृश्य संचार।</a:t>
            </a:r>
          </a:p>
        </p:txBody>
      </p:sp>
      <p:sp>
        <p:nvSpPr>
          <p:cNvPr id="24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23266"/>
      </a:dk2>
      <a:lt2>
        <a:srgbClr val="F4F8FC"/>
      </a:lt2>
      <a:accent1>
        <a:srgbClr val="054C8C"/>
      </a:accent1>
      <a:accent2>
        <a:srgbClr val="FBD239"/>
      </a:accent2>
      <a:accent3>
        <a:srgbClr val="238A8D"/>
      </a:accent3>
      <a:accent4>
        <a:srgbClr val="6D5AA8"/>
      </a:accent4>
      <a:accent5>
        <a:srgbClr val="D97A28"/>
      </a:accent5>
      <a:accent6>
        <a:srgbClr val="5A8F52"/>
      </a:accent6>
      <a:hlink>
        <a:srgbClr val="054C8C"/>
      </a:hlink>
      <a:folHlink>
        <a:srgbClr val="6D5AA8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History Event Maps</Application>
  <Slides>24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इतिहास घटना मानचित्र</dc:title>
  <dc:creator>Miguel Guhlin / Miguel Guhlin</dc:creator>
  <cp:lastModifiedBy>Miguel Guhlin</cp:lastModifiedBy>
</cp:coreProperties>
</file>